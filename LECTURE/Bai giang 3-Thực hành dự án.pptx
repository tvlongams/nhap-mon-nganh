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298" r:id="rId3"/>
    <p:sldId id="338" r:id="rId4"/>
    <p:sldId id="339" r:id="rId5"/>
    <p:sldId id="345" r:id="rId6"/>
    <p:sldId id="344" r:id="rId7"/>
    <p:sldId id="343" r:id="rId8"/>
    <p:sldId id="342" r:id="rId9"/>
    <p:sldId id="340" r:id="rId10"/>
    <p:sldId id="341" r:id="rId11"/>
    <p:sldId id="334" r:id="rId12"/>
    <p:sldId id="330" r:id="rId13"/>
    <p:sldId id="331" r:id="rId14"/>
    <p:sldId id="332" r:id="rId15"/>
    <p:sldId id="333" r:id="rId16"/>
    <p:sldId id="336" r:id="rId17"/>
    <p:sldId id="335" r:id="rId18"/>
    <p:sldId id="350" r:id="rId19"/>
    <p:sldId id="311" r:id="rId20"/>
    <p:sldId id="312" r:id="rId21"/>
    <p:sldId id="346" r:id="rId22"/>
    <p:sldId id="351" r:id="rId23"/>
    <p:sldId id="328" r:id="rId24"/>
    <p:sldId id="347" r:id="rId25"/>
    <p:sldId id="348" r:id="rId26"/>
    <p:sldId id="349" r:id="rId27"/>
    <p:sldId id="352" r:id="rId28"/>
    <p:sldId id="329" r:id="rId29"/>
    <p:sldId id="353" r:id="rId30"/>
    <p:sldId id="354" r:id="rId31"/>
    <p:sldId id="355" r:id="rId32"/>
    <p:sldId id="356" r:id="rId33"/>
    <p:sldId id="357" r:id="rId34"/>
    <p:sldId id="358" r:id="rId35"/>
    <p:sldId id="359" r:id="rId36"/>
    <p:sldId id="360"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CC"/>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2" d="100"/>
          <a:sy n="82" d="100"/>
        </p:scale>
        <p:origin x="691" y="6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F48CE1B-89DF-4451-914C-8EAA83904CE5}" type="datetimeFigureOut">
              <a:rPr lang="vi-VN" smtClean="0"/>
              <a:pPr/>
              <a:t>06/09/2026</a:t>
            </a:fld>
            <a:endParaRPr lang="vi-V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CF09D81-1F8F-4D0C-92B0-DA0D3EC8E914}" type="slidenum">
              <a:rPr lang="vi-VN" smtClean="0"/>
              <a:pPr/>
              <a:t>‹#›</a:t>
            </a:fld>
            <a:endParaRPr lang="vi-VN"/>
          </a:p>
        </p:txBody>
      </p:sp>
    </p:spTree>
    <p:extLst>
      <p:ext uri="{BB962C8B-B14F-4D97-AF65-F5344CB8AC3E}">
        <p14:creationId xmlns:p14="http://schemas.microsoft.com/office/powerpoint/2010/main" val="342385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22441" y="2057401"/>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2536841" y="3806631"/>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1571641" y="6356351"/>
            <a:ext cx="2844800" cy="365125"/>
          </a:xfrm>
        </p:spPr>
        <p:txBody>
          <a:bodyPr/>
          <a:lstStyle/>
          <a:p>
            <a:endParaRPr lang="en-US" dirty="0"/>
          </a:p>
        </p:txBody>
      </p:sp>
      <p:sp>
        <p:nvSpPr>
          <p:cNvPr id="5" name="Footer Placeholder 4"/>
          <p:cNvSpPr>
            <a:spLocks noGrp="1"/>
          </p:cNvSpPr>
          <p:nvPr>
            <p:ph type="ftr" sz="quarter" idx="11"/>
          </p:nvPr>
        </p:nvSpPr>
        <p:spPr>
          <a:xfrm>
            <a:off x="4734331" y="6356351"/>
            <a:ext cx="3860800" cy="365125"/>
          </a:xfrm>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9266" y="274638"/>
            <a:ext cx="10634134" cy="1143000"/>
          </a:xfrm>
        </p:spPr>
        <p:txBody>
          <a:bodyPr/>
          <a:lstStyle/>
          <a:p>
            <a:r>
              <a:rPr lang="en-US" smtClean="0"/>
              <a:t>Click to edit Master title style</a:t>
            </a:r>
            <a:endParaRPr lang="en-US"/>
          </a:p>
        </p:txBody>
      </p:sp>
      <p:sp>
        <p:nvSpPr>
          <p:cNvPr id="3" name="Content Placeholder 2"/>
          <p:cNvSpPr>
            <a:spLocks noGrp="1"/>
          </p:cNvSpPr>
          <p:nvPr>
            <p:ph idx="1"/>
          </p:nvPr>
        </p:nvSpPr>
        <p:spPr>
          <a:xfrm>
            <a:off x="1329266" y="1600201"/>
            <a:ext cx="10634133"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4337049" y="6356351"/>
            <a:ext cx="3860800" cy="365125"/>
          </a:xfrm>
        </p:spPr>
        <p:txBody>
          <a:bodyPr/>
          <a:lstStyle/>
          <a:p>
            <a:endParaRPr lang="en-US" dirty="0"/>
          </a:p>
        </p:txBody>
      </p:sp>
      <p:sp>
        <p:nvSpPr>
          <p:cNvPr id="6" name="Slide Number Placeholder 5"/>
          <p:cNvSpPr>
            <a:spLocks noGrp="1"/>
          </p:cNvSpPr>
          <p:nvPr>
            <p:ph type="sldNum" sz="quarter" idx="12"/>
          </p:nvPr>
        </p:nvSpPr>
        <p:spPr>
          <a:xfrm>
            <a:off x="9080499" y="6356351"/>
            <a:ext cx="2844800" cy="365125"/>
          </a:xfrm>
        </p:spPr>
        <p:txBody>
          <a:body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Rectangle 6"/>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8" name="Rectangle 7"/>
          <p:cNvSpPr/>
          <p:nvPr userDrawn="1"/>
        </p:nvSpPr>
        <p:spPr>
          <a:xfrm>
            <a:off x="0" y="368300"/>
            <a:ext cx="567267" cy="2032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0" y="1181100"/>
            <a:ext cx="567267" cy="203200"/>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a:xfrm>
            <a:off x="0" y="774700"/>
            <a:ext cx="567267" cy="20320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Rectangle 7"/>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9" name="Rectangle 8"/>
          <p:cNvSpPr/>
          <p:nvPr userDrawn="1"/>
        </p:nvSpPr>
        <p:spPr>
          <a:xfrm>
            <a:off x="0" y="3683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a:xfrm>
            <a:off x="0" y="11811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0" y="7747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0" name="Rectangle 9"/>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1" name="Rectangle 10"/>
          <p:cNvSpPr/>
          <p:nvPr userDrawn="1"/>
        </p:nvSpPr>
        <p:spPr>
          <a:xfrm>
            <a:off x="0" y="3683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p:cNvSpPr/>
          <p:nvPr userDrawn="1"/>
        </p:nvSpPr>
        <p:spPr>
          <a:xfrm>
            <a:off x="0" y="11811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p:cNvSpPr/>
          <p:nvPr userDrawn="1"/>
        </p:nvSpPr>
        <p:spPr>
          <a:xfrm>
            <a:off x="0" y="7747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85470" y="549276"/>
            <a:ext cx="842433" cy="631825"/>
          </a:xfrm>
          <a:prstGeom prst="rect">
            <a:avLst/>
          </a:prstGeom>
        </p:spPr>
      </p:pic>
      <p:pic>
        <p:nvPicPr>
          <p:cNvPr id="16" name="Picture 15"/>
          <p:cNvPicPr>
            <a:picLocks noChangeAspect="1"/>
          </p:cNvPicPr>
          <p:nvPr userDrawn="1"/>
        </p:nvPicPr>
        <p:blipFill rotWithShape="1">
          <a:blip r:embed="rId3" cstate="print">
            <a:extLst>
              <a:ext uri="{28A0092B-C50C-407E-A947-70E740481C1C}">
                <a14:useLocalDpi xmlns:a14="http://schemas.microsoft.com/office/drawing/2010/main" val="0"/>
              </a:ext>
            </a:extLst>
          </a:blip>
          <a:srcRect l="3535" t="3275" r="4104" b="4198"/>
          <a:stretch/>
        </p:blipFill>
        <p:spPr>
          <a:xfrm rot="16200000">
            <a:off x="305108" y="5527576"/>
            <a:ext cx="1403155" cy="749692"/>
          </a:xfrm>
          <a:prstGeom prst="rect">
            <a:avLst/>
          </a:prstGeom>
        </p:spPr>
      </p:pic>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Rectangle 5"/>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7" name="Rectangle 6"/>
          <p:cNvSpPr/>
          <p:nvPr userDrawn="1"/>
        </p:nvSpPr>
        <p:spPr>
          <a:xfrm>
            <a:off x="0" y="3683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userDrawn="1"/>
        </p:nvSpPr>
        <p:spPr>
          <a:xfrm>
            <a:off x="0" y="11811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0" y="7747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85470" y="549276"/>
            <a:ext cx="842433" cy="631825"/>
          </a:xfrm>
          <a:prstGeom prst="rect">
            <a:avLst/>
          </a:prstGeom>
        </p:spPr>
      </p:pic>
      <p:pic>
        <p:nvPicPr>
          <p:cNvPr id="12" name="Picture 11"/>
          <p:cNvPicPr>
            <a:picLocks noChangeAspect="1"/>
          </p:cNvPicPr>
          <p:nvPr userDrawn="1"/>
        </p:nvPicPr>
        <p:blipFill rotWithShape="1">
          <a:blip r:embed="rId3" cstate="print">
            <a:extLst>
              <a:ext uri="{28A0092B-C50C-407E-A947-70E740481C1C}">
                <a14:useLocalDpi xmlns:a14="http://schemas.microsoft.com/office/drawing/2010/main" val="0"/>
              </a:ext>
            </a:extLst>
          </a:blip>
          <a:srcRect l="3535" t="3275" r="4104" b="4198"/>
          <a:stretch/>
        </p:blipFill>
        <p:spPr>
          <a:xfrm rot="16200000">
            <a:off x="305108" y="5527576"/>
            <a:ext cx="1403155" cy="749692"/>
          </a:xfrm>
          <a:prstGeom prst="rect">
            <a:avLst/>
          </a:prstGeom>
        </p:spPr>
      </p:pic>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5" name="Rectangle 4"/>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Rectangle 5"/>
          <p:cNvSpPr/>
          <p:nvPr userDrawn="1"/>
        </p:nvSpPr>
        <p:spPr>
          <a:xfrm>
            <a:off x="0" y="3683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Rectangle 6"/>
          <p:cNvSpPr/>
          <p:nvPr userDrawn="1"/>
        </p:nvSpPr>
        <p:spPr>
          <a:xfrm>
            <a:off x="0" y="11811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userDrawn="1"/>
        </p:nvSpPr>
        <p:spPr>
          <a:xfrm>
            <a:off x="0" y="7747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Rectangle 7"/>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9" name="Rectangle 8"/>
          <p:cNvSpPr/>
          <p:nvPr userDrawn="1"/>
        </p:nvSpPr>
        <p:spPr>
          <a:xfrm>
            <a:off x="0" y="3683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a:xfrm>
            <a:off x="0" y="11811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0" y="7747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Rectangle 7"/>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9" name="Rectangle 8"/>
          <p:cNvSpPr/>
          <p:nvPr userDrawn="1"/>
        </p:nvSpPr>
        <p:spPr>
          <a:xfrm>
            <a:off x="0" y="3683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a:xfrm>
            <a:off x="0" y="11811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0" y="7747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3F4466-4275-4567-A820-1B91279C7BDE}" type="datetime1">
              <a:rPr lang="en-US" smtClean="0"/>
              <a:pPr/>
              <a:t>6/9/2026</a:t>
            </a:fld>
            <a:endParaRPr lang="en-US"/>
          </a:p>
        </p:txBody>
      </p:sp>
      <p:sp>
        <p:nvSpPr>
          <p:cNvPr id="5" name="Footer Placeholder 4"/>
          <p:cNvSpPr>
            <a:spLocks noGrp="1"/>
          </p:cNvSpPr>
          <p:nvPr>
            <p:ph type="ftr" sz="quarter" idx="11"/>
          </p:nvPr>
        </p:nvSpPr>
        <p:spPr/>
        <p:txBody>
          <a:bodyPr/>
          <a:lstStyle/>
          <a:p>
            <a:r>
              <a:rPr lang="en-US" smtClean="0"/>
              <a:t>CIVE 2602.2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Rectangle 6"/>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8" name="Rectangle 7"/>
          <p:cNvSpPr/>
          <p:nvPr userDrawn="1"/>
        </p:nvSpPr>
        <p:spPr>
          <a:xfrm>
            <a:off x="0" y="3683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0" y="11811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a:xfrm>
            <a:off x="0" y="7747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EA5A56F-200E-4368-A691-1AE2D27A4578}" type="datetime1">
              <a:rPr lang="en-US" smtClean="0"/>
              <a:pPr/>
              <a:t>6/9/2026</a:t>
            </a:fld>
            <a:endParaRPr lang="en-US"/>
          </a:p>
        </p:txBody>
      </p:sp>
      <p:sp>
        <p:nvSpPr>
          <p:cNvPr id="5" name="Footer Placeholder 4"/>
          <p:cNvSpPr>
            <a:spLocks noGrp="1"/>
          </p:cNvSpPr>
          <p:nvPr>
            <p:ph type="ftr" sz="quarter" idx="11"/>
          </p:nvPr>
        </p:nvSpPr>
        <p:spPr/>
        <p:txBody>
          <a:bodyPr/>
          <a:lstStyle/>
          <a:p>
            <a:r>
              <a:rPr lang="en-US" smtClean="0"/>
              <a:t>CIVE 2602.2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Rectangle 6"/>
          <p:cNvSpPr/>
          <p:nvPr userDrawn="1"/>
        </p:nvSpPr>
        <p:spPr>
          <a:xfrm>
            <a:off x="0" y="0"/>
            <a:ext cx="567267"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8" name="Rectangle 7"/>
          <p:cNvSpPr/>
          <p:nvPr userDrawn="1"/>
        </p:nvSpPr>
        <p:spPr>
          <a:xfrm>
            <a:off x="0" y="3683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0" y="11811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a:xfrm>
            <a:off x="0" y="774700"/>
            <a:ext cx="567267" cy="20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1446107"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27759" y="274638"/>
            <a:ext cx="10835641"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1127759" y="1600201"/>
            <a:ext cx="10835641"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1157000" y="6356351"/>
            <a:ext cx="2297399"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848A39-50DC-42FB-A368-12ED3EE12084}" type="datetime1">
              <a:rPr lang="en-US" smtClean="0"/>
              <a:pPr/>
              <a:t>6/9/2026</a:t>
            </a:fld>
            <a:endParaRPr lang="en-US"/>
          </a:p>
        </p:txBody>
      </p:sp>
      <p:sp>
        <p:nvSpPr>
          <p:cNvPr id="5" name="Footer Placeholder 4"/>
          <p:cNvSpPr>
            <a:spLocks noGrp="1"/>
          </p:cNvSpPr>
          <p:nvPr>
            <p:ph type="ftr" sz="quarter" idx="3"/>
          </p:nvPr>
        </p:nvSpPr>
        <p:spPr>
          <a:xfrm>
            <a:off x="4343400" y="636597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CIVE 2602.2</a:t>
            </a:r>
            <a:endParaRPr lang="en-US"/>
          </a:p>
        </p:txBody>
      </p:sp>
      <p:sp>
        <p:nvSpPr>
          <p:cNvPr id="6" name="Slide Number Placeholder 5"/>
          <p:cNvSpPr>
            <a:spLocks noGrp="1"/>
          </p:cNvSpPr>
          <p:nvPr>
            <p:ph type="sldNum" sz="quarter" idx="4"/>
          </p:nvPr>
        </p:nvSpPr>
        <p:spPr>
          <a:xfrm>
            <a:off x="90932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7" name="Rectangle 6"/>
          <p:cNvSpPr/>
          <p:nvPr userDrawn="1"/>
        </p:nvSpPr>
        <p:spPr>
          <a:xfrm>
            <a:off x="1" y="0"/>
            <a:ext cx="26799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8" name="Rectangle 7"/>
          <p:cNvSpPr/>
          <p:nvPr userDrawn="1"/>
        </p:nvSpPr>
        <p:spPr>
          <a:xfrm>
            <a:off x="1" y="368300"/>
            <a:ext cx="268000" cy="2032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1" y="1181100"/>
            <a:ext cx="268000" cy="2032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0070C0"/>
              </a:solidFill>
            </a:endParaRPr>
          </a:p>
        </p:txBody>
      </p:sp>
      <p:sp>
        <p:nvSpPr>
          <p:cNvPr id="10" name="Rectangle 9"/>
          <p:cNvSpPr/>
          <p:nvPr userDrawn="1"/>
        </p:nvSpPr>
        <p:spPr>
          <a:xfrm>
            <a:off x="1" y="774700"/>
            <a:ext cx="268000" cy="20320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990600" y="0"/>
            <a:ext cx="60959"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12" name="Picture 11"/>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305483" y="549275"/>
            <a:ext cx="608917" cy="631825"/>
          </a:xfrm>
          <a:prstGeom prst="rect">
            <a:avLst/>
          </a:prstGeom>
        </p:spPr>
      </p:pic>
      <p:pic>
        <p:nvPicPr>
          <p:cNvPr id="14" name="Picture 13"/>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269781" y="5635318"/>
            <a:ext cx="719040" cy="722600"/>
          </a:xfrm>
          <a:prstGeom prst="rect">
            <a:avLst/>
          </a:prstGeom>
        </p:spPr>
      </p:pic>
      <p:sp>
        <p:nvSpPr>
          <p:cNvPr id="13" name="TextBox 12"/>
          <p:cNvSpPr txBox="1"/>
          <p:nvPr userDrawn="1"/>
        </p:nvSpPr>
        <p:spPr>
          <a:xfrm rot="16200000">
            <a:off x="-1563892" y="3136612"/>
            <a:ext cx="4347665" cy="584775"/>
          </a:xfrm>
          <a:prstGeom prst="rect">
            <a:avLst/>
          </a:prstGeom>
          <a:noFill/>
        </p:spPr>
        <p:txBody>
          <a:bodyPr wrap="none" rtlCol="0">
            <a:spAutoFit/>
          </a:bodyPr>
          <a:lstStyle/>
          <a:p>
            <a:r>
              <a:rPr lang="en-US" sz="3200" b="1" dirty="0" smtClean="0">
                <a:solidFill>
                  <a:srgbClr val="000099"/>
                </a:solidFill>
                <a:latin typeface="Times New Roman" panose="02020603050405020304" pitchFamily="18" charset="0"/>
                <a:cs typeface="Times New Roman" panose="02020603050405020304" pitchFamily="18" charset="0"/>
              </a:rPr>
              <a:t>S</a:t>
            </a:r>
            <a:r>
              <a:rPr lang="en-US" sz="2400" b="0" dirty="0" smtClean="0">
                <a:solidFill>
                  <a:srgbClr val="002060"/>
                </a:solidFill>
                <a:latin typeface="Times New Roman" panose="02020603050405020304" pitchFamily="18" charset="0"/>
                <a:cs typeface="Times New Roman" panose="02020603050405020304" pitchFamily="18" charset="0"/>
              </a:rPr>
              <a:t>chool</a:t>
            </a:r>
            <a:r>
              <a:rPr lang="en-US" sz="2400" b="0" baseline="0" dirty="0" smtClean="0">
                <a:solidFill>
                  <a:srgbClr val="002060"/>
                </a:solidFill>
                <a:latin typeface="Times New Roman" panose="02020603050405020304" pitchFamily="18" charset="0"/>
                <a:cs typeface="Times New Roman" panose="02020603050405020304" pitchFamily="18" charset="0"/>
              </a:rPr>
              <a:t> of </a:t>
            </a:r>
            <a:r>
              <a:rPr lang="en-US" sz="3200" b="1" baseline="0" dirty="0" smtClean="0">
                <a:solidFill>
                  <a:srgbClr val="FFC000"/>
                </a:solidFill>
                <a:latin typeface="Times New Roman" panose="02020603050405020304" pitchFamily="18" charset="0"/>
                <a:cs typeface="Times New Roman" panose="02020603050405020304" pitchFamily="18" charset="0"/>
              </a:rPr>
              <a:t>A</a:t>
            </a:r>
            <a:r>
              <a:rPr lang="en-US" sz="2400" b="0" baseline="0" dirty="0" smtClean="0">
                <a:solidFill>
                  <a:srgbClr val="002060"/>
                </a:solidFill>
                <a:latin typeface="Times New Roman" panose="02020603050405020304" pitchFamily="18" charset="0"/>
                <a:cs typeface="Times New Roman" panose="02020603050405020304" pitchFamily="18" charset="0"/>
              </a:rPr>
              <a:t>pplied </a:t>
            </a:r>
            <a:r>
              <a:rPr lang="en-US" sz="3200" b="1" baseline="0" dirty="0" smtClean="0">
                <a:solidFill>
                  <a:schemeClr val="bg1">
                    <a:lumMod val="65000"/>
                  </a:schemeClr>
                </a:solidFill>
                <a:latin typeface="Times New Roman" panose="02020603050405020304" pitchFamily="18" charset="0"/>
                <a:cs typeface="Times New Roman" panose="02020603050405020304" pitchFamily="18" charset="0"/>
              </a:rPr>
              <a:t>M</a:t>
            </a:r>
            <a:r>
              <a:rPr lang="en-US" sz="2400" b="0" baseline="0" dirty="0" smtClean="0">
                <a:solidFill>
                  <a:srgbClr val="002060"/>
                </a:solidFill>
                <a:latin typeface="Times New Roman" panose="02020603050405020304" pitchFamily="18" charset="0"/>
                <a:cs typeface="Times New Roman" panose="02020603050405020304" pitchFamily="18" charset="0"/>
              </a:rPr>
              <a:t>athematics</a:t>
            </a:r>
            <a:endParaRPr lang="en-US" sz="2400" b="0" dirty="0">
              <a:solidFill>
                <a:srgbClr val="002060"/>
              </a:solidFill>
              <a:latin typeface="Times New Roman" panose="02020603050405020304" pitchFamily="18" charset="0"/>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kaggle.com/learn" TargetMode="External"/><Relationship Id="rId2" Type="http://schemas.openxmlformats.org/officeDocument/2006/relationships/hyperlink" Target="https://www.kaggle.com/competitions" TargetMode="External"/><Relationship Id="rId1" Type="http://schemas.openxmlformats.org/officeDocument/2006/relationships/slideLayout" Target="../slideLayouts/slideLayout2.xml"/><Relationship Id="rId5" Type="http://schemas.openxmlformats.org/officeDocument/2006/relationships/hyperlink" Target="https://www.kaggle.com/code" TargetMode="External"/><Relationship Id="rId4" Type="http://schemas.openxmlformats.org/officeDocument/2006/relationships/hyperlink" Target="https://www.kaggle.com/datasets"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archive.ics.uci.edu/ml/datasets.php"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archive.ics.uci.edu/ml/datasets.php" TargetMode="Externa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opendatamonitor.eu/" TargetMode="External"/><Relationship Id="rId2" Type="http://schemas.openxmlformats.org/officeDocument/2006/relationships/hyperlink" Target="https://dataportals.org/"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1.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hyperlink" Target="https://scikit-learn.org/stable/modules/generated/sklearn.linear_model.RidgeClassifierCV.html#sklearn.linear_model.RidgeClassifierCV" TargetMode="External"/><Relationship Id="rId3" Type="http://schemas.openxmlformats.org/officeDocument/2006/relationships/hyperlink" Target="https://scikit-learn.org/stable/modules/generated/sklearn.linear_model.LogisticRegressionCV.html#sklearn.linear_model.LogisticRegressionCV" TargetMode="External"/><Relationship Id="rId7" Type="http://schemas.openxmlformats.org/officeDocument/2006/relationships/hyperlink" Target="https://scikit-learn.org/stable/modules/generated/sklearn.linear_model.RidgeClassifier.html#sklearn.linear_model.RidgeClassifier" TargetMode="External"/><Relationship Id="rId2" Type="http://schemas.openxmlformats.org/officeDocument/2006/relationships/hyperlink" Target="https://scikit-learn.org/stable/modules/generated/sklearn.linear_model.LogisticRegression.html#sklearn.linear_model.LogisticRegression" TargetMode="External"/><Relationship Id="rId1" Type="http://schemas.openxmlformats.org/officeDocument/2006/relationships/slideLayout" Target="../slideLayouts/slideLayout2.xml"/><Relationship Id="rId6" Type="http://schemas.openxmlformats.org/officeDocument/2006/relationships/hyperlink" Target="https://scikit-learn.org/stable/modules/linear_model.html#perceptron" TargetMode="External"/><Relationship Id="rId5" Type="http://schemas.openxmlformats.org/officeDocument/2006/relationships/hyperlink" Target="https://scikit-learn.org/stable/modules/generated/sklearn.linear_model.Perceptron.html#sklearn.linear_model.Perceptron" TargetMode="External"/><Relationship Id="rId10" Type="http://schemas.openxmlformats.org/officeDocument/2006/relationships/hyperlink" Target="https://scikit-learn.org/stable/modules/classes.html#module-sklearn.linear_model" TargetMode="External"/><Relationship Id="rId4" Type="http://schemas.openxmlformats.org/officeDocument/2006/relationships/hyperlink" Target="https://scikit-learn.org/stable/modules/generated/sklearn.linear_model.PassiveAggressiveClassifier.html#sklearn.linear_model.PassiveAggressiveClassifier" TargetMode="External"/><Relationship Id="rId9" Type="http://schemas.openxmlformats.org/officeDocument/2006/relationships/hyperlink" Target="https://scikit-learn.org/stable/modules/generated/sklearn.linear_model.SGDClassifier.html#sklearn.linear_model.SGDClassifier"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scikit-learn.org/stable/modules/generated/sklearn.linear_model.LinearRegression.html#sklearn.linear_model.LinearRegression" TargetMode="External"/><Relationship Id="rId2" Type="http://schemas.openxmlformats.org/officeDocument/2006/relationships/hyperlink" Target="https://scikit-learn.org/stable/modules/classes.html#module-sklearn.linear_model" TargetMode="External"/><Relationship Id="rId1" Type="http://schemas.openxmlformats.org/officeDocument/2006/relationships/slideLayout" Target="../slideLayouts/slideLayout2.xml"/><Relationship Id="rId6" Type="http://schemas.openxmlformats.org/officeDocument/2006/relationships/hyperlink" Target="https://scikit-learn.org/stable/modules/generated/sklearn.linear_model.SGDRegressor.html#sklearn.linear_model.SGDRegressor" TargetMode="External"/><Relationship Id="rId5" Type="http://schemas.openxmlformats.org/officeDocument/2006/relationships/hyperlink" Target="https://scikit-learn.org/stable/modules/generated/sklearn.linear_model.RidgeCV.html#sklearn.linear_model.RidgeCV" TargetMode="External"/><Relationship Id="rId4" Type="http://schemas.openxmlformats.org/officeDocument/2006/relationships/hyperlink" Target="https://scikit-learn.org/stable/modules/generated/sklearn.linear_model.Ridge.html#sklearn.linear_model.Ridge" TargetMode="External"/></Relationships>
</file>

<file path=ppt/slides/_rels/slide26.xml.rels><?xml version="1.0" encoding="UTF-8" standalone="yes"?>
<Relationships xmlns="http://schemas.openxmlformats.org/package/2006/relationships"><Relationship Id="rId8" Type="http://schemas.openxmlformats.org/officeDocument/2006/relationships/hyperlink" Target="https://scikit-learn.org/stable/modules/generated/sklearn.cluster.MiniBatchKMeans.html#sklearn.cluster.MiniBatchKMeans" TargetMode="External"/><Relationship Id="rId13" Type="http://schemas.openxmlformats.org/officeDocument/2006/relationships/hyperlink" Target="https://scikit-learn.org/stable/modules/generated/sklearn.cluster.SpectralCoclustering.html#sklearn.cluster.SpectralCoclustering" TargetMode="External"/><Relationship Id="rId3" Type="http://schemas.openxmlformats.org/officeDocument/2006/relationships/hyperlink" Target="https://scikit-learn.org/stable/modules/generated/sklearn.cluster.AgglomerativeClustering.html#sklearn.cluster.AgglomerativeClustering" TargetMode="External"/><Relationship Id="rId7" Type="http://schemas.openxmlformats.org/officeDocument/2006/relationships/hyperlink" Target="https://scikit-learn.org/stable/modules/generated/sklearn.cluster.KMeans.html#sklearn.cluster.KMeans" TargetMode="External"/><Relationship Id="rId12" Type="http://schemas.openxmlformats.org/officeDocument/2006/relationships/hyperlink" Target="https://scikit-learn.org/stable/modules/generated/sklearn.cluster.SpectralBiclustering.html#sklearn.cluster.SpectralBiclustering" TargetMode="External"/><Relationship Id="rId2" Type="http://schemas.openxmlformats.org/officeDocument/2006/relationships/hyperlink" Target="https://scikit-learn.org/stable/modules/generated/sklearn.cluster.AffinityPropagation.html#sklearn.cluster.AffinityPropagation" TargetMode="External"/><Relationship Id="rId1" Type="http://schemas.openxmlformats.org/officeDocument/2006/relationships/slideLayout" Target="../slideLayouts/slideLayout2.xml"/><Relationship Id="rId6" Type="http://schemas.openxmlformats.org/officeDocument/2006/relationships/hyperlink" Target="https://scikit-learn.org/stable/modules/generated/sklearn.cluster.FeatureAgglomeration.html#sklearn.cluster.FeatureAgglomeration" TargetMode="External"/><Relationship Id="rId11" Type="http://schemas.openxmlformats.org/officeDocument/2006/relationships/hyperlink" Target="https://scikit-learn.org/stable/modules/generated/sklearn.cluster.SpectralClustering.html#sklearn.cluster.SpectralClustering" TargetMode="External"/><Relationship Id="rId5" Type="http://schemas.openxmlformats.org/officeDocument/2006/relationships/hyperlink" Target="https://scikit-learn.org/stable/modules/generated/sklearn.cluster.DBSCAN.html#sklearn.cluster.DBSCAN" TargetMode="External"/><Relationship Id="rId10" Type="http://schemas.openxmlformats.org/officeDocument/2006/relationships/hyperlink" Target="https://scikit-learn.org/stable/modules/generated/sklearn.cluster.OPTICS.html#sklearn.cluster.OPTICS" TargetMode="External"/><Relationship Id="rId4" Type="http://schemas.openxmlformats.org/officeDocument/2006/relationships/hyperlink" Target="https://scikit-learn.org/stable/modules/generated/sklearn.cluster.Birch.html#sklearn.cluster.Birch" TargetMode="External"/><Relationship Id="rId9" Type="http://schemas.openxmlformats.org/officeDocument/2006/relationships/hyperlink" Target="https://scikit-learn.org/stable/modules/generated/sklearn.cluster.MeanShift.html#sklearn.cluster.MeanShift" TargetMode="External"/><Relationship Id="rId14" Type="http://schemas.openxmlformats.org/officeDocument/2006/relationships/hyperlink" Target="https://scikit-learn.org/stable/modules/classes.html#module-sklearn.cluster"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hyperlink" Target="https://bit.ly/3wMNWWS" TargetMode="External"/><Relationship Id="rId3" Type="http://schemas.openxmlformats.org/officeDocument/2006/relationships/hyperlink" Target="https://bit.ly/3p3N5hA" TargetMode="External"/><Relationship Id="rId7" Type="http://schemas.openxmlformats.org/officeDocument/2006/relationships/hyperlink" Target="https://bit.ly/3c5FQQS" TargetMode="External"/><Relationship Id="rId2" Type="http://schemas.openxmlformats.org/officeDocument/2006/relationships/hyperlink" Target="https://bit.ly/2RaXTOC" TargetMode="External"/><Relationship Id="rId1" Type="http://schemas.openxmlformats.org/officeDocument/2006/relationships/slideLayout" Target="../slideLayouts/slideLayout2.xml"/><Relationship Id="rId6" Type="http://schemas.openxmlformats.org/officeDocument/2006/relationships/hyperlink" Target="https://bit.ly/3yOlZj2" TargetMode="External"/><Relationship Id="rId5" Type="http://schemas.openxmlformats.org/officeDocument/2006/relationships/hyperlink" Target="https://bit.ly/3p3FjVb" TargetMode="External"/><Relationship Id="rId4" Type="http://schemas.openxmlformats.org/officeDocument/2006/relationships/hyperlink" Target="https://bit.ly/3uKtiFr" TargetMode="External"/></Relationships>
</file>

<file path=ppt/slides/_rels/slide35.xml.rels><?xml version="1.0" encoding="UTF-8" standalone="yes"?>
<Relationships xmlns="http://schemas.openxmlformats.org/package/2006/relationships"><Relationship Id="rId3" Type="http://schemas.openxmlformats.org/officeDocument/2006/relationships/hyperlink" Target="https://bit.ly/2SIBus6" TargetMode="External"/><Relationship Id="rId2" Type="http://schemas.openxmlformats.org/officeDocument/2006/relationships/hyperlink" Target="https://github.com/deepinsight/insightface" TargetMode="External"/><Relationship Id="rId1" Type="http://schemas.openxmlformats.org/officeDocument/2006/relationships/slideLayout" Target="../slideLayouts/slideLayout2.xml"/><Relationship Id="rId6" Type="http://schemas.openxmlformats.org/officeDocument/2006/relationships/hyperlink" Target="https://bit.ly/34yook4" TargetMode="External"/><Relationship Id="rId5" Type="http://schemas.openxmlformats.org/officeDocument/2006/relationships/hyperlink" Target="https://bit.ly/3i6F766" TargetMode="External"/><Relationship Id="rId4" Type="http://schemas.openxmlformats.org/officeDocument/2006/relationships/hyperlink" Target="https://bit.ly/2RWEUYo"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bit.ly/2R5Qike" TargetMode="External"/><Relationship Id="rId7" Type="http://schemas.openxmlformats.org/officeDocument/2006/relationships/hyperlink" Target="https://bit.ly/3c5Dku0" TargetMode="External"/><Relationship Id="rId2" Type="http://schemas.openxmlformats.org/officeDocument/2006/relationships/hyperlink" Target="https://github.com/iperov/DeepFaceLab" TargetMode="External"/><Relationship Id="rId1" Type="http://schemas.openxmlformats.org/officeDocument/2006/relationships/slideLayout" Target="../slideLayouts/slideLayout2.xml"/><Relationship Id="rId6" Type="http://schemas.openxmlformats.org/officeDocument/2006/relationships/hyperlink" Target="https://bit.ly/3p4GvYh" TargetMode="External"/><Relationship Id="rId5" Type="http://schemas.openxmlformats.org/officeDocument/2006/relationships/hyperlink" Target="https://bit.ly/2TwWFOr" TargetMode="External"/><Relationship Id="rId4" Type="http://schemas.openxmlformats.org/officeDocument/2006/relationships/hyperlink" Target="https://bit.ly/34yy7G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22441" y="1143001"/>
            <a:ext cx="10363200" cy="2384426"/>
          </a:xfrm>
        </p:spPr>
        <p:txBody>
          <a:bodyPr>
            <a:normAutofit fontScale="90000"/>
          </a:bodyPr>
          <a:lstStyle/>
          <a:p>
            <a:r>
              <a:rPr lang="en-US" sz="6000" b="1" dirty="0" smtClean="0">
                <a:solidFill>
                  <a:srgbClr val="7030A0"/>
                </a:solidFill>
              </a:rPr>
              <a:t>Chương 3:</a:t>
            </a:r>
            <a:br>
              <a:rPr lang="en-US" sz="6000" b="1" dirty="0" smtClean="0">
                <a:solidFill>
                  <a:srgbClr val="7030A0"/>
                </a:solidFill>
              </a:rPr>
            </a:br>
            <a:r>
              <a:rPr lang="en-US" sz="5400" b="1" dirty="0" err="1">
                <a:solidFill>
                  <a:srgbClr val="0000CC"/>
                </a:solidFill>
              </a:rPr>
              <a:t>Quy</a:t>
            </a:r>
            <a:r>
              <a:rPr lang="en-US" sz="5400" b="1" dirty="0">
                <a:solidFill>
                  <a:srgbClr val="0000CC"/>
                </a:solidFill>
              </a:rPr>
              <a:t> trình </a:t>
            </a:r>
            <a:r>
              <a:rPr lang="en-US" sz="5400" b="1" dirty="0" err="1">
                <a:solidFill>
                  <a:srgbClr val="0000CC"/>
                </a:solidFill>
              </a:rPr>
              <a:t>làm</a:t>
            </a:r>
            <a:r>
              <a:rPr lang="en-US" sz="5400" b="1" dirty="0">
                <a:solidFill>
                  <a:srgbClr val="0000CC"/>
                </a:solidFill>
              </a:rPr>
              <a:t> </a:t>
            </a:r>
            <a:r>
              <a:rPr lang="en-US" sz="5400" b="1" dirty="0" err="1">
                <a:solidFill>
                  <a:srgbClr val="0000CC"/>
                </a:solidFill>
              </a:rPr>
              <a:t>dự</a:t>
            </a:r>
            <a:r>
              <a:rPr lang="en-US" sz="5400" b="1" dirty="0">
                <a:solidFill>
                  <a:srgbClr val="0000CC"/>
                </a:solidFill>
              </a:rPr>
              <a:t> </a:t>
            </a:r>
            <a:r>
              <a:rPr lang="en-US" sz="5400" b="1" dirty="0" err="1">
                <a:solidFill>
                  <a:srgbClr val="0000CC"/>
                </a:solidFill>
              </a:rPr>
              <a:t>án</a:t>
            </a:r>
            <a:r>
              <a:rPr lang="en-US" sz="5400" b="1" dirty="0">
                <a:solidFill>
                  <a:srgbClr val="0000CC"/>
                </a:solidFill>
              </a:rPr>
              <a:t> </a:t>
            </a:r>
            <a:r>
              <a:rPr lang="en-US" sz="5400" b="1" dirty="0" err="1">
                <a:solidFill>
                  <a:srgbClr val="0000CC"/>
                </a:solidFill>
              </a:rPr>
              <a:t>liên</a:t>
            </a:r>
            <a:r>
              <a:rPr lang="en-US" sz="5400" b="1" dirty="0">
                <a:solidFill>
                  <a:srgbClr val="0000CC"/>
                </a:solidFill>
              </a:rPr>
              <a:t> </a:t>
            </a:r>
            <a:r>
              <a:rPr lang="en-US" sz="5400" b="1" dirty="0" err="1">
                <a:solidFill>
                  <a:srgbClr val="0000CC"/>
                </a:solidFill>
              </a:rPr>
              <a:t>quan</a:t>
            </a:r>
            <a:r>
              <a:rPr lang="en-US" sz="5400" b="1" dirty="0">
                <a:solidFill>
                  <a:srgbClr val="0000CC"/>
                </a:solidFill>
              </a:rPr>
              <a:t> </a:t>
            </a:r>
            <a:r>
              <a:rPr lang="en-US" sz="5400" b="1" dirty="0" err="1">
                <a:solidFill>
                  <a:srgbClr val="0000CC"/>
                </a:solidFill>
              </a:rPr>
              <a:t>đến</a:t>
            </a:r>
            <a:r>
              <a:rPr lang="en-US" sz="5400" b="1" dirty="0">
                <a:solidFill>
                  <a:srgbClr val="0000CC"/>
                </a:solidFill>
              </a:rPr>
              <a:t> </a:t>
            </a:r>
            <a:r>
              <a:rPr lang="en-US" sz="5400" b="1" dirty="0" err="1">
                <a:solidFill>
                  <a:srgbClr val="0000CC"/>
                </a:solidFill>
              </a:rPr>
              <a:t>ngành</a:t>
            </a:r>
            <a:r>
              <a:rPr lang="en-US" sz="5400" b="1" dirty="0">
                <a:solidFill>
                  <a:srgbClr val="0000CC"/>
                </a:solidFill>
              </a:rPr>
              <a:t> </a:t>
            </a:r>
            <a:r>
              <a:rPr lang="en-US" sz="5400" b="1" dirty="0" err="1">
                <a:solidFill>
                  <a:srgbClr val="0000CC"/>
                </a:solidFill>
              </a:rPr>
              <a:t>khoa</a:t>
            </a:r>
            <a:r>
              <a:rPr lang="en-US" sz="5400" b="1" dirty="0">
                <a:solidFill>
                  <a:srgbClr val="0000CC"/>
                </a:solidFill>
              </a:rPr>
              <a:t> học </a:t>
            </a:r>
            <a:r>
              <a:rPr lang="en-US" sz="5400" b="1" dirty="0" err="1">
                <a:solidFill>
                  <a:srgbClr val="0000CC"/>
                </a:solidFill>
              </a:rPr>
              <a:t>dữ</a:t>
            </a:r>
            <a:r>
              <a:rPr lang="en-US" sz="5400" b="1" dirty="0">
                <a:solidFill>
                  <a:srgbClr val="0000CC"/>
                </a:solidFill>
              </a:rPr>
              <a:t> </a:t>
            </a:r>
            <a:r>
              <a:rPr lang="en-US" sz="5400" b="1" dirty="0" err="1">
                <a:solidFill>
                  <a:srgbClr val="0000CC"/>
                </a:solidFill>
              </a:rPr>
              <a:t>liệu</a:t>
            </a:r>
            <a:endParaRPr lang="vi-VN" sz="6000" b="1" dirty="0">
              <a:solidFill>
                <a:srgbClr val="0000CC"/>
              </a:solidFill>
            </a:endParaRPr>
          </a:p>
        </p:txBody>
      </p:sp>
      <p:sp>
        <p:nvSpPr>
          <p:cNvPr id="3" name="Subtitle 2"/>
          <p:cNvSpPr>
            <a:spLocks noGrp="1"/>
          </p:cNvSpPr>
          <p:nvPr>
            <p:ph type="subTitle" idx="1"/>
          </p:nvPr>
        </p:nvSpPr>
        <p:spPr>
          <a:xfrm>
            <a:off x="2590800" y="3886200"/>
            <a:ext cx="7772400" cy="1752600"/>
          </a:xfrm>
        </p:spPr>
        <p:txBody>
          <a:bodyPr/>
          <a:lstStyle/>
          <a:p>
            <a:r>
              <a:rPr lang="en-US" dirty="0" smtClean="0">
                <a:solidFill>
                  <a:srgbClr val="0000CC"/>
                </a:solidFill>
              </a:rPr>
              <a:t>Trần Văn Long</a:t>
            </a:r>
          </a:p>
          <a:p>
            <a:r>
              <a:rPr lang="en-US" dirty="0" smtClean="0">
                <a:solidFill>
                  <a:srgbClr val="0000CC"/>
                </a:solidFill>
              </a:rPr>
              <a:t>TRƯỜNG ĐẠI HỌC GIAO THÔNG VẬN TẢI</a:t>
            </a:r>
            <a:endParaRPr lang="vi-VN" dirty="0">
              <a:solidFill>
                <a:srgbClr val="0000CC"/>
              </a:solidFill>
            </a:endParaRPr>
          </a:p>
        </p:txBody>
      </p:sp>
      <p:sp>
        <p:nvSpPr>
          <p:cNvPr id="4" name="Date Placeholder 3"/>
          <p:cNvSpPr>
            <a:spLocks noGrp="1"/>
          </p:cNvSpPr>
          <p:nvPr>
            <p:ph type="dt" sz="half" idx="10"/>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a:p>
        </p:txBody>
      </p:sp>
      <p:sp>
        <p:nvSpPr>
          <p:cNvPr id="6" name="Footer Placeholder 5"/>
          <p:cNvSpPr>
            <a:spLocks noGrp="1"/>
          </p:cNvSpPr>
          <p:nvPr>
            <p:ph type="ftr" sz="quarter" idx="11"/>
          </p:nvPr>
        </p:nvSpPr>
        <p:spPr/>
        <p:txBody>
          <a:bodyP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NỘI DUNG</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dirty="0" smtClean="0"/>
              <a:t>1. </a:t>
            </a:r>
            <a:r>
              <a:rPr lang="en-US" dirty="0" err="1" smtClean="0"/>
              <a:t>Xác</a:t>
            </a:r>
            <a:r>
              <a:rPr lang="en-US" dirty="0" smtClean="0"/>
              <a:t> </a:t>
            </a:r>
            <a:r>
              <a:rPr lang="en-US" dirty="0" err="1"/>
              <a:t>định</a:t>
            </a:r>
            <a:r>
              <a:rPr lang="en-US" dirty="0"/>
              <a:t> </a:t>
            </a:r>
            <a:r>
              <a:rPr lang="en-US" dirty="0" err="1"/>
              <a:t>vấn</a:t>
            </a:r>
            <a:r>
              <a:rPr lang="en-US" dirty="0"/>
              <a:t> </a:t>
            </a:r>
            <a:r>
              <a:rPr lang="en-US" dirty="0" err="1" smtClean="0"/>
              <a:t>đề</a:t>
            </a:r>
            <a:endParaRPr lang="en-US" dirty="0" smtClean="0"/>
          </a:p>
          <a:p>
            <a:pPr marL="0" indent="0">
              <a:buNone/>
            </a:pPr>
            <a:r>
              <a:rPr lang="en-US" dirty="0" smtClean="0"/>
              <a:t>2. Thu </a:t>
            </a:r>
            <a:r>
              <a:rPr lang="en-US" dirty="0" err="1"/>
              <a:t>thập</a:t>
            </a:r>
            <a:r>
              <a:rPr lang="en-US" dirty="0"/>
              <a:t> </a:t>
            </a:r>
            <a:r>
              <a:rPr lang="en-US" dirty="0" err="1"/>
              <a:t>dữ</a:t>
            </a:r>
            <a:r>
              <a:rPr lang="en-US" dirty="0"/>
              <a:t> </a:t>
            </a:r>
            <a:r>
              <a:rPr lang="en-US" dirty="0" err="1"/>
              <a:t>liệu</a:t>
            </a:r>
            <a:r>
              <a:rPr lang="en-US" dirty="0"/>
              <a:t> </a:t>
            </a:r>
            <a:r>
              <a:rPr lang="en-US" dirty="0" err="1"/>
              <a:t>liên</a:t>
            </a:r>
            <a:r>
              <a:rPr lang="en-US" dirty="0"/>
              <a:t> </a:t>
            </a:r>
            <a:r>
              <a:rPr lang="en-US" dirty="0" err="1" smtClean="0"/>
              <a:t>quan</a:t>
            </a:r>
            <a:endParaRPr lang="en-US" dirty="0" smtClean="0"/>
          </a:p>
          <a:p>
            <a:pPr marL="0" indent="0">
              <a:buNone/>
            </a:pPr>
            <a:r>
              <a:rPr lang="en-US" dirty="0" smtClean="0"/>
              <a:t>3. </a:t>
            </a:r>
            <a:r>
              <a:rPr lang="en-US" dirty="0" err="1" smtClean="0"/>
              <a:t>Khám</a:t>
            </a:r>
            <a:r>
              <a:rPr lang="en-US" dirty="0" smtClean="0"/>
              <a:t> </a:t>
            </a:r>
            <a:r>
              <a:rPr lang="en-US" dirty="0" err="1"/>
              <a:t>phá</a:t>
            </a:r>
            <a:r>
              <a:rPr lang="en-US" dirty="0"/>
              <a:t> </a:t>
            </a:r>
            <a:r>
              <a:rPr lang="en-US" dirty="0" err="1"/>
              <a:t>dữ</a:t>
            </a:r>
            <a:r>
              <a:rPr lang="en-US" dirty="0"/>
              <a:t> </a:t>
            </a:r>
            <a:r>
              <a:rPr lang="en-US" dirty="0" err="1"/>
              <a:t>liệu</a:t>
            </a:r>
            <a:endParaRPr lang="en-US" dirty="0" smtClean="0"/>
          </a:p>
          <a:p>
            <a:pPr marL="0" indent="0">
              <a:buNone/>
            </a:pPr>
            <a:r>
              <a:rPr lang="en-US" dirty="0" smtClean="0"/>
              <a:t>4. </a:t>
            </a:r>
            <a:r>
              <a:rPr lang="en-US" dirty="0" err="1" smtClean="0"/>
              <a:t>Xử</a:t>
            </a:r>
            <a:r>
              <a:rPr lang="en-US" dirty="0" smtClean="0"/>
              <a:t> </a:t>
            </a:r>
            <a:r>
              <a:rPr lang="en-US" dirty="0" err="1" smtClean="0"/>
              <a:t>lý</a:t>
            </a:r>
            <a:r>
              <a:rPr lang="en-US" dirty="0" smtClean="0"/>
              <a:t> </a:t>
            </a:r>
            <a:r>
              <a:rPr lang="en-US" dirty="0" err="1"/>
              <a:t>dữ</a:t>
            </a:r>
            <a:r>
              <a:rPr lang="en-US" dirty="0"/>
              <a:t> </a:t>
            </a:r>
            <a:r>
              <a:rPr lang="en-US" dirty="0" err="1" smtClean="0"/>
              <a:t>liệu</a:t>
            </a:r>
            <a:endParaRPr lang="en-US" dirty="0" smtClean="0"/>
          </a:p>
          <a:p>
            <a:pPr marL="0" indent="0">
              <a:buNone/>
            </a:pPr>
            <a:r>
              <a:rPr lang="en-US" dirty="0" smtClean="0"/>
              <a:t>5. </a:t>
            </a:r>
            <a:r>
              <a:rPr lang="en-US" dirty="0" err="1" smtClean="0"/>
              <a:t>Mô</a:t>
            </a:r>
            <a:r>
              <a:rPr lang="en-US" dirty="0" smtClean="0"/>
              <a:t> </a:t>
            </a:r>
            <a:r>
              <a:rPr lang="en-US" dirty="0" err="1"/>
              <a:t>hình</a:t>
            </a:r>
            <a:r>
              <a:rPr lang="en-US" dirty="0"/>
              <a:t> </a:t>
            </a:r>
            <a:r>
              <a:rPr lang="en-US" dirty="0" err="1"/>
              <a:t>phân</a:t>
            </a:r>
            <a:r>
              <a:rPr lang="en-US" dirty="0"/>
              <a:t> </a:t>
            </a:r>
            <a:r>
              <a:rPr lang="en-US" dirty="0" err="1"/>
              <a:t>tích</a:t>
            </a:r>
            <a:r>
              <a:rPr lang="en-US" dirty="0"/>
              <a:t> </a:t>
            </a:r>
            <a:r>
              <a:rPr lang="en-US" dirty="0" err="1"/>
              <a:t>dữ</a:t>
            </a:r>
            <a:r>
              <a:rPr lang="en-US" dirty="0"/>
              <a:t> </a:t>
            </a:r>
            <a:r>
              <a:rPr lang="en-US" dirty="0" err="1" smtClean="0"/>
              <a:t>liệu</a:t>
            </a:r>
            <a:endParaRPr lang="en-US" dirty="0" smtClean="0"/>
          </a:p>
          <a:p>
            <a:pPr marL="0" indent="0">
              <a:buNone/>
            </a:pPr>
            <a:r>
              <a:rPr lang="en-US" dirty="0" smtClean="0"/>
              <a:t>6. </a:t>
            </a:r>
            <a:r>
              <a:rPr lang="en-US" dirty="0" err="1" smtClean="0"/>
              <a:t>Tinh</a:t>
            </a:r>
            <a:r>
              <a:rPr lang="en-US" dirty="0" smtClean="0"/>
              <a:t> </a:t>
            </a:r>
            <a:r>
              <a:rPr lang="en-US" dirty="0" err="1" smtClean="0"/>
              <a:t>chỉnh</a:t>
            </a:r>
            <a:r>
              <a:rPr lang="en-US" dirty="0" smtClean="0"/>
              <a:t> </a:t>
            </a:r>
            <a:r>
              <a:rPr lang="en-US" dirty="0" err="1" smtClean="0"/>
              <a:t>hệ</a:t>
            </a:r>
            <a:r>
              <a:rPr lang="en-US" dirty="0" smtClean="0"/>
              <a:t> </a:t>
            </a:r>
            <a:r>
              <a:rPr lang="en-US" dirty="0" err="1" smtClean="0"/>
              <a:t>thống</a:t>
            </a:r>
            <a:endParaRPr lang="en-US" dirty="0" smtClean="0"/>
          </a:p>
          <a:p>
            <a:pPr marL="0" indent="0">
              <a:buNone/>
            </a:pPr>
            <a:r>
              <a:rPr lang="en-US" dirty="0"/>
              <a:t>7. </a:t>
            </a:r>
            <a:r>
              <a:rPr lang="en-US" dirty="0" err="1"/>
              <a:t>Trình</a:t>
            </a:r>
            <a:r>
              <a:rPr lang="en-US" dirty="0"/>
              <a:t> </a:t>
            </a:r>
            <a:r>
              <a:rPr lang="en-US" dirty="0" err="1"/>
              <a:t>bày</a:t>
            </a:r>
            <a:r>
              <a:rPr lang="en-US" dirty="0"/>
              <a:t> </a:t>
            </a:r>
            <a:r>
              <a:rPr lang="en-US" dirty="0" err="1"/>
              <a:t>kết</a:t>
            </a:r>
            <a:r>
              <a:rPr lang="en-US" dirty="0"/>
              <a:t> </a:t>
            </a:r>
            <a:r>
              <a:rPr lang="en-US" dirty="0" err="1"/>
              <a:t>quả</a:t>
            </a:r>
            <a:endParaRPr lang="en-US" dirty="0"/>
          </a:p>
          <a:p>
            <a:pPr marL="0" indent="0">
              <a:buNone/>
            </a:pPr>
            <a:r>
              <a:rPr lang="en-US" dirty="0" smtClean="0"/>
              <a:t>8. </a:t>
            </a:r>
            <a:r>
              <a:rPr lang="en-US" dirty="0" err="1" smtClean="0"/>
              <a:t>Triển</a:t>
            </a:r>
            <a:r>
              <a:rPr lang="en-US" dirty="0" smtClean="0"/>
              <a:t> </a:t>
            </a:r>
            <a:r>
              <a:rPr lang="en-US" dirty="0" err="1" smtClean="0"/>
              <a:t>khai</a:t>
            </a:r>
            <a:r>
              <a:rPr lang="en-US" dirty="0" smtClean="0"/>
              <a:t> </a:t>
            </a:r>
            <a:r>
              <a:rPr lang="en-US" dirty="0" err="1" smtClean="0"/>
              <a:t>hệ</a:t>
            </a:r>
            <a:r>
              <a:rPr lang="en-US" dirty="0" smtClean="0"/>
              <a:t> </a:t>
            </a:r>
            <a:r>
              <a:rPr lang="en-US" dirty="0" err="1" smtClean="0"/>
              <a:t>thống</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3861898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Bước</a:t>
            </a:r>
            <a:r>
              <a:rPr lang="en-US" dirty="0" smtClean="0"/>
              <a:t> 1</a:t>
            </a:r>
            <a:br>
              <a:rPr lang="en-US" dirty="0" smtClean="0"/>
            </a:br>
            <a:r>
              <a:rPr lang="en-US" dirty="0" err="1" smtClean="0"/>
              <a:t>Xác</a:t>
            </a:r>
            <a:r>
              <a:rPr lang="en-US" dirty="0" smtClean="0"/>
              <a:t> </a:t>
            </a:r>
            <a:r>
              <a:rPr lang="en-US" dirty="0" err="1" smtClean="0"/>
              <a:t>định</a:t>
            </a:r>
            <a:r>
              <a:rPr lang="en-US" dirty="0" smtClean="0"/>
              <a:t> </a:t>
            </a:r>
            <a:r>
              <a:rPr lang="en-US" dirty="0" err="1" smtClean="0"/>
              <a:t>vấn</a:t>
            </a:r>
            <a:r>
              <a:rPr lang="en-US" dirty="0" smtClean="0"/>
              <a:t> </a:t>
            </a:r>
            <a:r>
              <a:rPr lang="en-US" dirty="0" err="1" smtClean="0"/>
              <a:t>đề</a:t>
            </a:r>
            <a:endParaRPr lang="en-US" dirty="0"/>
          </a:p>
        </p:txBody>
      </p:sp>
      <p:sp>
        <p:nvSpPr>
          <p:cNvPr id="3" name="Content Placeholder 2"/>
          <p:cNvSpPr>
            <a:spLocks noGrp="1"/>
          </p:cNvSpPr>
          <p:nvPr>
            <p:ph idx="1"/>
          </p:nvPr>
        </p:nvSpPr>
        <p:spPr/>
        <p:txBody>
          <a:bodyPr>
            <a:normAutofit fontScale="62500" lnSpcReduction="20000"/>
          </a:bodyPr>
          <a:lstStyle/>
          <a:p>
            <a:pPr marL="0" indent="0">
              <a:buNone/>
            </a:pPr>
            <a:r>
              <a:rPr lang="en-US" dirty="0" smtClean="0"/>
              <a:t>1</a:t>
            </a:r>
            <a:r>
              <a:rPr lang="vi-VN" dirty="0" smtClean="0"/>
              <a:t>. </a:t>
            </a:r>
            <a:r>
              <a:rPr lang="vi-VN" dirty="0"/>
              <a:t>Xác định mục tiêu trong điều kiện kinh doanh</a:t>
            </a:r>
            <a:r>
              <a:rPr lang="vi-VN" dirty="0" smtClean="0"/>
              <a:t>.</a:t>
            </a:r>
            <a:endParaRPr lang="en-US" dirty="0" smtClean="0"/>
          </a:p>
          <a:p>
            <a:pPr marL="0" indent="0">
              <a:buNone/>
            </a:pPr>
            <a:r>
              <a:rPr lang="vi-VN" dirty="0" smtClean="0"/>
              <a:t>2</a:t>
            </a:r>
            <a:r>
              <a:rPr lang="vi-VN" dirty="0"/>
              <a:t>. Giải pháp của bạn sẽ được sử dụng như thế nào</a:t>
            </a:r>
            <a:r>
              <a:rPr lang="vi-VN" dirty="0" smtClean="0"/>
              <a:t>?</a:t>
            </a:r>
            <a:endParaRPr lang="en-US" dirty="0" smtClean="0"/>
          </a:p>
          <a:p>
            <a:pPr marL="0" indent="0">
              <a:buNone/>
            </a:pPr>
            <a:r>
              <a:rPr lang="vi-VN" dirty="0" smtClean="0"/>
              <a:t>3</a:t>
            </a:r>
            <a:r>
              <a:rPr lang="vi-VN" dirty="0"/>
              <a:t>. Các giải pháp / cách giải quyết hiện tại (nếu có) là gì</a:t>
            </a:r>
            <a:r>
              <a:rPr lang="vi-VN" dirty="0" smtClean="0"/>
              <a:t>?</a:t>
            </a:r>
            <a:endParaRPr lang="en-US" dirty="0" smtClean="0"/>
          </a:p>
          <a:p>
            <a:pPr marL="0" indent="0">
              <a:buNone/>
            </a:pPr>
            <a:r>
              <a:rPr lang="vi-VN" dirty="0" smtClean="0"/>
              <a:t>4</a:t>
            </a:r>
            <a:r>
              <a:rPr lang="vi-VN" dirty="0"/>
              <a:t>. Bạn nên giải quyết vấn đề này như thế nào (có giám sát / không giám sát, trực tuyến / ngoại </a:t>
            </a:r>
            <a:r>
              <a:rPr lang="vi-VN" dirty="0" smtClean="0"/>
              <a:t>tuyến,</a:t>
            </a:r>
            <a:r>
              <a:rPr lang="en-US" dirty="0" smtClean="0"/>
              <a:t> v</a:t>
            </a:r>
            <a:r>
              <a:rPr lang="vi-VN" dirty="0" smtClean="0"/>
              <a:t>ân </a:t>
            </a:r>
            <a:r>
              <a:rPr lang="vi-VN" dirty="0"/>
              <a:t>vân</a:t>
            </a:r>
            <a:r>
              <a:rPr lang="vi-VN" dirty="0" smtClean="0"/>
              <a:t>.)?</a:t>
            </a:r>
            <a:endParaRPr lang="en-US" dirty="0" smtClean="0"/>
          </a:p>
          <a:p>
            <a:pPr marL="0" indent="0">
              <a:buNone/>
            </a:pPr>
            <a:r>
              <a:rPr lang="vi-VN" dirty="0" smtClean="0"/>
              <a:t>5</a:t>
            </a:r>
            <a:r>
              <a:rPr lang="vi-VN" dirty="0"/>
              <a:t>. Hiệu suất nên được đo lường như thế nào</a:t>
            </a:r>
            <a:r>
              <a:rPr lang="vi-VN" dirty="0" smtClean="0"/>
              <a:t>?</a:t>
            </a:r>
            <a:endParaRPr lang="en-US" dirty="0" smtClean="0"/>
          </a:p>
          <a:p>
            <a:pPr marL="0" indent="0">
              <a:buNone/>
            </a:pPr>
            <a:r>
              <a:rPr lang="vi-VN" dirty="0" smtClean="0"/>
              <a:t>6</a:t>
            </a:r>
            <a:r>
              <a:rPr lang="vi-VN" dirty="0"/>
              <a:t>. Thước đo hiệu suất có phù hợp với mục tiêu kinh doanh không</a:t>
            </a:r>
            <a:r>
              <a:rPr lang="vi-VN" dirty="0" smtClean="0"/>
              <a:t>?</a:t>
            </a:r>
            <a:endParaRPr lang="en-US" dirty="0" smtClean="0"/>
          </a:p>
          <a:p>
            <a:pPr marL="0" indent="0">
              <a:buNone/>
            </a:pPr>
            <a:r>
              <a:rPr lang="vi-VN" dirty="0" smtClean="0"/>
              <a:t>7</a:t>
            </a:r>
            <a:r>
              <a:rPr lang="vi-VN" dirty="0"/>
              <a:t>. Hiệu suất tối thiểu cần thiết để đạt được mục tiêu kinh doanh là gì‐tive</a:t>
            </a:r>
            <a:r>
              <a:rPr lang="vi-VN" dirty="0" smtClean="0"/>
              <a:t>?</a:t>
            </a:r>
            <a:endParaRPr lang="en-US" dirty="0" smtClean="0"/>
          </a:p>
          <a:p>
            <a:pPr marL="0" indent="0">
              <a:buNone/>
            </a:pPr>
            <a:r>
              <a:rPr lang="vi-VN" dirty="0" smtClean="0"/>
              <a:t>8</a:t>
            </a:r>
            <a:r>
              <a:rPr lang="vi-VN" dirty="0"/>
              <a:t>. Các vấn đề có thể so sánh được là gì? Bạn có thể sử dụng lại kinh nghiệm hoặc công cụ không</a:t>
            </a:r>
            <a:r>
              <a:rPr lang="vi-VN" dirty="0" smtClean="0"/>
              <a:t>?</a:t>
            </a:r>
            <a:endParaRPr lang="en-US" dirty="0" smtClean="0"/>
          </a:p>
          <a:p>
            <a:pPr marL="0" indent="0">
              <a:buNone/>
            </a:pPr>
            <a:r>
              <a:rPr lang="vi-VN" dirty="0" smtClean="0"/>
              <a:t>9</a:t>
            </a:r>
            <a:r>
              <a:rPr lang="vi-VN" dirty="0"/>
              <a:t>. Chuyên môn của con người có sẵn không</a:t>
            </a:r>
            <a:r>
              <a:rPr lang="vi-VN" dirty="0" smtClean="0"/>
              <a:t>?</a:t>
            </a:r>
            <a:endParaRPr lang="en-US" dirty="0" smtClean="0"/>
          </a:p>
          <a:p>
            <a:pPr marL="0" indent="0">
              <a:buNone/>
            </a:pPr>
            <a:r>
              <a:rPr lang="vi-VN" dirty="0" smtClean="0"/>
              <a:t>10</a:t>
            </a:r>
            <a:r>
              <a:rPr lang="vi-VN" dirty="0"/>
              <a:t>. Bạn sẽ giải quyết vấn đề theo cách thủ công như thế nào</a:t>
            </a:r>
            <a:r>
              <a:rPr lang="vi-VN" dirty="0" smtClean="0"/>
              <a:t>?</a:t>
            </a:r>
            <a:endParaRPr lang="en-US" dirty="0" smtClean="0"/>
          </a:p>
          <a:p>
            <a:pPr marL="0" indent="0">
              <a:buNone/>
            </a:pPr>
            <a:r>
              <a:rPr lang="vi-VN" dirty="0" smtClean="0"/>
              <a:t>11</a:t>
            </a:r>
            <a:r>
              <a:rPr lang="vi-VN" dirty="0"/>
              <a:t>. Liệt kê những giả định mà bạn (hoặc những người khác) đã thực hiện cho đến nay</a:t>
            </a:r>
            <a:r>
              <a:rPr lang="vi-VN" dirty="0" smtClean="0"/>
              <a:t>.</a:t>
            </a:r>
            <a:endParaRPr lang="en-US" dirty="0" smtClean="0"/>
          </a:p>
          <a:p>
            <a:pPr marL="0" indent="0">
              <a:buNone/>
            </a:pPr>
            <a:r>
              <a:rPr lang="vi-VN" dirty="0" smtClean="0"/>
              <a:t>12</a:t>
            </a:r>
            <a:r>
              <a:rPr lang="vi-VN" dirty="0"/>
              <a:t>. Xác minh các giả định nếu có thể.</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4109801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Bước</a:t>
            </a:r>
            <a:r>
              <a:rPr lang="en-US" dirty="0"/>
              <a:t> 2:</a:t>
            </a:r>
            <a:br>
              <a:rPr lang="en-US" dirty="0"/>
            </a:br>
            <a:r>
              <a:rPr lang="en-US" dirty="0" smtClean="0"/>
              <a:t>Thu </a:t>
            </a:r>
            <a:r>
              <a:rPr lang="en-US" dirty="0" err="1" smtClean="0"/>
              <a:t>thập</a:t>
            </a:r>
            <a:r>
              <a:rPr lang="en-US" dirty="0" smtClean="0"/>
              <a:t> </a:t>
            </a:r>
            <a:r>
              <a:rPr lang="en-US" dirty="0" err="1"/>
              <a:t>dữ</a:t>
            </a:r>
            <a:r>
              <a:rPr lang="en-US" dirty="0"/>
              <a:t> </a:t>
            </a:r>
            <a:r>
              <a:rPr lang="en-US" dirty="0" err="1"/>
              <a:t>liệu</a:t>
            </a:r>
            <a:endParaRPr lang="en-US" dirty="0"/>
          </a:p>
        </p:txBody>
      </p:sp>
      <p:sp>
        <p:nvSpPr>
          <p:cNvPr id="3" name="Content Placeholder 2"/>
          <p:cNvSpPr>
            <a:spLocks noGrp="1"/>
          </p:cNvSpPr>
          <p:nvPr>
            <p:ph idx="1"/>
          </p:nvPr>
        </p:nvSpPr>
        <p:spPr/>
        <p:txBody>
          <a:bodyPr>
            <a:normAutofit fontScale="70000" lnSpcReduction="20000"/>
          </a:bodyPr>
          <a:lstStyle/>
          <a:p>
            <a:pPr>
              <a:buAutoNum type="arabicPeriod"/>
            </a:pPr>
            <a:r>
              <a:rPr lang="vi-VN" dirty="0" smtClean="0"/>
              <a:t>Liệt </a:t>
            </a:r>
            <a:r>
              <a:rPr lang="vi-VN" dirty="0"/>
              <a:t>kê dữ liệu bạn cần và số lượng bạn cần</a:t>
            </a:r>
            <a:r>
              <a:rPr lang="vi-VN" dirty="0" smtClean="0"/>
              <a:t>.</a:t>
            </a:r>
            <a:endParaRPr lang="en-US" dirty="0" smtClean="0"/>
          </a:p>
          <a:p>
            <a:pPr marL="0" indent="0">
              <a:buNone/>
            </a:pPr>
            <a:r>
              <a:rPr lang="vi-VN" dirty="0" smtClean="0"/>
              <a:t>2</a:t>
            </a:r>
            <a:r>
              <a:rPr lang="vi-VN" dirty="0"/>
              <a:t>. Tìm và ghi lại nơi bạn có thể lấy dữ liệu đó</a:t>
            </a:r>
            <a:r>
              <a:rPr lang="vi-VN" dirty="0" smtClean="0"/>
              <a:t>.</a:t>
            </a:r>
            <a:endParaRPr lang="en-US" dirty="0" smtClean="0"/>
          </a:p>
          <a:p>
            <a:pPr marL="0" indent="0">
              <a:buNone/>
            </a:pPr>
            <a:r>
              <a:rPr lang="vi-VN" dirty="0" smtClean="0"/>
              <a:t>3</a:t>
            </a:r>
            <a:r>
              <a:rPr lang="vi-VN" dirty="0"/>
              <a:t>. Kiểm tra xem nó sẽ chiếm bao nhiêu dung lượng</a:t>
            </a:r>
            <a:r>
              <a:rPr lang="vi-VN" dirty="0" smtClean="0"/>
              <a:t>.</a:t>
            </a:r>
            <a:endParaRPr lang="en-US" dirty="0" smtClean="0"/>
          </a:p>
          <a:p>
            <a:pPr marL="0" indent="0">
              <a:buNone/>
            </a:pPr>
            <a:r>
              <a:rPr lang="vi-VN" dirty="0" smtClean="0"/>
              <a:t>4</a:t>
            </a:r>
            <a:r>
              <a:rPr lang="vi-VN" dirty="0"/>
              <a:t>. Kiểm tra các nghĩa vụ pháp lý và nhận ủy quyền nếu cần</a:t>
            </a:r>
            <a:r>
              <a:rPr lang="vi-VN" dirty="0" smtClean="0"/>
              <a:t>.</a:t>
            </a:r>
            <a:endParaRPr lang="en-US" dirty="0" smtClean="0"/>
          </a:p>
          <a:p>
            <a:pPr marL="0" indent="0">
              <a:buNone/>
            </a:pPr>
            <a:r>
              <a:rPr lang="vi-VN" dirty="0" smtClean="0"/>
              <a:t>5</a:t>
            </a:r>
            <a:r>
              <a:rPr lang="vi-VN" dirty="0"/>
              <a:t>. Nhận quyền truy cập</a:t>
            </a:r>
            <a:r>
              <a:rPr lang="vi-VN" dirty="0" smtClean="0"/>
              <a:t>.</a:t>
            </a:r>
            <a:endParaRPr lang="en-US" dirty="0" smtClean="0"/>
          </a:p>
          <a:p>
            <a:pPr marL="0" indent="0">
              <a:buNone/>
            </a:pPr>
            <a:r>
              <a:rPr lang="vi-VN" dirty="0" smtClean="0"/>
              <a:t>6</a:t>
            </a:r>
            <a:r>
              <a:rPr lang="vi-VN" dirty="0"/>
              <a:t>. Tạo không gian làm việc (có đủ dung lượng lưu trữ</a:t>
            </a:r>
            <a:r>
              <a:rPr lang="vi-VN" dirty="0" smtClean="0"/>
              <a:t>).</a:t>
            </a:r>
            <a:endParaRPr lang="en-US" dirty="0" smtClean="0"/>
          </a:p>
          <a:p>
            <a:pPr marL="0" indent="0">
              <a:buNone/>
            </a:pPr>
            <a:r>
              <a:rPr lang="vi-VN" dirty="0" smtClean="0"/>
              <a:t>7</a:t>
            </a:r>
            <a:r>
              <a:rPr lang="vi-VN" dirty="0"/>
              <a:t>. Lấy dữ liệu</a:t>
            </a:r>
            <a:r>
              <a:rPr lang="vi-VN" dirty="0" smtClean="0"/>
              <a:t>.</a:t>
            </a:r>
            <a:endParaRPr lang="en-US" dirty="0" smtClean="0"/>
          </a:p>
          <a:p>
            <a:pPr marL="0" indent="0">
              <a:buNone/>
            </a:pPr>
            <a:r>
              <a:rPr lang="vi-VN" dirty="0" smtClean="0"/>
              <a:t>8</a:t>
            </a:r>
            <a:r>
              <a:rPr lang="vi-VN" dirty="0"/>
              <a:t>. Chuyển đổi dữ liệu sang định dạng mà bạn có thể dễ dàng thao tác (mà không cần thay đổidữ liệu chính nó</a:t>
            </a:r>
            <a:r>
              <a:rPr lang="vi-VN" dirty="0" smtClean="0"/>
              <a:t>).</a:t>
            </a:r>
            <a:endParaRPr lang="en-US" dirty="0" smtClean="0"/>
          </a:p>
          <a:p>
            <a:pPr marL="0" indent="0">
              <a:buNone/>
            </a:pPr>
            <a:r>
              <a:rPr lang="vi-VN" dirty="0" smtClean="0"/>
              <a:t>9</a:t>
            </a:r>
            <a:r>
              <a:rPr lang="vi-VN" dirty="0"/>
              <a:t>. Đảm bảo thông tin nhạy cảm được xóa hoặc được bảo vệ (ví dụ: ẩn danh</a:t>
            </a:r>
            <a:r>
              <a:rPr lang="vi-VN" dirty="0" smtClean="0"/>
              <a:t>).</a:t>
            </a:r>
            <a:endParaRPr lang="en-US" dirty="0" smtClean="0"/>
          </a:p>
          <a:p>
            <a:pPr marL="0" indent="0">
              <a:buNone/>
            </a:pPr>
            <a:r>
              <a:rPr lang="vi-VN" dirty="0" smtClean="0"/>
              <a:t>10</a:t>
            </a:r>
            <a:r>
              <a:rPr lang="vi-VN" dirty="0"/>
              <a:t>. Kiểm tra kích thước và kiểu dữ liệu (chuỗi thời gian, mẫu, địa lý, v.v</a:t>
            </a:r>
            <a:r>
              <a:rPr lang="vi-VN" dirty="0" smtClean="0"/>
              <a:t>.).</a:t>
            </a:r>
            <a:endParaRPr lang="en-US" dirty="0" smtClean="0"/>
          </a:p>
          <a:p>
            <a:pPr marL="0" indent="0">
              <a:buNone/>
            </a:pPr>
            <a:r>
              <a:rPr lang="vi-VN" dirty="0" smtClean="0"/>
              <a:t>11</a:t>
            </a:r>
            <a:r>
              <a:rPr lang="vi-VN" dirty="0"/>
              <a:t>. Lấy mẫu một bộ thử nghiệm, đặt nó sang một bên và không bao giờ nhìn vào nó (không có dữ liệu rình mò!).</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54501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Bước</a:t>
            </a:r>
            <a:r>
              <a:rPr lang="en-US" dirty="0"/>
              <a:t> 3:</a:t>
            </a:r>
            <a:br>
              <a:rPr lang="en-US" dirty="0"/>
            </a:br>
            <a:r>
              <a:rPr lang="en-US" dirty="0" err="1"/>
              <a:t>Khám</a:t>
            </a:r>
            <a:r>
              <a:rPr lang="en-US" dirty="0"/>
              <a:t> </a:t>
            </a:r>
            <a:r>
              <a:rPr lang="en-US" dirty="0" err="1"/>
              <a:t>phá</a:t>
            </a:r>
            <a:r>
              <a:rPr lang="en-US" dirty="0"/>
              <a:t> </a:t>
            </a:r>
            <a:r>
              <a:rPr lang="en-US" dirty="0" err="1"/>
              <a:t>dữ</a:t>
            </a:r>
            <a:r>
              <a:rPr lang="en-US" dirty="0"/>
              <a:t> </a:t>
            </a:r>
            <a:r>
              <a:rPr lang="en-US" dirty="0" err="1"/>
              <a:t>liệu</a:t>
            </a:r>
            <a:endParaRPr lang="en-US" dirty="0"/>
          </a:p>
        </p:txBody>
      </p:sp>
      <p:sp>
        <p:nvSpPr>
          <p:cNvPr id="3" name="Content Placeholder 2"/>
          <p:cNvSpPr>
            <a:spLocks noGrp="1"/>
          </p:cNvSpPr>
          <p:nvPr>
            <p:ph idx="1"/>
          </p:nvPr>
        </p:nvSpPr>
        <p:spPr/>
        <p:txBody>
          <a:bodyPr>
            <a:normAutofit fontScale="55000" lnSpcReduction="20000"/>
          </a:bodyPr>
          <a:lstStyle/>
          <a:p>
            <a:pPr marL="0" indent="0">
              <a:buNone/>
            </a:pPr>
            <a:r>
              <a:rPr lang="en-US" dirty="0" smtClean="0">
                <a:latin typeface="Times New Roman" panose="02020603050405020304" pitchFamily="18" charset="0"/>
                <a:cs typeface="Times New Roman" panose="02020603050405020304" pitchFamily="18" charset="0"/>
              </a:rPr>
              <a:t>1. </a:t>
            </a:r>
            <a:r>
              <a:rPr lang="vi-VN" dirty="0" smtClean="0">
                <a:latin typeface="Times New Roman" panose="02020603050405020304" pitchFamily="18" charset="0"/>
                <a:cs typeface="Times New Roman" panose="02020603050405020304" pitchFamily="18" charset="0"/>
              </a:rPr>
              <a:t>Tạo </a:t>
            </a:r>
            <a:r>
              <a:rPr lang="vi-VN" dirty="0">
                <a:latin typeface="Times New Roman" panose="02020603050405020304" pitchFamily="18" charset="0"/>
                <a:cs typeface="Times New Roman" panose="02020603050405020304" pitchFamily="18" charset="0"/>
              </a:rPr>
              <a:t>một bản sao của dữ liệu để thăm dò (lấy mẫu xuống kích thước có thể quản lý </a:t>
            </a:r>
            <a:r>
              <a:rPr lang="vi-VN" dirty="0" smtClean="0">
                <a:latin typeface="Times New Roman" panose="02020603050405020304" pitchFamily="18" charset="0"/>
                <a:cs typeface="Times New Roman" panose="02020603050405020304" pitchFamily="18" charset="0"/>
              </a:rPr>
              <a:t>được</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n</a:t>
            </a:r>
            <a:r>
              <a:rPr lang="vi-VN" dirty="0" smtClean="0">
                <a:latin typeface="Times New Roman" panose="02020603050405020304" pitchFamily="18" charset="0"/>
                <a:cs typeface="Times New Roman" panose="02020603050405020304" pitchFamily="18" charset="0"/>
              </a:rPr>
              <a:t>ếu </a:t>
            </a:r>
            <a:r>
              <a:rPr lang="vi-VN" dirty="0">
                <a:latin typeface="Times New Roman" panose="02020603050405020304" pitchFamily="18" charset="0"/>
                <a:cs typeface="Times New Roman" panose="02020603050405020304" pitchFamily="18" charset="0"/>
              </a:rPr>
              <a:t>cần</a:t>
            </a:r>
            <a:r>
              <a:rPr lang="vi-VN"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marL="0" indent="0">
              <a:buNone/>
            </a:pPr>
            <a:r>
              <a:rPr lang="vi-VN" dirty="0" smtClean="0">
                <a:latin typeface="Times New Roman" panose="02020603050405020304" pitchFamily="18" charset="0"/>
                <a:cs typeface="Times New Roman" panose="02020603050405020304" pitchFamily="18" charset="0"/>
              </a:rPr>
              <a:t>2</a:t>
            </a:r>
            <a:r>
              <a:rPr lang="vi-VN" dirty="0">
                <a:latin typeface="Times New Roman" panose="02020603050405020304" pitchFamily="18" charset="0"/>
                <a:cs typeface="Times New Roman" panose="02020603050405020304" pitchFamily="18" charset="0"/>
              </a:rPr>
              <a:t>. Tạo một sổ ghi chép Jupyter để ghi lại quá trình khám phá dữ liệu của bạn</a:t>
            </a:r>
            <a:r>
              <a:rPr lang="vi-VN"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marL="0" indent="0">
              <a:buNone/>
            </a:pPr>
            <a:r>
              <a:rPr lang="vi-VN" dirty="0" smtClean="0">
                <a:latin typeface="Times New Roman" panose="02020603050405020304" pitchFamily="18" charset="0"/>
                <a:cs typeface="Times New Roman" panose="02020603050405020304" pitchFamily="18" charset="0"/>
              </a:rPr>
              <a:t>3</a:t>
            </a:r>
            <a:r>
              <a:rPr lang="vi-VN" dirty="0">
                <a:latin typeface="Times New Roman" panose="02020603050405020304" pitchFamily="18" charset="0"/>
                <a:cs typeface="Times New Roman" panose="02020603050405020304" pitchFamily="18" charset="0"/>
              </a:rPr>
              <a:t>. Nghiên cứu từng thuộc tính và đặc điểm của nó</a:t>
            </a:r>
            <a:r>
              <a:rPr lang="vi-VN"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	-</a:t>
            </a:r>
            <a:r>
              <a:rPr lang="vi-VN" dirty="0" smtClean="0">
                <a:latin typeface="Times New Roman" panose="02020603050405020304" pitchFamily="18" charset="0"/>
                <a:cs typeface="Times New Roman" panose="02020603050405020304" pitchFamily="18" charset="0"/>
              </a:rPr>
              <a:t>Tên</a:t>
            </a:r>
            <a:r>
              <a:rPr lang="en-US" dirty="0" smtClean="0">
                <a:latin typeface="Times New Roman" panose="02020603050405020304" pitchFamily="18" charset="0"/>
                <a:cs typeface="Times New Roman" panose="02020603050405020304" pitchFamily="18" charset="0"/>
              </a:rPr>
              <a:t>,</a:t>
            </a:r>
            <a:r>
              <a:rPr lang="vi-VN" dirty="0" smtClean="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Kiểu (phân loại, int / float, có giới hạn / không giới hạn, văn bản, có cấu </a:t>
            </a:r>
            <a:r>
              <a:rPr lang="vi-VN" dirty="0" smtClean="0">
                <a:latin typeface="Times New Roman" panose="02020603050405020304" pitchFamily="18" charset="0"/>
                <a:cs typeface="Times New Roman" panose="02020603050405020304" pitchFamily="18" charset="0"/>
              </a:rPr>
              <a:t>trúc)</a:t>
            </a: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	- </a:t>
            </a:r>
            <a:r>
              <a:rPr lang="en-US" dirty="0" err="1" smtClean="0">
                <a:latin typeface="Times New Roman" panose="02020603050405020304" pitchFamily="18" charset="0"/>
                <a:cs typeface="Times New Roman" panose="02020603050405020304" pitchFamily="18" charset="0"/>
              </a:rPr>
              <a:t>Phần</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trăm</a:t>
            </a:r>
            <a:r>
              <a:rPr lang="vi-VN" dirty="0" smtClean="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giá trị bị </a:t>
            </a:r>
            <a:r>
              <a:rPr lang="vi-VN" dirty="0" smtClean="0">
                <a:latin typeface="Times New Roman" panose="02020603050405020304" pitchFamily="18" charset="0"/>
                <a:cs typeface="Times New Roman" panose="02020603050405020304" pitchFamily="18" charset="0"/>
              </a:rPr>
              <a:t>thiếu</a:t>
            </a:r>
            <a:endParaRPr lang="en-US" dirty="0" smtClean="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vi-VN" dirty="0" smtClean="0">
                <a:latin typeface="Times New Roman" panose="02020603050405020304" pitchFamily="18" charset="0"/>
                <a:cs typeface="Times New Roman" panose="02020603050405020304" pitchFamily="18" charset="0"/>
              </a:rPr>
              <a:t>Độ </a:t>
            </a:r>
            <a:r>
              <a:rPr lang="vi-VN" dirty="0">
                <a:latin typeface="Times New Roman" panose="02020603050405020304" pitchFamily="18" charset="0"/>
                <a:cs typeface="Times New Roman" panose="02020603050405020304" pitchFamily="18" charset="0"/>
              </a:rPr>
              <a:t>ồn và loại nhiễu (ngẫu nhiên, ngoại lệ, lỗi làm tròn, v.v</a:t>
            </a:r>
            <a:r>
              <a:rPr lang="vi-VN"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a:t>
            </a:r>
            <a:r>
              <a:rPr lang="vi-VN" dirty="0" smtClean="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Tính hữu ích cho công </a:t>
            </a:r>
            <a:r>
              <a:rPr lang="vi-VN" dirty="0" smtClean="0">
                <a:latin typeface="Times New Roman" panose="02020603050405020304" pitchFamily="18" charset="0"/>
                <a:cs typeface="Times New Roman" panose="02020603050405020304" pitchFamily="18" charset="0"/>
              </a:rPr>
              <a:t>việc</a:t>
            </a:r>
            <a:endParaRPr lang="en-US" dirty="0" smtClean="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a:t>
            </a:r>
            <a:r>
              <a:rPr lang="vi-VN" dirty="0" smtClean="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Loại phân phối (Gaussian, đồng nhất, logarit, v.v</a:t>
            </a:r>
            <a:r>
              <a:rPr lang="vi-VN"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marL="0" indent="0">
              <a:buNone/>
            </a:pPr>
            <a:r>
              <a:rPr lang="vi-VN" dirty="0" smtClean="0">
                <a:latin typeface="Times New Roman" panose="02020603050405020304" pitchFamily="18" charset="0"/>
                <a:cs typeface="Times New Roman" panose="02020603050405020304" pitchFamily="18" charset="0"/>
              </a:rPr>
              <a:t>4</a:t>
            </a:r>
            <a:r>
              <a:rPr lang="vi-VN" dirty="0">
                <a:latin typeface="Times New Roman" panose="02020603050405020304" pitchFamily="18" charset="0"/>
                <a:cs typeface="Times New Roman" panose="02020603050405020304" pitchFamily="18" charset="0"/>
              </a:rPr>
              <a:t>. Đối với các nhiệm vụ học tập có giám sát, hãy xác định (các) thuộc tính mục tiêu</a:t>
            </a:r>
            <a:r>
              <a:rPr lang="vi-VN"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marL="0" indent="0">
              <a:buNone/>
            </a:pPr>
            <a:r>
              <a:rPr lang="vi-VN" dirty="0" smtClean="0">
                <a:latin typeface="Times New Roman" panose="02020603050405020304" pitchFamily="18" charset="0"/>
                <a:cs typeface="Times New Roman" panose="02020603050405020304" pitchFamily="18" charset="0"/>
              </a:rPr>
              <a:t>5</a:t>
            </a:r>
            <a:r>
              <a:rPr lang="vi-VN" dirty="0">
                <a:latin typeface="Times New Roman" panose="02020603050405020304" pitchFamily="18" charset="0"/>
                <a:cs typeface="Times New Roman" panose="02020603050405020304" pitchFamily="18" charset="0"/>
              </a:rPr>
              <a:t>. Trực quan hóa dữ liệu</a:t>
            </a:r>
            <a:r>
              <a:rPr lang="vi-VN"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marL="0" indent="0">
              <a:buNone/>
            </a:pPr>
            <a:r>
              <a:rPr lang="vi-VN" dirty="0" smtClean="0">
                <a:latin typeface="Times New Roman" panose="02020603050405020304" pitchFamily="18" charset="0"/>
                <a:cs typeface="Times New Roman" panose="02020603050405020304" pitchFamily="18" charset="0"/>
              </a:rPr>
              <a:t>6</a:t>
            </a:r>
            <a:r>
              <a:rPr lang="vi-VN" dirty="0">
                <a:latin typeface="Times New Roman" panose="02020603050405020304" pitchFamily="18" charset="0"/>
                <a:cs typeface="Times New Roman" panose="02020603050405020304" pitchFamily="18" charset="0"/>
              </a:rPr>
              <a:t>. Nghiên cứu mối tương quan giữa các thuộc tính</a:t>
            </a:r>
            <a:r>
              <a:rPr lang="vi-VN"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marL="0" indent="0">
              <a:buNone/>
            </a:pPr>
            <a:r>
              <a:rPr lang="vi-VN" dirty="0" smtClean="0">
                <a:latin typeface="Times New Roman" panose="02020603050405020304" pitchFamily="18" charset="0"/>
                <a:cs typeface="Times New Roman" panose="02020603050405020304" pitchFamily="18" charset="0"/>
              </a:rPr>
              <a:t>7</a:t>
            </a:r>
            <a:r>
              <a:rPr lang="vi-VN" dirty="0">
                <a:latin typeface="Times New Roman" panose="02020603050405020304" pitchFamily="18" charset="0"/>
                <a:cs typeface="Times New Roman" panose="02020603050405020304" pitchFamily="18" charset="0"/>
              </a:rPr>
              <a:t>. Nghiên cứu cách bạn sẽ giải quyết vấn đề theo cách thủ công</a:t>
            </a:r>
            <a:r>
              <a:rPr lang="vi-VN"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marL="0" indent="0">
              <a:buNone/>
            </a:pPr>
            <a:r>
              <a:rPr lang="vi-VN" dirty="0" smtClean="0">
                <a:latin typeface="Times New Roman" panose="02020603050405020304" pitchFamily="18" charset="0"/>
                <a:cs typeface="Times New Roman" panose="02020603050405020304" pitchFamily="18" charset="0"/>
              </a:rPr>
              <a:t>8</a:t>
            </a:r>
            <a:r>
              <a:rPr lang="vi-VN" dirty="0">
                <a:latin typeface="Times New Roman" panose="02020603050405020304" pitchFamily="18" charset="0"/>
                <a:cs typeface="Times New Roman" panose="02020603050405020304" pitchFamily="18" charset="0"/>
              </a:rPr>
              <a:t>. Xác định các phép biến đổi đầy hứa hẹn mà bạn có thể muốn áp dụng</a:t>
            </a:r>
            <a:r>
              <a:rPr lang="vi-VN"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marL="0" indent="0">
              <a:buNone/>
            </a:pPr>
            <a:r>
              <a:rPr lang="vi-VN" dirty="0" smtClean="0">
                <a:latin typeface="Times New Roman" panose="02020603050405020304" pitchFamily="18" charset="0"/>
                <a:cs typeface="Times New Roman" panose="02020603050405020304" pitchFamily="18" charset="0"/>
              </a:rPr>
              <a:t>9</a:t>
            </a:r>
            <a:r>
              <a:rPr lang="vi-VN" dirty="0">
                <a:latin typeface="Times New Roman" panose="02020603050405020304" pitchFamily="18" charset="0"/>
                <a:cs typeface="Times New Roman" panose="02020603050405020304" pitchFamily="18" charset="0"/>
              </a:rPr>
              <a:t>. Xác định dữ liệu bổ sung sẽ hữu </a:t>
            </a:r>
            <a:r>
              <a:rPr lang="vi-VN" dirty="0" smtClean="0">
                <a:latin typeface="Times New Roman" panose="02020603050405020304" pitchFamily="18" charset="0"/>
                <a:cs typeface="Times New Roman" panose="02020603050405020304" pitchFamily="18" charset="0"/>
              </a:rPr>
              <a:t>ích</a:t>
            </a:r>
            <a:r>
              <a:rPr lang="en-US" dirty="0" smtClean="0">
                <a:latin typeface="Times New Roman" panose="02020603050405020304" pitchFamily="18" charset="0"/>
                <a:cs typeface="Times New Roman" panose="02020603050405020304" pitchFamily="18" charset="0"/>
              </a:rPr>
              <a:t>.</a:t>
            </a:r>
          </a:p>
          <a:p>
            <a:pPr marL="0" indent="0">
              <a:buNone/>
            </a:pPr>
            <a:r>
              <a:rPr lang="vi-VN" dirty="0" smtClean="0">
                <a:latin typeface="Times New Roman" panose="02020603050405020304" pitchFamily="18" charset="0"/>
                <a:cs typeface="Times New Roman" panose="02020603050405020304" pitchFamily="18" charset="0"/>
              </a:rPr>
              <a:t>10</a:t>
            </a:r>
            <a:r>
              <a:rPr lang="vi-VN" dirty="0">
                <a:latin typeface="Times New Roman" panose="02020603050405020304" pitchFamily="18" charset="0"/>
                <a:cs typeface="Times New Roman" panose="02020603050405020304" pitchFamily="18" charset="0"/>
              </a:rPr>
              <a:t>. Ghi lại những gì bạn đã học được.</a:t>
            </a:r>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38842094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Bước</a:t>
            </a:r>
            <a:r>
              <a:rPr lang="en-US" dirty="0" smtClean="0"/>
              <a:t> 4</a:t>
            </a:r>
            <a:br>
              <a:rPr lang="en-US" dirty="0" smtClean="0"/>
            </a:br>
            <a:r>
              <a:rPr lang="en-US" dirty="0" err="1" smtClean="0"/>
              <a:t>Xử</a:t>
            </a:r>
            <a:r>
              <a:rPr lang="en-US" dirty="0" smtClean="0"/>
              <a:t> </a:t>
            </a:r>
            <a:r>
              <a:rPr lang="en-US" dirty="0" err="1" smtClean="0"/>
              <a:t>lý</a:t>
            </a:r>
            <a:r>
              <a:rPr lang="en-US" dirty="0" smtClean="0"/>
              <a:t> </a:t>
            </a:r>
            <a:r>
              <a:rPr lang="en-US" dirty="0" err="1" smtClean="0"/>
              <a:t>dữ</a:t>
            </a:r>
            <a:r>
              <a:rPr lang="en-US" dirty="0" smtClean="0"/>
              <a:t> </a:t>
            </a:r>
            <a:r>
              <a:rPr lang="en-US" dirty="0" err="1" smtClean="0"/>
              <a:t>liệu</a:t>
            </a:r>
            <a:endParaRPr lang="en-US" dirty="0"/>
          </a:p>
        </p:txBody>
      </p:sp>
      <p:sp>
        <p:nvSpPr>
          <p:cNvPr id="3" name="Content Placeholder 2"/>
          <p:cNvSpPr>
            <a:spLocks noGrp="1"/>
          </p:cNvSpPr>
          <p:nvPr>
            <p:ph idx="1"/>
          </p:nvPr>
        </p:nvSpPr>
        <p:spPr/>
        <p:txBody>
          <a:bodyPr>
            <a:normAutofit fontScale="70000" lnSpcReduction="20000"/>
          </a:bodyPr>
          <a:lstStyle/>
          <a:p>
            <a:pPr marL="0" indent="0">
              <a:buNone/>
            </a:pPr>
            <a:r>
              <a:rPr lang="vi-VN" dirty="0"/>
              <a:t>1. Làm sạch dữ liệu</a:t>
            </a:r>
            <a:r>
              <a:rPr lang="vi-VN" dirty="0" smtClean="0"/>
              <a:t>:</a:t>
            </a:r>
            <a:endParaRPr lang="en-US" dirty="0" smtClean="0"/>
          </a:p>
          <a:p>
            <a:pPr lvl="1"/>
            <a:r>
              <a:rPr lang="vi-VN" dirty="0" smtClean="0"/>
              <a:t>Sửa </a:t>
            </a:r>
            <a:r>
              <a:rPr lang="vi-VN" dirty="0"/>
              <a:t>chữa hoặc loại bỏ các ngoại lệ (tùy chọn</a:t>
            </a:r>
            <a:r>
              <a:rPr lang="vi-VN" dirty="0" smtClean="0"/>
              <a:t>).</a:t>
            </a:r>
            <a:endParaRPr lang="en-US" dirty="0" smtClean="0"/>
          </a:p>
          <a:p>
            <a:pPr lvl="1"/>
            <a:r>
              <a:rPr lang="vi-VN" dirty="0" smtClean="0"/>
              <a:t>Điền </a:t>
            </a:r>
            <a:r>
              <a:rPr lang="vi-VN" dirty="0"/>
              <a:t>vào các giá trị còn thiếu (ví dụ: bằng 0, giá trị trung bình, giá trị trung bình…) hoặc bỏ hàng của chúng (</a:t>
            </a:r>
            <a:r>
              <a:rPr lang="vi-VN" dirty="0" smtClean="0"/>
              <a:t>hoặc</a:t>
            </a:r>
            <a:r>
              <a:rPr lang="en-US" dirty="0" smtClean="0"/>
              <a:t> </a:t>
            </a:r>
            <a:r>
              <a:rPr lang="vi-VN" dirty="0" smtClean="0"/>
              <a:t>cột).</a:t>
            </a:r>
            <a:endParaRPr lang="en-US" dirty="0" smtClean="0"/>
          </a:p>
          <a:p>
            <a:pPr marL="0" indent="0">
              <a:buNone/>
            </a:pPr>
            <a:r>
              <a:rPr lang="vi-VN" dirty="0" smtClean="0"/>
              <a:t>2</a:t>
            </a:r>
            <a:r>
              <a:rPr lang="vi-VN" dirty="0"/>
              <a:t>. Lựa chọn tính năng (tùy chọn</a:t>
            </a:r>
            <a:r>
              <a:rPr lang="vi-VN" dirty="0" smtClean="0"/>
              <a:t>):</a:t>
            </a:r>
            <a:endParaRPr lang="en-US" dirty="0" smtClean="0"/>
          </a:p>
          <a:p>
            <a:pPr lvl="1"/>
            <a:r>
              <a:rPr lang="vi-VN" dirty="0" smtClean="0"/>
              <a:t>Bỏ </a:t>
            </a:r>
            <a:r>
              <a:rPr lang="vi-VN" dirty="0"/>
              <a:t>các thuộc tính không cung cấp thông tin hữu ích cho nhiệm vụ</a:t>
            </a:r>
            <a:r>
              <a:rPr lang="vi-VN" dirty="0" smtClean="0"/>
              <a:t>.</a:t>
            </a:r>
            <a:endParaRPr lang="en-US" dirty="0" smtClean="0"/>
          </a:p>
          <a:p>
            <a:pPr marL="0" indent="0">
              <a:buNone/>
            </a:pPr>
            <a:r>
              <a:rPr lang="vi-VN" dirty="0" smtClean="0"/>
              <a:t>3</a:t>
            </a:r>
            <a:r>
              <a:rPr lang="vi-VN" dirty="0"/>
              <a:t>. Kỹ thuật tính năng, nếu thích hợp</a:t>
            </a:r>
            <a:r>
              <a:rPr lang="vi-VN" dirty="0" smtClean="0"/>
              <a:t>:</a:t>
            </a:r>
            <a:endParaRPr lang="en-US" dirty="0" smtClean="0"/>
          </a:p>
          <a:p>
            <a:pPr lvl="1"/>
            <a:r>
              <a:rPr lang="vi-VN" dirty="0" smtClean="0"/>
              <a:t>Rời </a:t>
            </a:r>
            <a:r>
              <a:rPr lang="vi-VN" dirty="0"/>
              <a:t>khỏi các tính năng liên tục</a:t>
            </a:r>
            <a:r>
              <a:rPr lang="vi-VN" dirty="0" smtClean="0"/>
              <a:t>.</a:t>
            </a:r>
            <a:endParaRPr lang="en-US" dirty="0" smtClean="0"/>
          </a:p>
          <a:p>
            <a:pPr lvl="1"/>
            <a:r>
              <a:rPr lang="vi-VN" dirty="0" smtClean="0"/>
              <a:t>Phân </a:t>
            </a:r>
            <a:r>
              <a:rPr lang="vi-VN" dirty="0"/>
              <a:t>tách các đối tượng địa lý (ví dụ: phân loại, ngày / giờ, v.v</a:t>
            </a:r>
            <a:r>
              <a:rPr lang="vi-VN" dirty="0" smtClean="0"/>
              <a:t>.).</a:t>
            </a:r>
            <a:endParaRPr lang="en-US" dirty="0" smtClean="0"/>
          </a:p>
          <a:p>
            <a:pPr lvl="1"/>
            <a:r>
              <a:rPr lang="vi-VN" dirty="0" smtClean="0"/>
              <a:t>Thêm </a:t>
            </a:r>
            <a:r>
              <a:rPr lang="vi-VN" dirty="0"/>
              <a:t>các phép biến đổi đầy hứa hẹn của các tính năng (ví dụ: log (x), sqrt (x), x2, v.v</a:t>
            </a:r>
            <a:r>
              <a:rPr lang="vi-VN" dirty="0" smtClean="0"/>
              <a:t>.).</a:t>
            </a:r>
            <a:endParaRPr lang="en-US" dirty="0" smtClean="0"/>
          </a:p>
          <a:p>
            <a:pPr lvl="1"/>
            <a:r>
              <a:rPr lang="vi-VN" dirty="0" smtClean="0"/>
              <a:t>Tổng </a:t>
            </a:r>
            <a:r>
              <a:rPr lang="vi-VN" dirty="0"/>
              <a:t>hợp các tính năng thành các tính năng mới đầy hứa hẹn</a:t>
            </a:r>
            <a:r>
              <a:rPr lang="vi-VN" dirty="0" smtClean="0"/>
              <a:t>.</a:t>
            </a:r>
            <a:endParaRPr lang="en-US" dirty="0" smtClean="0"/>
          </a:p>
          <a:p>
            <a:pPr marL="0" indent="0">
              <a:buNone/>
            </a:pPr>
            <a:r>
              <a:rPr lang="vi-VN" dirty="0" smtClean="0"/>
              <a:t>4</a:t>
            </a:r>
            <a:r>
              <a:rPr lang="vi-VN" dirty="0"/>
              <a:t>. Tính năng mở rộng quy mô</a:t>
            </a:r>
            <a:r>
              <a:rPr lang="vi-VN" dirty="0" smtClean="0"/>
              <a:t>:</a:t>
            </a:r>
            <a:endParaRPr lang="en-US" dirty="0" smtClean="0"/>
          </a:p>
          <a:p>
            <a:pPr lvl="1"/>
            <a:r>
              <a:rPr lang="vi-VN" dirty="0" smtClean="0"/>
              <a:t>Chuẩn </a:t>
            </a:r>
            <a:r>
              <a:rPr lang="vi-VN" dirty="0"/>
              <a:t>hóa hoặc bình thường hóa các tính năng.</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477047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Bước</a:t>
            </a:r>
            <a:r>
              <a:rPr lang="en-US" dirty="0"/>
              <a:t> 5</a:t>
            </a:r>
            <a:br>
              <a:rPr lang="en-US" dirty="0"/>
            </a:br>
            <a:r>
              <a:rPr lang="en-US" dirty="0" err="1"/>
              <a:t>Mô</a:t>
            </a:r>
            <a:r>
              <a:rPr lang="en-US" dirty="0"/>
              <a:t> </a:t>
            </a:r>
            <a:r>
              <a:rPr lang="en-US" dirty="0" err="1" smtClean="0"/>
              <a:t>hình</a:t>
            </a:r>
            <a:r>
              <a:rPr lang="en-US" dirty="0" smtClean="0"/>
              <a:t> </a:t>
            </a:r>
            <a:r>
              <a:rPr lang="en-US" dirty="0" err="1" smtClean="0"/>
              <a:t>hứa</a:t>
            </a:r>
            <a:r>
              <a:rPr lang="en-US" dirty="0" smtClean="0"/>
              <a:t> </a:t>
            </a:r>
            <a:r>
              <a:rPr lang="en-US" dirty="0" err="1"/>
              <a:t>hẹn</a:t>
            </a:r>
            <a:endParaRPr lang="en-US" dirty="0"/>
          </a:p>
        </p:txBody>
      </p:sp>
      <p:sp>
        <p:nvSpPr>
          <p:cNvPr id="3" name="Content Placeholder 2"/>
          <p:cNvSpPr>
            <a:spLocks noGrp="1"/>
          </p:cNvSpPr>
          <p:nvPr>
            <p:ph idx="1"/>
          </p:nvPr>
        </p:nvSpPr>
        <p:spPr/>
        <p:txBody>
          <a:bodyPr>
            <a:normAutofit fontScale="70000" lnSpcReduction="20000"/>
          </a:bodyPr>
          <a:lstStyle/>
          <a:p>
            <a:pPr marL="0" indent="0">
              <a:buNone/>
            </a:pPr>
            <a:r>
              <a:rPr lang="vi-VN" dirty="0"/>
              <a:t>1. Đào tạo nhiều mô hình nhanh và bẩn từ các danh mục khác nhau (ví dụ: </a:t>
            </a:r>
            <a:endParaRPr lang="en-US" dirty="0" smtClean="0"/>
          </a:p>
          <a:p>
            <a:pPr lvl="1"/>
            <a:r>
              <a:rPr lang="vi-VN" dirty="0" smtClean="0"/>
              <a:t>tuyến </a:t>
            </a:r>
            <a:r>
              <a:rPr lang="vi-VN" dirty="0"/>
              <a:t>tính, ngây </a:t>
            </a:r>
            <a:r>
              <a:rPr lang="vi-VN" dirty="0" smtClean="0"/>
              <a:t>thơ</a:t>
            </a:r>
            <a:r>
              <a:rPr lang="en-US" dirty="0" smtClean="0"/>
              <a:t> </a:t>
            </a:r>
            <a:r>
              <a:rPr lang="vi-VN" dirty="0" smtClean="0"/>
              <a:t>Bayes</a:t>
            </a:r>
            <a:r>
              <a:rPr lang="vi-VN" dirty="0"/>
              <a:t>, SVM, Rừng ngẫu nhiên, mạng thần kinh, v.v.) sử dụng các tham số tiêu chuẩn</a:t>
            </a:r>
            <a:r>
              <a:rPr lang="vi-VN" dirty="0" smtClean="0"/>
              <a:t>.</a:t>
            </a:r>
            <a:endParaRPr lang="en-US" dirty="0" smtClean="0"/>
          </a:p>
          <a:p>
            <a:pPr marL="0" indent="0">
              <a:buNone/>
            </a:pPr>
            <a:r>
              <a:rPr lang="vi-VN" dirty="0" smtClean="0"/>
              <a:t>2</a:t>
            </a:r>
            <a:r>
              <a:rPr lang="vi-VN" dirty="0"/>
              <a:t>. Đo lường và so sánh hiệu suất của chúng</a:t>
            </a:r>
            <a:r>
              <a:rPr lang="vi-VN" dirty="0" smtClean="0"/>
              <a:t>.</a:t>
            </a:r>
            <a:endParaRPr lang="en-US" dirty="0" smtClean="0"/>
          </a:p>
          <a:p>
            <a:pPr lvl="1"/>
            <a:r>
              <a:rPr lang="vi-VN" dirty="0" smtClean="0"/>
              <a:t>Đối </a:t>
            </a:r>
            <a:r>
              <a:rPr lang="vi-VN" dirty="0"/>
              <a:t>với mỗi mô hình, sử dụng xác nhận chéo N-lần và tính giá trị trung bình và stan‐độ lệch dard của phép đo hiệu suất trên N nếp gấp</a:t>
            </a:r>
            <a:r>
              <a:rPr lang="vi-VN" dirty="0" smtClean="0"/>
              <a:t>.</a:t>
            </a:r>
            <a:endParaRPr lang="en-US" dirty="0" smtClean="0"/>
          </a:p>
          <a:p>
            <a:pPr marL="0" indent="0">
              <a:buNone/>
            </a:pPr>
            <a:r>
              <a:rPr lang="vi-VN" dirty="0" smtClean="0"/>
              <a:t>3</a:t>
            </a:r>
            <a:r>
              <a:rPr lang="vi-VN" dirty="0"/>
              <a:t>. Phân tích các biến quan trọng nhất cho mỗi thuật toán</a:t>
            </a:r>
            <a:r>
              <a:rPr lang="vi-VN" dirty="0" smtClean="0"/>
              <a:t>.</a:t>
            </a:r>
            <a:endParaRPr lang="en-US" dirty="0" smtClean="0"/>
          </a:p>
          <a:p>
            <a:pPr marL="0" indent="0">
              <a:buNone/>
            </a:pPr>
            <a:r>
              <a:rPr lang="vi-VN" dirty="0" smtClean="0"/>
              <a:t>4</a:t>
            </a:r>
            <a:r>
              <a:rPr lang="vi-VN" dirty="0"/>
              <a:t>. Phân tích các loại lỗi mà các mô hình mắc phải</a:t>
            </a:r>
            <a:r>
              <a:rPr lang="vi-VN" dirty="0" smtClean="0"/>
              <a:t>.</a:t>
            </a:r>
            <a:endParaRPr lang="en-US" dirty="0" smtClean="0"/>
          </a:p>
          <a:p>
            <a:pPr lvl="1"/>
            <a:r>
              <a:rPr lang="vi-VN" dirty="0" smtClean="0"/>
              <a:t>Con </a:t>
            </a:r>
            <a:r>
              <a:rPr lang="vi-VN" dirty="0"/>
              <a:t>người sẽ sử dụng dữ liệu nào để tránh những lỗi này</a:t>
            </a:r>
            <a:r>
              <a:rPr lang="vi-VN" dirty="0" smtClean="0"/>
              <a:t>?</a:t>
            </a:r>
            <a:endParaRPr lang="en-US" dirty="0" smtClean="0"/>
          </a:p>
          <a:p>
            <a:pPr marL="0" indent="0">
              <a:buNone/>
            </a:pPr>
            <a:r>
              <a:rPr lang="vi-VN" dirty="0" smtClean="0"/>
              <a:t>5</a:t>
            </a:r>
            <a:r>
              <a:rPr lang="vi-VN" dirty="0"/>
              <a:t>. Thực hiện một vòng lựa chọn tính năng và kỹ thuật nhanh chóng</a:t>
            </a:r>
            <a:r>
              <a:rPr lang="vi-VN" dirty="0" smtClean="0"/>
              <a:t>.</a:t>
            </a:r>
            <a:endParaRPr lang="en-US" dirty="0" smtClean="0"/>
          </a:p>
          <a:p>
            <a:pPr marL="0" indent="0">
              <a:buNone/>
            </a:pPr>
            <a:r>
              <a:rPr lang="vi-VN" dirty="0" smtClean="0"/>
              <a:t>6</a:t>
            </a:r>
            <a:r>
              <a:rPr lang="vi-VN" dirty="0"/>
              <a:t>. Thực hiện thêm một hoặc hai lần lặp nhanh của năm bước trước đó</a:t>
            </a:r>
            <a:r>
              <a:rPr lang="vi-VN" dirty="0" smtClean="0"/>
              <a:t>.</a:t>
            </a:r>
            <a:endParaRPr lang="en-US" dirty="0" smtClean="0"/>
          </a:p>
          <a:p>
            <a:pPr marL="0" indent="0">
              <a:buNone/>
            </a:pPr>
            <a:r>
              <a:rPr lang="vi-VN" dirty="0" smtClean="0"/>
              <a:t>7</a:t>
            </a:r>
            <a:r>
              <a:rPr lang="vi-VN" dirty="0"/>
              <a:t>. Danh sách rút gọn từ ba đến năm mô hình triển vọng nhất, ưu tiên những mô </a:t>
            </a:r>
            <a:r>
              <a:rPr lang="vi-VN" dirty="0" smtClean="0"/>
              <a:t>hình</a:t>
            </a:r>
            <a:r>
              <a:rPr lang="en-US" dirty="0" smtClean="0"/>
              <a:t> </a:t>
            </a:r>
            <a:r>
              <a:rPr lang="vi-VN" dirty="0" smtClean="0"/>
              <a:t>mắc </a:t>
            </a:r>
            <a:r>
              <a:rPr lang="vi-VN" dirty="0"/>
              <a:t>các loại lỗi khác nhau.</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Tree>
    <p:extLst>
      <p:ext uri="{BB962C8B-B14F-4D97-AF65-F5344CB8AC3E}">
        <p14:creationId xmlns:p14="http://schemas.microsoft.com/office/powerpoint/2010/main" val="2456368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Bước</a:t>
            </a:r>
            <a:r>
              <a:rPr lang="en-US" dirty="0"/>
              <a:t> 6</a:t>
            </a:r>
            <a:br>
              <a:rPr lang="en-US" dirty="0"/>
            </a:br>
            <a:r>
              <a:rPr lang="en-US" dirty="0" err="1"/>
              <a:t>Tinh</a:t>
            </a:r>
            <a:r>
              <a:rPr lang="en-US" dirty="0"/>
              <a:t> </a:t>
            </a:r>
            <a:r>
              <a:rPr lang="en-US" dirty="0" err="1"/>
              <a:t>chỉnh</a:t>
            </a:r>
            <a:r>
              <a:rPr lang="en-US" dirty="0"/>
              <a:t> </a:t>
            </a:r>
            <a:r>
              <a:rPr lang="en-US" dirty="0" err="1"/>
              <a:t>hệ</a:t>
            </a:r>
            <a:r>
              <a:rPr lang="en-US" dirty="0"/>
              <a:t> </a:t>
            </a:r>
            <a:r>
              <a:rPr lang="en-US" dirty="0" err="1"/>
              <a:t>thống</a:t>
            </a:r>
            <a:endParaRPr lang="en-US" dirty="0"/>
          </a:p>
        </p:txBody>
      </p:sp>
      <p:sp>
        <p:nvSpPr>
          <p:cNvPr id="3" name="Content Placeholder 2"/>
          <p:cNvSpPr>
            <a:spLocks noGrp="1"/>
          </p:cNvSpPr>
          <p:nvPr>
            <p:ph idx="1"/>
          </p:nvPr>
        </p:nvSpPr>
        <p:spPr/>
        <p:txBody>
          <a:bodyPr>
            <a:normAutofit fontScale="85000" lnSpcReduction="20000"/>
          </a:bodyPr>
          <a:lstStyle/>
          <a:p>
            <a:pPr marL="0" indent="0">
              <a:buNone/>
            </a:pPr>
            <a:r>
              <a:rPr lang="vi-VN" dirty="0"/>
              <a:t>1. Tinh chỉnh các siêu tham số bằng cách sử dụng xác thực chéo</a:t>
            </a:r>
            <a:r>
              <a:rPr lang="vi-VN" dirty="0" smtClean="0"/>
              <a:t>:</a:t>
            </a:r>
            <a:endParaRPr lang="en-US" dirty="0" smtClean="0"/>
          </a:p>
          <a:p>
            <a:pPr lvl="1"/>
            <a:r>
              <a:rPr lang="vi-VN" dirty="0" smtClean="0"/>
              <a:t>Coi </a:t>
            </a:r>
            <a:r>
              <a:rPr lang="vi-VN" dirty="0"/>
              <a:t>các lựa chọn chuyển đổi dữ liệu của bạn là siêu tham số, đặc biệt là khibạn không chắc chắn về chúng (ví dụ: nếu bạn không chắc chắn có nên thay thếgiá trị bằng số không hoặc với giá trị trung bình, hoặc chỉ giảm các hàng</a:t>
            </a:r>
            <a:r>
              <a:rPr lang="vi-VN" dirty="0" smtClean="0"/>
              <a:t>).</a:t>
            </a:r>
            <a:endParaRPr lang="en-US" dirty="0" smtClean="0"/>
          </a:p>
          <a:p>
            <a:pPr lvl="1"/>
            <a:r>
              <a:rPr lang="vi-VN" dirty="0" smtClean="0"/>
              <a:t>Trừ </a:t>
            </a:r>
            <a:r>
              <a:rPr lang="vi-VN" dirty="0"/>
              <a:t>khi có rất ít giá trị siêu tham số để khám phá, hãy thích ngẫu nhiên hơntìm kiếm trên tìm kiếm lưới. Nếu quá trình đào tạo kéo dài, bạn có thể thích một người Bayescách tiếp cận tối ưu </a:t>
            </a:r>
            <a:r>
              <a:rPr lang="vi-VN" dirty="0" smtClean="0"/>
              <a:t>hóa. </a:t>
            </a:r>
            <a:endParaRPr lang="en-US" dirty="0" smtClean="0"/>
          </a:p>
          <a:p>
            <a:pPr marL="0" indent="0">
              <a:buNone/>
            </a:pPr>
            <a:r>
              <a:rPr lang="vi-VN" dirty="0" smtClean="0"/>
              <a:t>2</a:t>
            </a:r>
            <a:r>
              <a:rPr lang="vi-VN" dirty="0"/>
              <a:t>. Hãy thử các phương pháp Ensemble. Kết hợp các mô hình tốt nhất của bạn thường sẽ tạo ra tốt hơnhiệu suất hơn là chạy chúng riêng lẻ</a:t>
            </a:r>
            <a:r>
              <a:rPr lang="vi-VN" dirty="0" smtClean="0"/>
              <a:t>.</a:t>
            </a:r>
            <a:endParaRPr lang="en-US" dirty="0" smtClean="0"/>
          </a:p>
          <a:p>
            <a:pPr marL="0" indent="0">
              <a:buNone/>
            </a:pPr>
            <a:r>
              <a:rPr lang="vi-VN" dirty="0" smtClean="0"/>
              <a:t>3</a:t>
            </a:r>
            <a:r>
              <a:rPr lang="vi-VN" dirty="0"/>
              <a:t>. Khi bạn đã tự tin về mô hình cuối cùng của mình, hãy đo lường hiệu suất của nó trênbộ kiểm tra để ước tính sai số tổng quát hóa.</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2845336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Bước</a:t>
            </a:r>
            <a:r>
              <a:rPr lang="en-US" dirty="0"/>
              <a:t> 7</a:t>
            </a:r>
            <a:br>
              <a:rPr lang="en-US" dirty="0"/>
            </a:br>
            <a:r>
              <a:rPr lang="en-US" dirty="0"/>
              <a:t>Trình </a:t>
            </a:r>
            <a:r>
              <a:rPr lang="en-US" dirty="0" err="1"/>
              <a:t>bày</a:t>
            </a:r>
            <a:r>
              <a:rPr lang="en-US" dirty="0"/>
              <a:t> </a:t>
            </a:r>
            <a:r>
              <a:rPr lang="en-US" dirty="0" err="1"/>
              <a:t>giải</a:t>
            </a:r>
            <a:r>
              <a:rPr lang="en-US" dirty="0"/>
              <a:t> </a:t>
            </a:r>
            <a:r>
              <a:rPr lang="en-US" dirty="0" err="1"/>
              <a:t>pháp</a:t>
            </a:r>
            <a:r>
              <a:rPr lang="en-US" dirty="0"/>
              <a:t> của </a:t>
            </a:r>
            <a:r>
              <a:rPr lang="en-US" dirty="0" err="1"/>
              <a:t>bạn</a:t>
            </a:r>
            <a:endParaRPr lang="en-US" dirty="0"/>
          </a:p>
        </p:txBody>
      </p:sp>
      <p:sp>
        <p:nvSpPr>
          <p:cNvPr id="3" name="Content Placeholder 2"/>
          <p:cNvSpPr>
            <a:spLocks noGrp="1"/>
          </p:cNvSpPr>
          <p:nvPr>
            <p:ph idx="1"/>
          </p:nvPr>
        </p:nvSpPr>
        <p:spPr/>
        <p:txBody>
          <a:bodyPr>
            <a:normAutofit fontScale="85000" lnSpcReduction="20000"/>
          </a:bodyPr>
          <a:lstStyle/>
          <a:p>
            <a:pPr marL="0" indent="0">
              <a:buNone/>
            </a:pPr>
            <a:r>
              <a:rPr lang="vi-VN" dirty="0"/>
              <a:t>1. Ghi lại những gì bạn đã làm</a:t>
            </a:r>
            <a:r>
              <a:rPr lang="vi-VN" dirty="0" smtClean="0"/>
              <a:t>.</a:t>
            </a:r>
            <a:endParaRPr lang="en-US" dirty="0" smtClean="0"/>
          </a:p>
          <a:p>
            <a:pPr marL="0" indent="0">
              <a:buNone/>
            </a:pPr>
            <a:r>
              <a:rPr lang="vi-VN" dirty="0" smtClean="0"/>
              <a:t>2</a:t>
            </a:r>
            <a:r>
              <a:rPr lang="vi-VN" dirty="0"/>
              <a:t>. Tạo một bản trình bày đẹp</a:t>
            </a:r>
            <a:r>
              <a:rPr lang="vi-VN" dirty="0" smtClean="0"/>
              <a:t>.</a:t>
            </a:r>
            <a:endParaRPr lang="en-US" dirty="0" smtClean="0"/>
          </a:p>
          <a:p>
            <a:pPr lvl="1"/>
            <a:r>
              <a:rPr lang="vi-VN" dirty="0" smtClean="0"/>
              <a:t>Hãy </a:t>
            </a:r>
            <a:r>
              <a:rPr lang="vi-VN" dirty="0"/>
              <a:t>chắc chắn rằng bạn đánh dấu bức tranh lớn trước</a:t>
            </a:r>
            <a:r>
              <a:rPr lang="vi-VN" dirty="0" smtClean="0"/>
              <a:t>.</a:t>
            </a:r>
            <a:endParaRPr lang="en-US" dirty="0" smtClean="0"/>
          </a:p>
          <a:p>
            <a:pPr marL="0" indent="0">
              <a:buNone/>
            </a:pPr>
            <a:r>
              <a:rPr lang="vi-VN" dirty="0" smtClean="0"/>
              <a:t>3</a:t>
            </a:r>
            <a:r>
              <a:rPr lang="vi-VN" dirty="0"/>
              <a:t>. Giải thích tại sao giải pháp của bạn đạt được mục tiêu kinh doanh</a:t>
            </a:r>
            <a:r>
              <a:rPr lang="vi-VN" dirty="0" smtClean="0"/>
              <a:t>.</a:t>
            </a:r>
            <a:endParaRPr lang="en-US" dirty="0" smtClean="0"/>
          </a:p>
          <a:p>
            <a:pPr marL="0" indent="0">
              <a:buNone/>
            </a:pPr>
            <a:r>
              <a:rPr lang="vi-VN" dirty="0" smtClean="0"/>
              <a:t>4</a:t>
            </a:r>
            <a:r>
              <a:rPr lang="vi-VN" dirty="0"/>
              <a:t>. Đừng quên trình bày những điểm thú vị mà bạn nhận thấy trên đường đi</a:t>
            </a:r>
            <a:r>
              <a:rPr lang="vi-VN" dirty="0" smtClean="0"/>
              <a:t>.</a:t>
            </a:r>
            <a:endParaRPr lang="en-US" dirty="0" smtClean="0"/>
          </a:p>
          <a:p>
            <a:pPr lvl="1"/>
            <a:r>
              <a:rPr lang="vi-VN" dirty="0" smtClean="0"/>
              <a:t>Mô </a:t>
            </a:r>
            <a:r>
              <a:rPr lang="vi-VN" dirty="0"/>
              <a:t>tả những gì hiệu quả và những gì không</a:t>
            </a:r>
            <a:r>
              <a:rPr lang="vi-VN" dirty="0" smtClean="0"/>
              <a:t>.</a:t>
            </a:r>
            <a:endParaRPr lang="en-US" dirty="0"/>
          </a:p>
          <a:p>
            <a:pPr lvl="1"/>
            <a:r>
              <a:rPr lang="vi-VN" dirty="0" smtClean="0"/>
              <a:t>Liệt </a:t>
            </a:r>
            <a:r>
              <a:rPr lang="vi-VN" dirty="0"/>
              <a:t>kê các giả định của bạn và các hạn chế của hệ thống</a:t>
            </a:r>
            <a:r>
              <a:rPr lang="vi-VN" dirty="0" smtClean="0"/>
              <a:t>.</a:t>
            </a:r>
            <a:endParaRPr lang="en-US" dirty="0" smtClean="0"/>
          </a:p>
          <a:p>
            <a:pPr marL="0" indent="0">
              <a:buNone/>
            </a:pPr>
            <a:r>
              <a:rPr lang="vi-VN" dirty="0" smtClean="0"/>
              <a:t>5</a:t>
            </a:r>
            <a:r>
              <a:rPr lang="vi-VN" dirty="0"/>
              <a:t>. Đảm bảo rằng những phát hiện chính của bạn được truyền đạt thông qua những hình dung đẹp mắt </a:t>
            </a:r>
            <a:r>
              <a:rPr lang="vi-VN" dirty="0" smtClean="0"/>
              <a:t>hoặc</a:t>
            </a:r>
            <a:r>
              <a:rPr lang="en-US" dirty="0" smtClean="0"/>
              <a:t> </a:t>
            </a:r>
            <a:r>
              <a:rPr lang="vi-VN" dirty="0" smtClean="0"/>
              <a:t>tuyên </a:t>
            </a:r>
            <a:r>
              <a:rPr lang="vi-VN" dirty="0"/>
              <a:t>bố dễ </a:t>
            </a:r>
            <a:r>
              <a:rPr lang="vi-VN" dirty="0" smtClean="0"/>
              <a:t>nhớ</a:t>
            </a:r>
            <a:r>
              <a:rPr lang="en-US" dirty="0" smtClean="0"/>
              <a:t>.</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Tree>
    <p:extLst>
      <p:ext uri="{BB962C8B-B14F-4D97-AF65-F5344CB8AC3E}">
        <p14:creationId xmlns:p14="http://schemas.microsoft.com/office/powerpoint/2010/main" val="1527162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Bước</a:t>
            </a:r>
            <a:r>
              <a:rPr lang="en-US" dirty="0" smtClean="0"/>
              <a:t> 8</a:t>
            </a:r>
            <a:br>
              <a:rPr lang="en-US" dirty="0" smtClean="0"/>
            </a:br>
            <a:r>
              <a:rPr lang="en-US" dirty="0" err="1" smtClean="0"/>
              <a:t>Triển</a:t>
            </a:r>
            <a:r>
              <a:rPr lang="en-US" dirty="0" smtClean="0"/>
              <a:t> </a:t>
            </a:r>
            <a:r>
              <a:rPr lang="en-US" dirty="0" err="1" smtClean="0"/>
              <a:t>khai</a:t>
            </a:r>
            <a:r>
              <a:rPr lang="en-US" dirty="0" smtClean="0"/>
              <a:t> </a:t>
            </a:r>
            <a:r>
              <a:rPr lang="en-US" dirty="0" err="1" smtClean="0"/>
              <a:t>hệ</a:t>
            </a:r>
            <a:r>
              <a:rPr lang="en-US" dirty="0" smtClean="0"/>
              <a:t> </a:t>
            </a:r>
            <a:r>
              <a:rPr lang="en-US" dirty="0" err="1" smtClean="0"/>
              <a:t>thống</a:t>
            </a:r>
            <a:endParaRPr lang="en-US" dirty="0"/>
          </a:p>
        </p:txBody>
      </p:sp>
      <p:sp>
        <p:nvSpPr>
          <p:cNvPr id="3" name="Content Placeholder 2"/>
          <p:cNvSpPr>
            <a:spLocks noGrp="1"/>
          </p:cNvSpPr>
          <p:nvPr>
            <p:ph idx="1"/>
          </p:nvPr>
        </p:nvSpPr>
        <p:spPr/>
        <p:txBody>
          <a:bodyPr>
            <a:normAutofit fontScale="85000" lnSpcReduction="20000"/>
          </a:bodyPr>
          <a:lstStyle/>
          <a:p>
            <a:pPr marL="0" indent="0">
              <a:buNone/>
            </a:pPr>
            <a:r>
              <a:rPr lang="vi-VN" dirty="0" smtClean="0"/>
              <a:t>1</a:t>
            </a:r>
            <a:r>
              <a:rPr lang="vi-VN" dirty="0"/>
              <a:t>. Chuẩn bị sẵn sàng giải pháp của bạn cho quá trình sản xuất (cắm vào đầu vào dữ liệu sản xuất, ghikiểm tra đơn vị, v.v</a:t>
            </a:r>
            <a:r>
              <a:rPr lang="vi-VN" dirty="0" smtClean="0"/>
              <a:t>.).</a:t>
            </a:r>
            <a:endParaRPr lang="en-US" dirty="0" smtClean="0"/>
          </a:p>
          <a:p>
            <a:pPr marL="0" indent="0">
              <a:buNone/>
            </a:pPr>
            <a:r>
              <a:rPr lang="vi-VN" dirty="0" smtClean="0"/>
              <a:t>2</a:t>
            </a:r>
            <a:r>
              <a:rPr lang="vi-VN" dirty="0"/>
              <a:t>. Viết mã giám sát để kiểm tra hiệu suất trực tiếp của hệ thống của bạn thường xuyênvals và kích hoạt cảnh báo khi nó giảm xuống</a:t>
            </a:r>
            <a:r>
              <a:rPr lang="vi-VN" dirty="0" smtClean="0"/>
              <a:t>.</a:t>
            </a:r>
            <a:endParaRPr lang="en-US" dirty="0" smtClean="0"/>
          </a:p>
          <a:p>
            <a:pPr lvl="1"/>
            <a:r>
              <a:rPr lang="vi-VN" dirty="0" smtClean="0"/>
              <a:t>Cẩn </a:t>
            </a:r>
            <a:r>
              <a:rPr lang="vi-VN" dirty="0"/>
              <a:t>thận với sự xuống cấp chậm: các mô hình có xu hướng “thối rữa” khi dữ liệu phát triển</a:t>
            </a:r>
            <a:r>
              <a:rPr lang="vi-VN" dirty="0" smtClean="0"/>
              <a:t>.</a:t>
            </a:r>
            <a:endParaRPr lang="en-US" dirty="0" smtClean="0"/>
          </a:p>
          <a:p>
            <a:pPr lvl="1"/>
            <a:r>
              <a:rPr lang="vi-VN" dirty="0" smtClean="0"/>
              <a:t>Việc </a:t>
            </a:r>
            <a:r>
              <a:rPr lang="vi-VN" dirty="0"/>
              <a:t>đo lường hiệu suất có thể yêu cầu một đường ống dẫn người (ví dụ: thông qua </a:t>
            </a:r>
            <a:r>
              <a:rPr lang="vi-VN"/>
              <a:t>một </a:t>
            </a:r>
            <a:r>
              <a:rPr lang="vi-VN" smtClean="0"/>
              <a:t>dịch </a:t>
            </a:r>
            <a:r>
              <a:rPr lang="vi-VN" dirty="0" smtClean="0"/>
              <a:t>vụ).</a:t>
            </a:r>
            <a:endParaRPr lang="en-US" dirty="0" smtClean="0"/>
          </a:p>
          <a:p>
            <a:pPr lvl="1"/>
            <a:r>
              <a:rPr lang="vi-VN" dirty="0" smtClean="0"/>
              <a:t>Đồng </a:t>
            </a:r>
            <a:r>
              <a:rPr lang="vi-VN" dirty="0"/>
              <a:t>thời giám sát chất lượng đầu vào của bạn (ví dụ: cảm biến bị trục trặc khi gửi chạy‐giá trị dom hoặc đầu ra của nhóm khác trở nên cũ). Điều này đặc biệtquan trọng đối với hệ thống học trực tuyến</a:t>
            </a:r>
            <a:r>
              <a:rPr lang="vi-VN" dirty="0" smtClean="0"/>
              <a:t>.</a:t>
            </a:r>
            <a:endParaRPr lang="en-US" dirty="0" smtClean="0"/>
          </a:p>
          <a:p>
            <a:pPr marL="0" indent="0">
              <a:buNone/>
            </a:pPr>
            <a:r>
              <a:rPr lang="vi-VN" dirty="0" smtClean="0"/>
              <a:t>3</a:t>
            </a:r>
            <a:r>
              <a:rPr lang="vi-VN" dirty="0"/>
              <a:t>. Đào tạo lại các mô hình của bạn thường xuyên dựa trên dữ liệu mới (tự động hóa càng nhiềukhả thi).</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Tree>
    <p:extLst>
      <p:ext uri="{BB962C8B-B14F-4D97-AF65-F5344CB8AC3E}">
        <p14:creationId xmlns:p14="http://schemas.microsoft.com/office/powerpoint/2010/main" val="41055104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endParaRPr lang="en-US" dirty="0" smtClean="0"/>
          </a:p>
          <a:p>
            <a:pPr marL="0" indent="0">
              <a:buNone/>
            </a:pPr>
            <a:endParaRPr lang="en-US" dirty="0" smtClean="0"/>
          </a:p>
          <a:p>
            <a:pPr marL="0" indent="0" algn="ctr">
              <a:buNone/>
            </a:pPr>
            <a:r>
              <a:rPr lang="en-US" sz="7200" dirty="0" smtClean="0">
                <a:solidFill>
                  <a:srgbClr val="0000CC"/>
                </a:solidFill>
                <a:latin typeface="Times New Roman" panose="02020603050405020304" pitchFamily="18" charset="0"/>
                <a:cs typeface="Times New Roman" panose="02020603050405020304" pitchFamily="18" charset="0"/>
              </a:rPr>
              <a:t>DỮ LIỆU - DATA</a:t>
            </a:r>
            <a:endParaRPr lang="en-US" sz="7200" dirty="0">
              <a:solidFill>
                <a:srgbClr val="0000CC"/>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Tree>
    <p:extLst>
      <p:ext uri="{BB962C8B-B14F-4D97-AF65-F5344CB8AC3E}">
        <p14:creationId xmlns:p14="http://schemas.microsoft.com/office/powerpoint/2010/main" val="1274772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CC"/>
                </a:solidFill>
                <a:latin typeface="Times New Roman" panose="02020603050405020304" pitchFamily="18" charset="0"/>
                <a:cs typeface="Times New Roman" panose="02020603050405020304" pitchFamily="18" charset="0"/>
              </a:rPr>
              <a:t>https://www.kaggle.com/</a:t>
            </a:r>
          </a:p>
        </p:txBody>
      </p:sp>
      <p:sp>
        <p:nvSpPr>
          <p:cNvPr id="3" name="Content Placeholder 2"/>
          <p:cNvSpPr>
            <a:spLocks noGrp="1"/>
          </p:cNvSpPr>
          <p:nvPr>
            <p:ph idx="1"/>
          </p:nvPr>
        </p:nvSpPr>
        <p:spPr/>
        <p:txBody>
          <a:bodyPr/>
          <a:lstStyle/>
          <a:p>
            <a:r>
              <a:rPr lang="en-US" dirty="0" err="1" smtClean="0"/>
              <a:t>Cuộc</a:t>
            </a:r>
            <a:r>
              <a:rPr lang="en-US" dirty="0" smtClean="0"/>
              <a:t> </a:t>
            </a:r>
            <a:r>
              <a:rPr lang="en-US" dirty="0" err="1" smtClean="0"/>
              <a:t>thi</a:t>
            </a:r>
            <a:r>
              <a:rPr lang="en-US" dirty="0" smtClean="0"/>
              <a:t>: </a:t>
            </a:r>
            <a:r>
              <a:rPr lang="en-US" dirty="0" smtClean="0">
                <a:hlinkClick r:id="rId2"/>
              </a:rPr>
              <a:t>https</a:t>
            </a:r>
            <a:r>
              <a:rPr lang="en-US" dirty="0">
                <a:hlinkClick r:id="rId2"/>
              </a:rPr>
              <a:t>://</a:t>
            </a:r>
            <a:r>
              <a:rPr lang="en-US" dirty="0" smtClean="0">
                <a:hlinkClick r:id="rId2"/>
              </a:rPr>
              <a:t>www.kaggle.com/competitions</a:t>
            </a:r>
            <a:endParaRPr lang="en-US" dirty="0" smtClean="0"/>
          </a:p>
          <a:p>
            <a:r>
              <a:rPr lang="en-US" dirty="0" smtClean="0"/>
              <a:t>Học </a:t>
            </a:r>
            <a:r>
              <a:rPr lang="en-US" dirty="0" err="1" smtClean="0"/>
              <a:t>tập</a:t>
            </a:r>
            <a:r>
              <a:rPr lang="en-US" dirty="0"/>
              <a:t>: </a:t>
            </a:r>
            <a:r>
              <a:rPr lang="en-US" dirty="0">
                <a:hlinkClick r:id="rId3"/>
              </a:rPr>
              <a:t>https://</a:t>
            </a:r>
            <a:r>
              <a:rPr lang="en-US" dirty="0" smtClean="0">
                <a:hlinkClick r:id="rId3"/>
              </a:rPr>
              <a:t>www.kaggle.com/learn</a:t>
            </a:r>
            <a:endParaRPr lang="en-US" dirty="0"/>
          </a:p>
          <a:p>
            <a:r>
              <a:rPr lang="en-US" dirty="0" err="1" smtClean="0"/>
              <a:t>Dữ</a:t>
            </a:r>
            <a:r>
              <a:rPr lang="en-US" dirty="0" smtClean="0"/>
              <a:t> </a:t>
            </a:r>
            <a:r>
              <a:rPr lang="en-US" dirty="0" err="1" smtClean="0"/>
              <a:t>liệu</a:t>
            </a:r>
            <a:r>
              <a:rPr lang="en-US" dirty="0" smtClean="0"/>
              <a:t>: </a:t>
            </a:r>
            <a:r>
              <a:rPr lang="en-US" dirty="0" smtClean="0">
                <a:hlinkClick r:id="rId4"/>
              </a:rPr>
              <a:t>https</a:t>
            </a:r>
            <a:r>
              <a:rPr lang="en-US" dirty="0">
                <a:hlinkClick r:id="rId4"/>
              </a:rPr>
              <a:t>://</a:t>
            </a:r>
            <a:r>
              <a:rPr lang="en-US" dirty="0" smtClean="0">
                <a:hlinkClick r:id="rId4"/>
              </a:rPr>
              <a:t>www.kaggle.com/datasets</a:t>
            </a:r>
            <a:endParaRPr lang="en-US" dirty="0" smtClean="0"/>
          </a:p>
          <a:p>
            <a:r>
              <a:rPr lang="en-US" dirty="0"/>
              <a:t>Code: </a:t>
            </a:r>
            <a:r>
              <a:rPr lang="en-US" dirty="0">
                <a:hlinkClick r:id="rId5"/>
              </a:rPr>
              <a:t>https://</a:t>
            </a:r>
            <a:r>
              <a:rPr lang="en-US" dirty="0" smtClean="0">
                <a:hlinkClick r:id="rId5"/>
              </a:rPr>
              <a:t>www.kaggle.com/code</a:t>
            </a:r>
            <a:endParaRPr lang="en-US" dirty="0" smtClean="0"/>
          </a:p>
          <a:p>
            <a:endParaRPr lang="en-US" dirty="0" smtClean="0"/>
          </a:p>
          <a:p>
            <a:endParaRPr lang="en-US" dirty="0"/>
          </a:p>
          <a:p>
            <a:endParaRPr lang="en-US" dirty="0" smtClean="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Tree>
    <p:extLst>
      <p:ext uri="{BB962C8B-B14F-4D97-AF65-F5344CB8AC3E}">
        <p14:creationId xmlns:p14="http://schemas.microsoft.com/office/powerpoint/2010/main" val="32182678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UCI Irvine Machine Learning Repository</a:t>
            </a:r>
            <a:endParaRPr lang="en-US" dirty="0"/>
          </a:p>
        </p:txBody>
      </p:sp>
      <p:sp>
        <p:nvSpPr>
          <p:cNvPr id="3" name="Content Placeholder 2"/>
          <p:cNvSpPr>
            <a:spLocks noGrp="1"/>
          </p:cNvSpPr>
          <p:nvPr>
            <p:ph idx="1"/>
          </p:nvPr>
        </p:nvSpPr>
        <p:spPr/>
        <p:txBody>
          <a:bodyPr/>
          <a:lstStyle/>
          <a:p>
            <a:r>
              <a:rPr lang="en-US" dirty="0">
                <a:hlinkClick r:id="rId2"/>
              </a:rPr>
              <a:t>https://</a:t>
            </a:r>
            <a:r>
              <a:rPr lang="en-US" dirty="0" smtClean="0">
                <a:hlinkClick r:id="rId2"/>
              </a:rPr>
              <a:t>archive.ics.uci.edu/ml/datasets.php</a:t>
            </a:r>
            <a:endParaRPr lang="en-US" dirty="0" smtClean="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pic>
        <p:nvPicPr>
          <p:cNvPr id="8" name="Picture 7"/>
          <p:cNvPicPr>
            <a:picLocks noChangeAspect="1"/>
          </p:cNvPicPr>
          <p:nvPr/>
        </p:nvPicPr>
        <p:blipFill>
          <a:blip r:embed="rId3"/>
          <a:stretch>
            <a:fillRect/>
          </a:stretch>
        </p:blipFill>
        <p:spPr>
          <a:xfrm>
            <a:off x="1724024" y="2108030"/>
            <a:ext cx="9705976" cy="4018134"/>
          </a:xfrm>
          <a:prstGeom prst="rect">
            <a:avLst/>
          </a:prstGeom>
        </p:spPr>
      </p:pic>
    </p:spTree>
    <p:extLst>
      <p:ext uri="{BB962C8B-B14F-4D97-AF65-F5344CB8AC3E}">
        <p14:creationId xmlns:p14="http://schemas.microsoft.com/office/powerpoint/2010/main" val="2656044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hlinkClick r:id="rId2"/>
              </a:rPr>
              <a:t>https://</a:t>
            </a:r>
            <a:r>
              <a:rPr lang="en-US" dirty="0" smtClean="0">
                <a:hlinkClick r:id="rId2"/>
              </a:rPr>
              <a:t>archive.ics.uci.edu/ml/datasets.php</a:t>
            </a:r>
            <a:endParaRPr lang="en-US" dirty="0"/>
          </a:p>
        </p:txBody>
      </p:sp>
      <p:pic>
        <p:nvPicPr>
          <p:cNvPr id="7" name="Content Placeholder 6"/>
          <p:cNvPicPr>
            <a:picLocks noGrp="1" noChangeAspect="1"/>
          </p:cNvPicPr>
          <p:nvPr>
            <p:ph idx="1"/>
          </p:nvPr>
        </p:nvPicPr>
        <p:blipFill>
          <a:blip r:embed="rId3"/>
          <a:stretch>
            <a:fillRect/>
          </a:stretch>
        </p:blipFill>
        <p:spPr>
          <a:xfrm>
            <a:off x="1157000" y="1819274"/>
            <a:ext cx="2292951" cy="1454838"/>
          </a:xfrm>
          <a:prstGeom prst="rect">
            <a:avLst/>
          </a:prstGeom>
        </p:spPr>
      </p:pic>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pic>
        <p:nvPicPr>
          <p:cNvPr id="8" name="Picture 7"/>
          <p:cNvPicPr>
            <a:picLocks noChangeAspect="1"/>
          </p:cNvPicPr>
          <p:nvPr/>
        </p:nvPicPr>
        <p:blipFill>
          <a:blip r:embed="rId4"/>
          <a:stretch>
            <a:fillRect/>
          </a:stretch>
        </p:blipFill>
        <p:spPr>
          <a:xfrm>
            <a:off x="3579567" y="1824037"/>
            <a:ext cx="2549769" cy="1381125"/>
          </a:xfrm>
          <a:prstGeom prst="rect">
            <a:avLst/>
          </a:prstGeom>
        </p:spPr>
      </p:pic>
      <p:pic>
        <p:nvPicPr>
          <p:cNvPr id="9" name="Picture 8"/>
          <p:cNvPicPr>
            <a:picLocks noChangeAspect="1"/>
          </p:cNvPicPr>
          <p:nvPr/>
        </p:nvPicPr>
        <p:blipFill>
          <a:blip r:embed="rId5"/>
          <a:stretch>
            <a:fillRect/>
          </a:stretch>
        </p:blipFill>
        <p:spPr>
          <a:xfrm>
            <a:off x="6221167" y="1819275"/>
            <a:ext cx="2367279" cy="2219324"/>
          </a:xfrm>
          <a:prstGeom prst="rect">
            <a:avLst/>
          </a:prstGeom>
        </p:spPr>
      </p:pic>
      <p:pic>
        <p:nvPicPr>
          <p:cNvPr id="10" name="Picture 9"/>
          <p:cNvPicPr>
            <a:picLocks noChangeAspect="1"/>
          </p:cNvPicPr>
          <p:nvPr/>
        </p:nvPicPr>
        <p:blipFill>
          <a:blip r:embed="rId6"/>
          <a:stretch>
            <a:fillRect/>
          </a:stretch>
        </p:blipFill>
        <p:spPr>
          <a:xfrm>
            <a:off x="8718062" y="1819274"/>
            <a:ext cx="2349874" cy="2219325"/>
          </a:xfrm>
          <a:prstGeom prst="rect">
            <a:avLst/>
          </a:prstGeom>
        </p:spPr>
      </p:pic>
    </p:spTree>
    <p:extLst>
      <p:ext uri="{BB962C8B-B14F-4D97-AF65-F5344CB8AC3E}">
        <p14:creationId xmlns:p14="http://schemas.microsoft.com/office/powerpoint/2010/main" val="29680114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https://aws.amazon.com/</a:t>
            </a:r>
          </a:p>
        </p:txBody>
      </p:sp>
      <p:pic>
        <p:nvPicPr>
          <p:cNvPr id="7" name="Content Placeholder 6"/>
          <p:cNvPicPr>
            <a:picLocks noGrp="1" noChangeAspect="1"/>
          </p:cNvPicPr>
          <p:nvPr>
            <p:ph idx="1"/>
          </p:nvPr>
        </p:nvPicPr>
        <p:blipFill>
          <a:blip r:embed="rId2"/>
          <a:stretch>
            <a:fillRect/>
          </a:stretch>
        </p:blipFill>
        <p:spPr>
          <a:xfrm>
            <a:off x="1676401" y="1600200"/>
            <a:ext cx="9525000" cy="4525963"/>
          </a:xfrm>
          <a:prstGeom prst="rect">
            <a:avLst/>
          </a:prstGeom>
        </p:spPr>
      </p:pic>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val="24648575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https://</a:t>
            </a:r>
            <a:r>
              <a:rPr lang="en-US" dirty="0" smtClean="0"/>
              <a:t>data.gov.vn</a:t>
            </a:r>
            <a:endParaRPr lang="en-US" dirty="0"/>
          </a:p>
        </p:txBody>
      </p:sp>
      <p:pic>
        <p:nvPicPr>
          <p:cNvPr id="8" name="Content Placeholder 7"/>
          <p:cNvPicPr>
            <a:picLocks noGrp="1" noChangeAspect="1"/>
          </p:cNvPicPr>
          <p:nvPr>
            <p:ph idx="1"/>
          </p:nvPr>
        </p:nvPicPr>
        <p:blipFill>
          <a:blip r:embed="rId2"/>
          <a:stretch>
            <a:fillRect/>
          </a:stretch>
        </p:blipFill>
        <p:spPr>
          <a:xfrm>
            <a:off x="1498563" y="1417638"/>
            <a:ext cx="10168036" cy="4830762"/>
          </a:xfrm>
          <a:prstGeom prst="rect">
            <a:avLst/>
          </a:prstGeom>
        </p:spPr>
      </p:pic>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26351652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Một</a:t>
            </a:r>
            <a:r>
              <a:rPr lang="en-US" dirty="0" smtClean="0"/>
              <a:t> </a:t>
            </a:r>
            <a:r>
              <a:rPr lang="en-US" dirty="0" err="1" smtClean="0"/>
              <a:t>số</a:t>
            </a:r>
            <a:r>
              <a:rPr lang="en-US" dirty="0" smtClean="0"/>
              <a:t> </a:t>
            </a:r>
            <a:r>
              <a:rPr lang="en-US" dirty="0" err="1" smtClean="0"/>
              <a:t>trang</a:t>
            </a:r>
            <a:r>
              <a:rPr lang="en-US" dirty="0" smtClean="0"/>
              <a:t> web</a:t>
            </a:r>
            <a:endParaRPr lang="en-US" dirty="0"/>
          </a:p>
        </p:txBody>
      </p:sp>
      <p:sp>
        <p:nvSpPr>
          <p:cNvPr id="3" name="Content Placeholder 2"/>
          <p:cNvSpPr>
            <a:spLocks noGrp="1"/>
          </p:cNvSpPr>
          <p:nvPr>
            <p:ph idx="1"/>
          </p:nvPr>
        </p:nvSpPr>
        <p:spPr/>
        <p:txBody>
          <a:bodyPr/>
          <a:lstStyle/>
          <a:p>
            <a:r>
              <a:rPr lang="en-US" dirty="0">
                <a:hlinkClick r:id="rId2"/>
              </a:rPr>
              <a:t>https://dataportals.org</a:t>
            </a:r>
            <a:r>
              <a:rPr lang="en-US" dirty="0" smtClean="0">
                <a:hlinkClick r:id="rId2"/>
              </a:rPr>
              <a:t>/</a:t>
            </a:r>
            <a:endParaRPr lang="en-US" dirty="0" smtClean="0"/>
          </a:p>
          <a:p>
            <a:r>
              <a:rPr lang="en-US" dirty="0">
                <a:hlinkClick r:id="rId3"/>
              </a:rPr>
              <a:t>https://opendatamonitor.eu</a:t>
            </a:r>
            <a:r>
              <a:rPr lang="en-US" dirty="0" smtClean="0">
                <a:hlinkClick r:id="rId3"/>
              </a:rPr>
              <a:t>/</a:t>
            </a:r>
            <a:endParaRPr lang="en-US" dirty="0" smtClean="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val="31450035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TẠO THƯ MỤC NHAPMONNGANH</a:t>
            </a:r>
          </a:p>
          <a:p>
            <a:r>
              <a:rPr lang="en-US" dirty="0" smtClean="0"/>
              <a:t>Copy </a:t>
            </a:r>
            <a:r>
              <a:rPr lang="en-US" dirty="0" err="1" smtClean="0"/>
              <a:t>các</a:t>
            </a:r>
            <a:r>
              <a:rPr lang="en-US" dirty="0" smtClean="0"/>
              <a:t> Projects </a:t>
            </a:r>
            <a:r>
              <a:rPr lang="en-US" dirty="0" err="1" smtClean="0"/>
              <a:t>và</a:t>
            </a:r>
            <a:r>
              <a:rPr lang="en-US" dirty="0" smtClean="0"/>
              <a:t> </a:t>
            </a:r>
            <a:r>
              <a:rPr lang="en-US" dirty="0" err="1" smtClean="0"/>
              <a:t>thư</a:t>
            </a:r>
            <a:r>
              <a:rPr lang="en-US" dirty="0" smtClean="0"/>
              <a:t> </a:t>
            </a:r>
            <a:r>
              <a:rPr lang="en-US" dirty="0" err="1" smtClean="0"/>
              <a:t>mục</a:t>
            </a:r>
            <a:r>
              <a:rPr lang="en-US" dirty="0" smtClean="0"/>
              <a:t> NHAPMONNGANH</a:t>
            </a:r>
          </a:p>
          <a:p>
            <a:r>
              <a:rPr lang="en-US" dirty="0" err="1" smtClean="0"/>
              <a:t>Mở</a:t>
            </a:r>
            <a:r>
              <a:rPr lang="en-US" dirty="0" smtClean="0"/>
              <a:t> PowerShell</a:t>
            </a:r>
          </a:p>
          <a:p>
            <a:r>
              <a:rPr lang="en-US" dirty="0" err="1" smtClean="0"/>
              <a:t>Vào</a:t>
            </a:r>
            <a:r>
              <a:rPr lang="en-US" dirty="0" smtClean="0"/>
              <a:t> </a:t>
            </a:r>
            <a:r>
              <a:rPr lang="en-US" dirty="0" err="1" smtClean="0"/>
              <a:t>thư</a:t>
            </a:r>
            <a:r>
              <a:rPr lang="en-US" dirty="0" smtClean="0"/>
              <a:t> </a:t>
            </a:r>
            <a:r>
              <a:rPr lang="en-US" dirty="0" err="1" smtClean="0"/>
              <a:t>mục</a:t>
            </a:r>
            <a:r>
              <a:rPr lang="en-US" dirty="0" smtClean="0"/>
              <a:t> NHAPMONNGANH: cd NHAPMONNGANH</a:t>
            </a:r>
          </a:p>
          <a:p>
            <a:r>
              <a:rPr lang="en-US" dirty="0" err="1" smtClean="0"/>
              <a:t>Gõ</a:t>
            </a:r>
            <a:r>
              <a:rPr lang="en-US" dirty="0" smtClean="0"/>
              <a:t> </a:t>
            </a:r>
            <a:r>
              <a:rPr lang="en-US" dirty="0" err="1" smtClean="0"/>
              <a:t>lệnh</a:t>
            </a:r>
            <a:r>
              <a:rPr lang="en-US" dirty="0" smtClean="0"/>
              <a:t>: </a:t>
            </a:r>
            <a:r>
              <a:rPr lang="en-US" dirty="0" err="1" smtClean="0"/>
              <a:t>jupyter</a:t>
            </a:r>
            <a:r>
              <a:rPr lang="en-US" dirty="0" smtClean="0"/>
              <a:t> lab </a:t>
            </a:r>
          </a:p>
          <a:p>
            <a:r>
              <a:rPr lang="en-US" dirty="0" err="1" smtClean="0"/>
              <a:t>Vào</a:t>
            </a:r>
            <a:r>
              <a:rPr lang="en-US" dirty="0" smtClean="0"/>
              <a:t> </a:t>
            </a:r>
            <a:r>
              <a:rPr lang="en-US" dirty="0" err="1" smtClean="0"/>
              <a:t>Projects_Regression</a:t>
            </a:r>
            <a:endParaRPr lang="en-US" dirty="0" smtClean="0"/>
          </a:p>
          <a:p>
            <a:pPr lvl="1"/>
            <a:r>
              <a:rPr lang="en-US" dirty="0" err="1" smtClean="0"/>
              <a:t>Mở</a:t>
            </a:r>
            <a:r>
              <a:rPr lang="en-US" dirty="0" smtClean="0"/>
              <a:t> file </a:t>
            </a:r>
          </a:p>
          <a:p>
            <a:pPr lvl="1"/>
            <a:r>
              <a:rPr lang="en-US" dirty="0" err="1" smtClean="0"/>
              <a:t>Triển</a:t>
            </a:r>
            <a:r>
              <a:rPr lang="en-US" dirty="0" smtClean="0"/>
              <a:t> </a:t>
            </a:r>
            <a:r>
              <a:rPr lang="en-US" dirty="0" err="1" smtClean="0"/>
              <a:t>khai</a:t>
            </a:r>
            <a:r>
              <a:rPr lang="en-US" dirty="0" smtClean="0"/>
              <a:t> </a:t>
            </a:r>
            <a:r>
              <a:rPr lang="en-US" dirty="0" err="1" smtClean="0"/>
              <a:t>dự</a:t>
            </a:r>
            <a:r>
              <a:rPr lang="en-US" dirty="0" smtClean="0"/>
              <a:t> </a:t>
            </a:r>
            <a:r>
              <a:rPr lang="en-US" dirty="0" err="1" smtClean="0"/>
              <a:t>án</a:t>
            </a:r>
            <a:r>
              <a:rPr lang="en-US" dirty="0"/>
              <a:t>: # </a:t>
            </a:r>
            <a:r>
              <a:rPr lang="en-US" dirty="0" err="1"/>
              <a:t>bokeh</a:t>
            </a:r>
            <a:r>
              <a:rPr lang="en-US" dirty="0"/>
              <a:t> serve --show </a:t>
            </a:r>
            <a:r>
              <a:rPr lang="en-US" dirty="0" smtClean="0"/>
              <a:t>backend.py</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14539238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DỰ ÁN 1: BẤT ĐỘNG SẢN</a:t>
            </a:r>
            <a:endParaRPr lang="en-US" dirty="0"/>
          </a:p>
        </p:txBody>
      </p:sp>
      <p:sp>
        <p:nvSpPr>
          <p:cNvPr id="3" name="Content Placeholder 2"/>
          <p:cNvSpPr>
            <a:spLocks noGrp="1"/>
          </p:cNvSpPr>
          <p:nvPr>
            <p:ph idx="1"/>
          </p:nvPr>
        </p:nvSpPr>
        <p:spPr/>
        <p:txBody>
          <a:bodyPr numCol="2">
            <a:normAutofit fontScale="92500" lnSpcReduction="10000"/>
          </a:bodyPr>
          <a:lstStyle/>
          <a:p>
            <a:r>
              <a:rPr lang="en-US" dirty="0" err="1" smtClean="0"/>
              <a:t>Bước</a:t>
            </a:r>
            <a:r>
              <a:rPr lang="en-US" dirty="0" smtClean="0"/>
              <a:t> 1: </a:t>
            </a:r>
            <a:r>
              <a:rPr lang="en-US" dirty="0" err="1" smtClean="0"/>
              <a:t>Xác</a:t>
            </a:r>
            <a:r>
              <a:rPr lang="en-US" dirty="0" smtClean="0"/>
              <a:t> </a:t>
            </a:r>
            <a:r>
              <a:rPr lang="en-US" dirty="0" err="1" smtClean="0"/>
              <a:t>định</a:t>
            </a:r>
            <a:r>
              <a:rPr lang="en-US" dirty="0" smtClean="0"/>
              <a:t> </a:t>
            </a:r>
            <a:r>
              <a:rPr lang="en-US" dirty="0" err="1" smtClean="0"/>
              <a:t>vấn</a:t>
            </a:r>
            <a:r>
              <a:rPr lang="en-US" dirty="0" smtClean="0"/>
              <a:t> </a:t>
            </a:r>
            <a:r>
              <a:rPr lang="en-US" dirty="0" err="1" smtClean="0"/>
              <a:t>đề</a:t>
            </a:r>
            <a:endParaRPr lang="en-US" dirty="0" smtClean="0"/>
          </a:p>
          <a:p>
            <a:pPr lvl="1"/>
            <a:r>
              <a:rPr lang="en-US" sz="3200" dirty="0"/>
              <a:t> </a:t>
            </a:r>
            <a:r>
              <a:rPr lang="en-US" sz="3200" dirty="0" err="1"/>
              <a:t>Công</a:t>
            </a:r>
            <a:r>
              <a:rPr lang="en-US" sz="3200" dirty="0"/>
              <a:t> ty </a:t>
            </a:r>
            <a:r>
              <a:rPr lang="en-US" sz="3200" dirty="0" err="1"/>
              <a:t>bất</a:t>
            </a:r>
            <a:r>
              <a:rPr lang="en-US" sz="3200" dirty="0"/>
              <a:t> </a:t>
            </a:r>
            <a:r>
              <a:rPr lang="en-US" sz="3200" dirty="0" err="1"/>
              <a:t>động</a:t>
            </a:r>
            <a:r>
              <a:rPr lang="en-US" sz="3200" dirty="0"/>
              <a:t> </a:t>
            </a:r>
            <a:r>
              <a:rPr lang="en-US" sz="3200" dirty="0" err="1"/>
              <a:t>sản</a:t>
            </a:r>
            <a:endParaRPr lang="en-US" sz="3200" dirty="0"/>
          </a:p>
          <a:p>
            <a:pPr lvl="1"/>
            <a:r>
              <a:rPr lang="en-US" sz="3200" dirty="0" err="1"/>
              <a:t>Dự</a:t>
            </a:r>
            <a:r>
              <a:rPr lang="en-US" sz="3200" dirty="0"/>
              <a:t> </a:t>
            </a:r>
            <a:r>
              <a:rPr lang="en-US" sz="3200" dirty="0" err="1"/>
              <a:t>báo</a:t>
            </a:r>
            <a:r>
              <a:rPr lang="en-US" sz="3200" dirty="0"/>
              <a:t> </a:t>
            </a:r>
            <a:r>
              <a:rPr lang="en-US" sz="3200" dirty="0" err="1"/>
              <a:t>về</a:t>
            </a:r>
            <a:r>
              <a:rPr lang="en-US" sz="3200" dirty="0"/>
              <a:t> </a:t>
            </a:r>
            <a:r>
              <a:rPr lang="en-US" sz="3200" dirty="0" err="1"/>
              <a:t>giá</a:t>
            </a:r>
            <a:r>
              <a:rPr lang="en-US" sz="3200" dirty="0"/>
              <a:t> </a:t>
            </a:r>
            <a:r>
              <a:rPr lang="en-US" sz="3200" dirty="0" err="1"/>
              <a:t>nhà</a:t>
            </a:r>
            <a:r>
              <a:rPr lang="en-US" sz="3200" dirty="0"/>
              <a:t> (housing price)</a:t>
            </a:r>
          </a:p>
          <a:p>
            <a:r>
              <a:rPr lang="en-US" dirty="0" err="1" smtClean="0"/>
              <a:t>Bước</a:t>
            </a:r>
            <a:r>
              <a:rPr lang="en-US" dirty="0" smtClean="0"/>
              <a:t> 2: Thu </a:t>
            </a:r>
            <a:r>
              <a:rPr lang="en-US" dirty="0" err="1" smtClean="0"/>
              <a:t>thập</a:t>
            </a:r>
            <a:r>
              <a:rPr lang="en-US" dirty="0" smtClean="0"/>
              <a:t> </a:t>
            </a:r>
            <a:r>
              <a:rPr lang="en-US" dirty="0" err="1" smtClean="0"/>
              <a:t>dữ</a:t>
            </a:r>
            <a:r>
              <a:rPr lang="en-US" dirty="0" smtClean="0"/>
              <a:t> </a:t>
            </a:r>
            <a:r>
              <a:rPr lang="en-US" dirty="0" err="1" smtClean="0"/>
              <a:t>liệu</a:t>
            </a:r>
            <a:endParaRPr lang="en-US" dirty="0" smtClean="0"/>
          </a:p>
          <a:p>
            <a:pPr lvl="1"/>
            <a:r>
              <a:rPr lang="en-US" sz="3200" dirty="0"/>
              <a:t>h</a:t>
            </a:r>
            <a:r>
              <a:rPr lang="en-US" sz="3200" dirty="0" smtClean="0"/>
              <a:t>ousing.csv</a:t>
            </a:r>
          </a:p>
          <a:p>
            <a:r>
              <a:rPr lang="en-US" dirty="0" err="1" smtClean="0"/>
              <a:t>Bước</a:t>
            </a:r>
            <a:r>
              <a:rPr lang="en-US" dirty="0" smtClean="0"/>
              <a:t> 3: </a:t>
            </a:r>
            <a:r>
              <a:rPr lang="en-US" dirty="0" err="1" smtClean="0"/>
              <a:t>Khám</a:t>
            </a:r>
            <a:r>
              <a:rPr lang="en-US" dirty="0" smtClean="0"/>
              <a:t> </a:t>
            </a:r>
            <a:r>
              <a:rPr lang="en-US" dirty="0" err="1" smtClean="0"/>
              <a:t>phá</a:t>
            </a:r>
            <a:r>
              <a:rPr lang="en-US" dirty="0" smtClean="0"/>
              <a:t> </a:t>
            </a:r>
            <a:r>
              <a:rPr lang="en-US" dirty="0" err="1" smtClean="0"/>
              <a:t>dữ</a:t>
            </a:r>
            <a:r>
              <a:rPr lang="en-US" dirty="0" smtClean="0"/>
              <a:t> </a:t>
            </a:r>
            <a:r>
              <a:rPr lang="en-US" dirty="0" err="1" smtClean="0"/>
              <a:t>liệu</a:t>
            </a:r>
            <a:endParaRPr lang="en-US" dirty="0"/>
          </a:p>
          <a:p>
            <a:r>
              <a:rPr lang="en-US" dirty="0" err="1" smtClean="0"/>
              <a:t>Bước</a:t>
            </a:r>
            <a:r>
              <a:rPr lang="en-US" dirty="0" smtClean="0"/>
              <a:t> 4: </a:t>
            </a:r>
            <a:r>
              <a:rPr lang="en-US" dirty="0" err="1" smtClean="0"/>
              <a:t>Xử</a:t>
            </a:r>
            <a:r>
              <a:rPr lang="en-US" dirty="0" smtClean="0"/>
              <a:t> </a:t>
            </a:r>
            <a:r>
              <a:rPr lang="en-US" dirty="0" err="1" smtClean="0"/>
              <a:t>lý</a:t>
            </a:r>
            <a:r>
              <a:rPr lang="en-US" dirty="0" smtClean="0"/>
              <a:t> </a:t>
            </a:r>
            <a:r>
              <a:rPr lang="en-US" dirty="0" err="1" smtClean="0"/>
              <a:t>dữ</a:t>
            </a:r>
            <a:r>
              <a:rPr lang="en-US" dirty="0" smtClean="0"/>
              <a:t> </a:t>
            </a:r>
            <a:r>
              <a:rPr lang="en-US" dirty="0" err="1" smtClean="0"/>
              <a:t>liệu</a:t>
            </a:r>
            <a:endParaRPr lang="en-US" dirty="0" smtClean="0"/>
          </a:p>
          <a:p>
            <a:endParaRPr lang="en-US" dirty="0"/>
          </a:p>
          <a:p>
            <a:r>
              <a:rPr lang="en-US" dirty="0" err="1" smtClean="0"/>
              <a:t>Bước</a:t>
            </a:r>
            <a:r>
              <a:rPr lang="en-US" dirty="0" smtClean="0"/>
              <a:t> 5: </a:t>
            </a:r>
            <a:r>
              <a:rPr lang="en-US" dirty="0" err="1" smtClean="0"/>
              <a:t>Lựa</a:t>
            </a:r>
            <a:r>
              <a:rPr lang="en-US" dirty="0" smtClean="0"/>
              <a:t> </a:t>
            </a:r>
            <a:r>
              <a:rPr lang="en-US" dirty="0" err="1" smtClean="0"/>
              <a:t>chọn</a:t>
            </a:r>
            <a:r>
              <a:rPr lang="en-US" dirty="0" smtClean="0"/>
              <a:t> </a:t>
            </a:r>
            <a:r>
              <a:rPr lang="en-US" dirty="0" err="1" smtClean="0"/>
              <a:t>mô</a:t>
            </a:r>
            <a:r>
              <a:rPr lang="en-US" dirty="0" smtClean="0"/>
              <a:t> </a:t>
            </a:r>
            <a:r>
              <a:rPr lang="en-US" dirty="0" err="1" smtClean="0"/>
              <a:t>hình</a:t>
            </a:r>
            <a:endParaRPr lang="en-US" dirty="0" smtClean="0"/>
          </a:p>
          <a:p>
            <a:r>
              <a:rPr lang="en-US" dirty="0" err="1" smtClean="0"/>
              <a:t>Bước</a:t>
            </a:r>
            <a:r>
              <a:rPr lang="en-US" dirty="0" smtClean="0"/>
              <a:t> 6: </a:t>
            </a:r>
            <a:r>
              <a:rPr lang="en-US" dirty="0" err="1" smtClean="0"/>
              <a:t>Tinh</a:t>
            </a:r>
            <a:r>
              <a:rPr lang="en-US" dirty="0" smtClean="0"/>
              <a:t> </a:t>
            </a:r>
            <a:r>
              <a:rPr lang="en-US" dirty="0" err="1" smtClean="0"/>
              <a:t>chỉnh</a:t>
            </a:r>
            <a:r>
              <a:rPr lang="en-US" dirty="0" smtClean="0"/>
              <a:t> </a:t>
            </a:r>
            <a:r>
              <a:rPr lang="en-US" dirty="0" err="1" smtClean="0"/>
              <a:t>mô</a:t>
            </a:r>
            <a:r>
              <a:rPr lang="en-US" dirty="0" smtClean="0"/>
              <a:t> </a:t>
            </a:r>
            <a:r>
              <a:rPr lang="en-US" dirty="0" err="1" smtClean="0"/>
              <a:t>hình</a:t>
            </a:r>
            <a:endParaRPr lang="en-US" dirty="0" smtClean="0"/>
          </a:p>
          <a:p>
            <a:r>
              <a:rPr lang="en-US" dirty="0" err="1" smtClean="0"/>
              <a:t>Bước</a:t>
            </a:r>
            <a:r>
              <a:rPr lang="en-US" dirty="0" smtClean="0"/>
              <a:t> 7: Trình </a:t>
            </a:r>
            <a:r>
              <a:rPr lang="en-US" dirty="0" err="1" smtClean="0"/>
              <a:t>bày</a:t>
            </a:r>
            <a:r>
              <a:rPr lang="en-US" dirty="0" smtClean="0"/>
              <a:t> </a:t>
            </a:r>
            <a:r>
              <a:rPr lang="en-US" dirty="0" err="1" smtClean="0"/>
              <a:t>kết</a:t>
            </a:r>
            <a:r>
              <a:rPr lang="en-US" dirty="0" smtClean="0"/>
              <a:t> </a:t>
            </a:r>
            <a:r>
              <a:rPr lang="en-US" dirty="0" err="1" smtClean="0"/>
              <a:t>quả</a:t>
            </a:r>
            <a:endParaRPr lang="en-US" dirty="0" smtClean="0"/>
          </a:p>
          <a:p>
            <a:r>
              <a:rPr lang="en-US" dirty="0" err="1" smtClean="0"/>
              <a:t>Bước</a:t>
            </a:r>
            <a:r>
              <a:rPr lang="en-US" dirty="0" smtClean="0"/>
              <a:t> 8: </a:t>
            </a:r>
            <a:r>
              <a:rPr lang="en-US" dirty="0" err="1" smtClean="0"/>
              <a:t>Triển</a:t>
            </a:r>
            <a:r>
              <a:rPr lang="en-US" dirty="0" smtClean="0"/>
              <a:t> </a:t>
            </a:r>
            <a:r>
              <a:rPr lang="en-US" dirty="0" err="1" smtClean="0"/>
              <a:t>khai</a:t>
            </a:r>
            <a:r>
              <a:rPr lang="en-US" dirty="0" smtClean="0"/>
              <a:t> </a:t>
            </a:r>
            <a:r>
              <a:rPr lang="en-US" dirty="0" err="1" smtClean="0"/>
              <a:t>hệ</a:t>
            </a:r>
            <a:r>
              <a:rPr lang="en-US" dirty="0" smtClean="0"/>
              <a:t> </a:t>
            </a:r>
            <a:r>
              <a:rPr lang="en-US" dirty="0" err="1" smtClean="0"/>
              <a:t>thống</a:t>
            </a:r>
            <a:endParaRPr lang="en-US" dirty="0" smtClean="0"/>
          </a:p>
          <a:p>
            <a:endParaRPr lang="en-US" dirty="0"/>
          </a:p>
          <a:p>
            <a:endParaRPr lang="en-US" dirty="0"/>
          </a:p>
          <a:p>
            <a:endParaRPr lang="en-US" dirty="0" smtClean="0"/>
          </a:p>
          <a:p>
            <a:endParaRPr lang="en-US" dirty="0"/>
          </a:p>
          <a:p>
            <a:endParaRPr lang="en-US" dirty="0" smtClean="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288793789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DỰ ÁN 2: NHẬN DẠNG BIỂN SỐ XE</a:t>
            </a:r>
            <a:endParaRPr lang="en-US" dirty="0"/>
          </a:p>
        </p:txBody>
      </p:sp>
      <p:sp>
        <p:nvSpPr>
          <p:cNvPr id="3" name="Content Placeholder 2"/>
          <p:cNvSpPr>
            <a:spLocks noGrp="1"/>
          </p:cNvSpPr>
          <p:nvPr>
            <p:ph idx="1"/>
          </p:nvPr>
        </p:nvSpPr>
        <p:spPr/>
        <p:txBody>
          <a:bodyPr numCol="2">
            <a:noAutofit/>
          </a:bodyPr>
          <a:lstStyle/>
          <a:p>
            <a:r>
              <a:rPr lang="en-US" sz="2400" dirty="0" err="1"/>
              <a:t>Bước</a:t>
            </a:r>
            <a:r>
              <a:rPr lang="en-US" sz="2400" dirty="0"/>
              <a:t> 1: </a:t>
            </a:r>
            <a:r>
              <a:rPr lang="en-US" sz="2400" dirty="0" err="1"/>
              <a:t>Xác</a:t>
            </a:r>
            <a:r>
              <a:rPr lang="en-US" sz="2400" dirty="0"/>
              <a:t> </a:t>
            </a:r>
            <a:r>
              <a:rPr lang="en-US" sz="2400" dirty="0" err="1"/>
              <a:t>định</a:t>
            </a:r>
            <a:r>
              <a:rPr lang="en-US" sz="2400" dirty="0"/>
              <a:t> </a:t>
            </a:r>
            <a:r>
              <a:rPr lang="en-US" sz="2400" dirty="0" err="1"/>
              <a:t>vấn</a:t>
            </a:r>
            <a:r>
              <a:rPr lang="en-US" sz="2400" dirty="0"/>
              <a:t> </a:t>
            </a:r>
            <a:r>
              <a:rPr lang="en-US" sz="2400" dirty="0" err="1"/>
              <a:t>đề</a:t>
            </a:r>
            <a:endParaRPr lang="en-US" sz="2400" dirty="0"/>
          </a:p>
          <a:p>
            <a:pPr lvl="1"/>
            <a:r>
              <a:rPr lang="en-US" sz="2400" dirty="0" err="1" smtClean="0"/>
              <a:t>Tự</a:t>
            </a:r>
            <a:r>
              <a:rPr lang="en-US" sz="2400" dirty="0" smtClean="0"/>
              <a:t> </a:t>
            </a:r>
            <a:r>
              <a:rPr lang="en-US" sz="2400" dirty="0" err="1" smtClean="0"/>
              <a:t>động</a:t>
            </a:r>
            <a:r>
              <a:rPr lang="en-US" sz="2400" dirty="0" smtClean="0"/>
              <a:t> </a:t>
            </a:r>
            <a:r>
              <a:rPr lang="en-US" sz="2400" dirty="0" err="1" smtClean="0"/>
              <a:t>ghi</a:t>
            </a:r>
            <a:r>
              <a:rPr lang="en-US" sz="2400" dirty="0" smtClean="0"/>
              <a:t> </a:t>
            </a:r>
            <a:r>
              <a:rPr lang="en-US" sz="2400" dirty="0" err="1" smtClean="0"/>
              <a:t>nhận</a:t>
            </a:r>
            <a:r>
              <a:rPr lang="en-US" sz="2400" dirty="0" smtClean="0"/>
              <a:t> </a:t>
            </a:r>
            <a:r>
              <a:rPr lang="en-US" sz="2400" dirty="0" err="1" smtClean="0"/>
              <a:t>xe</a:t>
            </a:r>
            <a:r>
              <a:rPr lang="en-US" sz="2400" dirty="0" smtClean="0"/>
              <a:t> </a:t>
            </a:r>
            <a:r>
              <a:rPr lang="en-US" sz="2400" dirty="0" err="1" smtClean="0"/>
              <a:t>thông</a:t>
            </a:r>
            <a:r>
              <a:rPr lang="en-US" sz="2400" dirty="0" smtClean="0"/>
              <a:t> qua </a:t>
            </a:r>
            <a:r>
              <a:rPr lang="en-US" sz="2400" dirty="0" err="1" smtClean="0"/>
              <a:t>biển</a:t>
            </a:r>
            <a:r>
              <a:rPr lang="en-US" sz="2400" dirty="0" smtClean="0"/>
              <a:t> </a:t>
            </a:r>
            <a:r>
              <a:rPr lang="en-US" sz="2400" dirty="0" err="1" smtClean="0"/>
              <a:t>số</a:t>
            </a:r>
            <a:endParaRPr lang="en-US" sz="2400" dirty="0" smtClean="0"/>
          </a:p>
          <a:p>
            <a:r>
              <a:rPr lang="en-US" sz="2400" dirty="0" err="1" smtClean="0"/>
              <a:t>Bước</a:t>
            </a:r>
            <a:r>
              <a:rPr lang="en-US" sz="2400" dirty="0" smtClean="0"/>
              <a:t> </a:t>
            </a:r>
            <a:r>
              <a:rPr lang="en-US" sz="2400" dirty="0"/>
              <a:t>2: Thu </a:t>
            </a:r>
            <a:r>
              <a:rPr lang="en-US" sz="2400" dirty="0" err="1"/>
              <a:t>thập</a:t>
            </a:r>
            <a:r>
              <a:rPr lang="en-US" sz="2400" dirty="0"/>
              <a:t> </a:t>
            </a:r>
            <a:r>
              <a:rPr lang="en-US" sz="2400" dirty="0" err="1"/>
              <a:t>dữ</a:t>
            </a:r>
            <a:r>
              <a:rPr lang="en-US" sz="2400" dirty="0"/>
              <a:t> </a:t>
            </a:r>
            <a:r>
              <a:rPr lang="en-US" sz="2400" dirty="0" err="1"/>
              <a:t>liệu</a:t>
            </a:r>
            <a:endParaRPr lang="en-US" sz="2400" dirty="0"/>
          </a:p>
          <a:p>
            <a:pPr lvl="1"/>
            <a:r>
              <a:rPr lang="en-US" sz="2400" dirty="0" err="1" smtClean="0"/>
              <a:t>Biển</a:t>
            </a:r>
            <a:r>
              <a:rPr lang="en-US" sz="2400" dirty="0" smtClean="0"/>
              <a:t> </a:t>
            </a:r>
            <a:r>
              <a:rPr lang="en-US" sz="2400" dirty="0" err="1" smtClean="0"/>
              <a:t>số</a:t>
            </a:r>
            <a:r>
              <a:rPr lang="en-US" sz="2400" dirty="0" smtClean="0"/>
              <a:t> </a:t>
            </a:r>
            <a:r>
              <a:rPr lang="en-US" sz="2400" dirty="0" err="1" smtClean="0"/>
              <a:t>xe</a:t>
            </a:r>
            <a:r>
              <a:rPr lang="en-US" sz="2400" dirty="0" smtClean="0"/>
              <a:t> </a:t>
            </a:r>
            <a:r>
              <a:rPr lang="en-US" sz="2400" dirty="0" err="1" smtClean="0"/>
              <a:t>gồm</a:t>
            </a:r>
            <a:r>
              <a:rPr lang="en-US" sz="2400" dirty="0" smtClean="0"/>
              <a:t> </a:t>
            </a:r>
            <a:r>
              <a:rPr lang="en-US" sz="2400" dirty="0" err="1" smtClean="0"/>
              <a:t>phần</a:t>
            </a:r>
            <a:r>
              <a:rPr lang="en-US" sz="2400" dirty="0" smtClean="0"/>
              <a:t> </a:t>
            </a:r>
            <a:r>
              <a:rPr lang="en-US" sz="2400" dirty="0" err="1" smtClean="0"/>
              <a:t>chữ</a:t>
            </a:r>
            <a:r>
              <a:rPr lang="en-US" sz="2400" dirty="0" smtClean="0"/>
              <a:t> </a:t>
            </a:r>
            <a:r>
              <a:rPr lang="en-US" sz="2400" dirty="0" err="1" smtClean="0"/>
              <a:t>và</a:t>
            </a:r>
            <a:r>
              <a:rPr lang="en-US" sz="2400" dirty="0" smtClean="0"/>
              <a:t> </a:t>
            </a:r>
            <a:r>
              <a:rPr lang="en-US" sz="2400" dirty="0" err="1" smtClean="0"/>
              <a:t>số</a:t>
            </a:r>
            <a:endParaRPr lang="en-US" sz="2400" dirty="0" smtClean="0"/>
          </a:p>
          <a:p>
            <a:r>
              <a:rPr lang="en-US" sz="2400" dirty="0" err="1" smtClean="0"/>
              <a:t>Bước</a:t>
            </a:r>
            <a:r>
              <a:rPr lang="en-US" sz="2400" dirty="0" smtClean="0"/>
              <a:t> </a:t>
            </a:r>
            <a:r>
              <a:rPr lang="en-US" sz="2400" dirty="0"/>
              <a:t>3: </a:t>
            </a:r>
            <a:r>
              <a:rPr lang="en-US" sz="2400" dirty="0" err="1"/>
              <a:t>Khám</a:t>
            </a:r>
            <a:r>
              <a:rPr lang="en-US" sz="2400" dirty="0"/>
              <a:t> </a:t>
            </a:r>
            <a:r>
              <a:rPr lang="en-US" sz="2400" dirty="0" err="1"/>
              <a:t>phá</a:t>
            </a:r>
            <a:r>
              <a:rPr lang="en-US" sz="2400" dirty="0"/>
              <a:t> </a:t>
            </a:r>
            <a:r>
              <a:rPr lang="en-US" sz="2400" dirty="0" err="1"/>
              <a:t>dữ</a:t>
            </a:r>
            <a:r>
              <a:rPr lang="en-US" sz="2400" dirty="0"/>
              <a:t> </a:t>
            </a:r>
            <a:r>
              <a:rPr lang="en-US" sz="2400" dirty="0" err="1" smtClean="0"/>
              <a:t>liệu</a:t>
            </a:r>
            <a:endParaRPr lang="en-US" sz="2400" dirty="0" smtClean="0"/>
          </a:p>
          <a:p>
            <a:pPr lvl="1"/>
            <a:r>
              <a:rPr lang="en-US" sz="2400" dirty="0" err="1" smtClean="0"/>
              <a:t>Chuyển</a:t>
            </a:r>
            <a:r>
              <a:rPr lang="en-US" sz="2400" dirty="0" smtClean="0"/>
              <a:t> </a:t>
            </a:r>
            <a:r>
              <a:rPr lang="en-US" sz="2400" dirty="0" err="1" smtClean="0"/>
              <a:t>ảnh</a:t>
            </a:r>
            <a:r>
              <a:rPr lang="en-US" sz="2400" dirty="0" smtClean="0"/>
              <a:t> sang </a:t>
            </a:r>
            <a:r>
              <a:rPr lang="en-US" sz="2400" dirty="0" err="1" smtClean="0"/>
              <a:t>dạng</a:t>
            </a:r>
            <a:r>
              <a:rPr lang="en-US" sz="2400" dirty="0" smtClean="0"/>
              <a:t> </a:t>
            </a:r>
            <a:r>
              <a:rPr lang="en-US" sz="2400" dirty="0" err="1" smtClean="0"/>
              <a:t>đen</a:t>
            </a:r>
            <a:r>
              <a:rPr lang="en-US" sz="2400" dirty="0" smtClean="0"/>
              <a:t> </a:t>
            </a:r>
            <a:r>
              <a:rPr lang="en-US" sz="2400" dirty="0" err="1" smtClean="0"/>
              <a:t>trắng</a:t>
            </a:r>
            <a:endParaRPr lang="en-US" sz="2400" dirty="0" smtClean="0"/>
          </a:p>
          <a:p>
            <a:r>
              <a:rPr lang="en-US" sz="2400" dirty="0" err="1" smtClean="0"/>
              <a:t>Bước</a:t>
            </a:r>
            <a:r>
              <a:rPr lang="en-US" sz="2400" dirty="0" smtClean="0"/>
              <a:t> </a:t>
            </a:r>
            <a:r>
              <a:rPr lang="en-US" sz="2400" dirty="0"/>
              <a:t>4: </a:t>
            </a:r>
            <a:r>
              <a:rPr lang="en-US" sz="2400" dirty="0" err="1"/>
              <a:t>Xử</a:t>
            </a:r>
            <a:r>
              <a:rPr lang="en-US" sz="2400" dirty="0"/>
              <a:t> </a:t>
            </a:r>
            <a:r>
              <a:rPr lang="en-US" sz="2400" dirty="0" err="1"/>
              <a:t>lý</a:t>
            </a:r>
            <a:r>
              <a:rPr lang="en-US" sz="2400" dirty="0"/>
              <a:t> </a:t>
            </a:r>
            <a:r>
              <a:rPr lang="en-US" sz="2400" dirty="0" err="1"/>
              <a:t>dữ</a:t>
            </a:r>
            <a:r>
              <a:rPr lang="en-US" sz="2400" dirty="0"/>
              <a:t> </a:t>
            </a:r>
            <a:r>
              <a:rPr lang="en-US" sz="2400" dirty="0" err="1"/>
              <a:t>liệu</a:t>
            </a:r>
            <a:endParaRPr lang="en-US" sz="2400" dirty="0"/>
          </a:p>
          <a:p>
            <a:pPr lvl="1"/>
            <a:r>
              <a:rPr lang="en-US" sz="2400" dirty="0" err="1" smtClean="0"/>
              <a:t>Quy</a:t>
            </a:r>
            <a:r>
              <a:rPr lang="en-US" sz="2400" dirty="0" smtClean="0"/>
              <a:t> </a:t>
            </a:r>
            <a:r>
              <a:rPr lang="en-US" sz="2400" dirty="0" err="1" smtClean="0"/>
              <a:t>chuẩn</a:t>
            </a:r>
            <a:r>
              <a:rPr lang="en-US" sz="2400" dirty="0" smtClean="0"/>
              <a:t> </a:t>
            </a:r>
            <a:r>
              <a:rPr lang="en-US" sz="2400" dirty="0" err="1" smtClean="0"/>
              <a:t>dữ</a:t>
            </a:r>
            <a:r>
              <a:rPr lang="en-US" sz="2400" dirty="0" smtClean="0"/>
              <a:t> </a:t>
            </a:r>
            <a:r>
              <a:rPr lang="en-US" sz="2400" dirty="0" err="1" smtClean="0"/>
              <a:t>liệu</a:t>
            </a:r>
            <a:r>
              <a:rPr lang="en-US" sz="2400" dirty="0" smtClean="0"/>
              <a:t> </a:t>
            </a:r>
            <a:r>
              <a:rPr lang="en-US" sz="2400" dirty="0" err="1" smtClean="0"/>
              <a:t>cùng</a:t>
            </a:r>
            <a:r>
              <a:rPr lang="en-US" sz="2400" dirty="0" smtClean="0"/>
              <a:t> </a:t>
            </a:r>
            <a:r>
              <a:rPr lang="en-US" sz="2400" dirty="0" err="1" smtClean="0"/>
              <a:t>kích</a:t>
            </a:r>
            <a:r>
              <a:rPr lang="en-US" sz="2400" dirty="0" smtClean="0"/>
              <a:t> </a:t>
            </a:r>
            <a:r>
              <a:rPr lang="en-US" sz="2400" dirty="0" err="1" smtClean="0"/>
              <a:t>thước</a:t>
            </a:r>
            <a:endParaRPr lang="en-US" sz="2400" dirty="0" smtClean="0"/>
          </a:p>
          <a:p>
            <a:pPr lvl="1"/>
            <a:r>
              <a:rPr lang="en-US" sz="2400" dirty="0" err="1" smtClean="0"/>
              <a:t>Biến</a:t>
            </a:r>
            <a:r>
              <a:rPr lang="en-US" sz="2400" dirty="0" smtClean="0"/>
              <a:t> </a:t>
            </a:r>
            <a:r>
              <a:rPr lang="en-US" sz="2400" dirty="0" err="1" smtClean="0"/>
              <a:t>đổi</a:t>
            </a:r>
            <a:r>
              <a:rPr lang="en-US" sz="2400" dirty="0" smtClean="0"/>
              <a:t> </a:t>
            </a:r>
            <a:r>
              <a:rPr lang="en-US" sz="2400" dirty="0" err="1" smtClean="0"/>
              <a:t>dữ</a:t>
            </a:r>
            <a:r>
              <a:rPr lang="en-US" sz="2400" dirty="0" smtClean="0"/>
              <a:t> </a:t>
            </a:r>
            <a:r>
              <a:rPr lang="en-US" sz="2400" dirty="0" err="1" smtClean="0"/>
              <a:t>liệu</a:t>
            </a:r>
            <a:endParaRPr lang="en-US" sz="2400" dirty="0" smtClean="0"/>
          </a:p>
          <a:p>
            <a:endParaRPr lang="en-US" sz="2400" dirty="0" smtClean="0"/>
          </a:p>
          <a:p>
            <a:endParaRPr lang="en-US" sz="2400" dirty="0"/>
          </a:p>
          <a:p>
            <a:endParaRPr lang="en-US" sz="2400" dirty="0" smtClean="0"/>
          </a:p>
          <a:p>
            <a:endParaRPr lang="en-US" sz="2400" dirty="0"/>
          </a:p>
          <a:p>
            <a:endParaRPr lang="en-US" sz="2400" dirty="0" smtClean="0"/>
          </a:p>
          <a:p>
            <a:r>
              <a:rPr lang="en-US" sz="2400" dirty="0" err="1" smtClean="0"/>
              <a:t>Bước</a:t>
            </a:r>
            <a:r>
              <a:rPr lang="en-US" sz="2400" dirty="0" smtClean="0"/>
              <a:t> </a:t>
            </a:r>
            <a:r>
              <a:rPr lang="en-US" sz="2400" dirty="0"/>
              <a:t>5: </a:t>
            </a:r>
            <a:r>
              <a:rPr lang="en-US" sz="2400" dirty="0" err="1"/>
              <a:t>Lựa</a:t>
            </a:r>
            <a:r>
              <a:rPr lang="en-US" sz="2400" dirty="0"/>
              <a:t> </a:t>
            </a:r>
            <a:r>
              <a:rPr lang="en-US" sz="2400" dirty="0" err="1"/>
              <a:t>chọn</a:t>
            </a:r>
            <a:r>
              <a:rPr lang="en-US" sz="2400" dirty="0"/>
              <a:t> </a:t>
            </a:r>
            <a:r>
              <a:rPr lang="en-US" sz="2400" dirty="0" err="1"/>
              <a:t>mô</a:t>
            </a:r>
            <a:r>
              <a:rPr lang="en-US" sz="2400" dirty="0"/>
              <a:t> </a:t>
            </a:r>
            <a:r>
              <a:rPr lang="en-US" sz="2400" dirty="0" err="1" smtClean="0"/>
              <a:t>hình</a:t>
            </a:r>
            <a:endParaRPr lang="en-US" sz="2400" dirty="0" smtClean="0"/>
          </a:p>
          <a:p>
            <a:pPr lvl="1"/>
            <a:r>
              <a:rPr lang="en-US" sz="2400" dirty="0" err="1" smtClean="0"/>
              <a:t>Mô</a:t>
            </a:r>
            <a:r>
              <a:rPr lang="en-US" sz="2400" dirty="0" smtClean="0"/>
              <a:t> </a:t>
            </a:r>
            <a:r>
              <a:rPr lang="en-US" sz="2400" dirty="0" err="1" smtClean="0"/>
              <a:t>hình</a:t>
            </a:r>
            <a:r>
              <a:rPr lang="en-US" sz="2400" dirty="0" smtClean="0"/>
              <a:t> </a:t>
            </a:r>
            <a:r>
              <a:rPr lang="en-US" sz="2400" dirty="0" err="1" smtClean="0"/>
              <a:t>phân</a:t>
            </a:r>
            <a:r>
              <a:rPr lang="en-US" sz="2400" dirty="0" smtClean="0"/>
              <a:t> </a:t>
            </a:r>
            <a:r>
              <a:rPr lang="en-US" sz="2400" dirty="0" err="1" smtClean="0"/>
              <a:t>loại</a:t>
            </a:r>
            <a:endParaRPr lang="en-US" sz="2400" dirty="0"/>
          </a:p>
          <a:p>
            <a:r>
              <a:rPr lang="en-US" sz="2400" dirty="0" err="1"/>
              <a:t>Bước</a:t>
            </a:r>
            <a:r>
              <a:rPr lang="en-US" sz="2400" dirty="0"/>
              <a:t> 6: </a:t>
            </a:r>
            <a:r>
              <a:rPr lang="en-US" sz="2400" dirty="0" err="1"/>
              <a:t>Tinh</a:t>
            </a:r>
            <a:r>
              <a:rPr lang="en-US" sz="2400" dirty="0"/>
              <a:t> </a:t>
            </a:r>
            <a:r>
              <a:rPr lang="en-US" sz="2400" dirty="0" err="1"/>
              <a:t>chỉnh</a:t>
            </a:r>
            <a:r>
              <a:rPr lang="en-US" sz="2400" dirty="0"/>
              <a:t> </a:t>
            </a:r>
            <a:r>
              <a:rPr lang="en-US" sz="2400" dirty="0" err="1"/>
              <a:t>mô</a:t>
            </a:r>
            <a:r>
              <a:rPr lang="en-US" sz="2400" dirty="0"/>
              <a:t> </a:t>
            </a:r>
            <a:r>
              <a:rPr lang="en-US" sz="2400" dirty="0" err="1" smtClean="0"/>
              <a:t>hình</a:t>
            </a:r>
            <a:endParaRPr lang="en-US" sz="2400" dirty="0" smtClean="0"/>
          </a:p>
          <a:p>
            <a:pPr lvl="1"/>
            <a:r>
              <a:rPr lang="en-US" sz="2400" dirty="0" err="1" smtClean="0"/>
              <a:t>Tinh</a:t>
            </a:r>
            <a:r>
              <a:rPr lang="en-US" sz="2400" dirty="0" smtClean="0"/>
              <a:t> </a:t>
            </a:r>
            <a:r>
              <a:rPr lang="en-US" sz="2400" dirty="0" err="1" smtClean="0"/>
              <a:t>chỉnh</a:t>
            </a:r>
            <a:r>
              <a:rPr lang="en-US" sz="2400" dirty="0" smtClean="0"/>
              <a:t> </a:t>
            </a:r>
            <a:r>
              <a:rPr lang="en-US" sz="2400" dirty="0" err="1" smtClean="0"/>
              <a:t>tham</a:t>
            </a:r>
            <a:r>
              <a:rPr lang="en-US" sz="2400" dirty="0" smtClean="0"/>
              <a:t> </a:t>
            </a:r>
            <a:r>
              <a:rPr lang="en-US" sz="2400" dirty="0" err="1" smtClean="0"/>
              <a:t>số</a:t>
            </a:r>
            <a:r>
              <a:rPr lang="en-US" sz="2400" dirty="0" smtClean="0"/>
              <a:t> (</a:t>
            </a:r>
            <a:r>
              <a:rPr lang="en-US" sz="2400" dirty="0" err="1" smtClean="0"/>
              <a:t>nếu</a:t>
            </a:r>
            <a:r>
              <a:rPr lang="en-US" sz="2400" dirty="0" smtClean="0"/>
              <a:t> </a:t>
            </a:r>
            <a:r>
              <a:rPr lang="en-US" sz="2400" dirty="0" err="1" smtClean="0"/>
              <a:t>cần</a:t>
            </a:r>
            <a:r>
              <a:rPr lang="en-US" sz="2400" dirty="0" smtClean="0"/>
              <a:t>)</a:t>
            </a:r>
            <a:endParaRPr lang="en-US" sz="2400" dirty="0"/>
          </a:p>
          <a:p>
            <a:r>
              <a:rPr lang="en-US" sz="2400" dirty="0" err="1"/>
              <a:t>Bước</a:t>
            </a:r>
            <a:r>
              <a:rPr lang="en-US" sz="2400" dirty="0"/>
              <a:t> 7: </a:t>
            </a:r>
            <a:r>
              <a:rPr lang="en-US" sz="2400" dirty="0" err="1"/>
              <a:t>Trình</a:t>
            </a:r>
            <a:r>
              <a:rPr lang="en-US" sz="2400" dirty="0"/>
              <a:t> </a:t>
            </a:r>
            <a:r>
              <a:rPr lang="en-US" sz="2400" dirty="0" err="1"/>
              <a:t>bày</a:t>
            </a:r>
            <a:r>
              <a:rPr lang="en-US" sz="2400" dirty="0"/>
              <a:t> </a:t>
            </a:r>
            <a:r>
              <a:rPr lang="en-US" sz="2400" dirty="0" err="1"/>
              <a:t>kết</a:t>
            </a:r>
            <a:r>
              <a:rPr lang="en-US" sz="2400" dirty="0"/>
              <a:t> </a:t>
            </a:r>
            <a:r>
              <a:rPr lang="en-US" sz="2400" dirty="0" err="1" smtClean="0"/>
              <a:t>quả</a:t>
            </a:r>
            <a:endParaRPr lang="en-US" sz="2400" dirty="0" smtClean="0"/>
          </a:p>
          <a:p>
            <a:pPr lvl="1"/>
            <a:r>
              <a:rPr lang="en-US" sz="2400" dirty="0" err="1" smtClean="0"/>
              <a:t>Viết</a:t>
            </a:r>
            <a:r>
              <a:rPr lang="en-US" sz="2400" dirty="0" smtClean="0"/>
              <a:t> </a:t>
            </a:r>
            <a:r>
              <a:rPr lang="en-US" sz="2400" dirty="0" err="1" smtClean="0"/>
              <a:t>báo</a:t>
            </a:r>
            <a:r>
              <a:rPr lang="en-US" sz="2400" dirty="0" smtClean="0"/>
              <a:t> </a:t>
            </a:r>
            <a:r>
              <a:rPr lang="en-US" sz="2400" dirty="0" err="1" smtClean="0"/>
              <a:t>cáo</a:t>
            </a:r>
            <a:r>
              <a:rPr lang="en-US" sz="2400" dirty="0" smtClean="0"/>
              <a:t> </a:t>
            </a:r>
            <a:r>
              <a:rPr lang="en-US" sz="2400" dirty="0" err="1" smtClean="0"/>
              <a:t>tổng</a:t>
            </a:r>
            <a:r>
              <a:rPr lang="en-US" sz="2400" dirty="0" smtClean="0"/>
              <a:t> </a:t>
            </a:r>
            <a:r>
              <a:rPr lang="en-US" sz="2400" dirty="0" err="1" smtClean="0"/>
              <a:t>kết</a:t>
            </a:r>
            <a:endParaRPr lang="en-US" sz="2400" dirty="0" smtClean="0"/>
          </a:p>
          <a:p>
            <a:pPr lvl="1"/>
            <a:r>
              <a:rPr lang="en-US" sz="2400" dirty="0" err="1" smtClean="0"/>
              <a:t>Trình</a:t>
            </a:r>
            <a:r>
              <a:rPr lang="en-US" sz="2400" dirty="0" smtClean="0"/>
              <a:t> </a:t>
            </a:r>
            <a:r>
              <a:rPr lang="en-US" sz="2400" dirty="0" err="1" smtClean="0"/>
              <a:t>bày</a:t>
            </a:r>
            <a:r>
              <a:rPr lang="en-US" sz="2400" dirty="0" smtClean="0"/>
              <a:t> </a:t>
            </a:r>
            <a:r>
              <a:rPr lang="en-US" sz="2400" dirty="0" err="1" smtClean="0"/>
              <a:t>kết</a:t>
            </a:r>
            <a:r>
              <a:rPr lang="en-US" sz="2400" dirty="0" smtClean="0"/>
              <a:t> </a:t>
            </a:r>
            <a:r>
              <a:rPr lang="en-US" sz="2400" dirty="0" err="1" smtClean="0"/>
              <a:t>quả</a:t>
            </a:r>
            <a:endParaRPr lang="en-US" sz="2400" dirty="0"/>
          </a:p>
          <a:p>
            <a:r>
              <a:rPr lang="en-US" sz="2400" dirty="0" err="1"/>
              <a:t>Bước</a:t>
            </a:r>
            <a:r>
              <a:rPr lang="en-US" sz="2400" dirty="0"/>
              <a:t> 8: </a:t>
            </a:r>
            <a:r>
              <a:rPr lang="en-US" sz="2400" dirty="0" err="1"/>
              <a:t>Triển</a:t>
            </a:r>
            <a:r>
              <a:rPr lang="en-US" sz="2400" dirty="0"/>
              <a:t> </a:t>
            </a:r>
            <a:r>
              <a:rPr lang="en-US" sz="2400" dirty="0" err="1"/>
              <a:t>khai</a:t>
            </a:r>
            <a:r>
              <a:rPr lang="en-US" sz="2400" dirty="0"/>
              <a:t> </a:t>
            </a:r>
            <a:r>
              <a:rPr lang="en-US" sz="2400" dirty="0" err="1"/>
              <a:t>hệ</a:t>
            </a:r>
            <a:r>
              <a:rPr lang="en-US" sz="2400" dirty="0"/>
              <a:t> </a:t>
            </a:r>
            <a:r>
              <a:rPr lang="en-US" sz="2400" dirty="0" err="1" smtClean="0"/>
              <a:t>thống</a:t>
            </a:r>
            <a:endParaRPr lang="en-US" sz="2400" dirty="0" smtClean="0"/>
          </a:p>
          <a:p>
            <a:pPr lvl="1"/>
            <a:r>
              <a:rPr lang="en-US" sz="2400" dirty="0" err="1" smtClean="0"/>
              <a:t>Triển</a:t>
            </a:r>
            <a:r>
              <a:rPr lang="en-US" sz="2400" dirty="0" smtClean="0"/>
              <a:t> </a:t>
            </a:r>
            <a:r>
              <a:rPr lang="en-US" sz="2400" dirty="0" err="1" smtClean="0"/>
              <a:t>khai</a:t>
            </a:r>
            <a:r>
              <a:rPr lang="en-US" sz="2400" dirty="0" smtClean="0"/>
              <a:t> demo </a:t>
            </a:r>
            <a:r>
              <a:rPr lang="en-US" sz="2400" dirty="0" err="1" smtClean="0"/>
              <a:t>hệ</a:t>
            </a:r>
            <a:r>
              <a:rPr lang="en-US" sz="2400" dirty="0" smtClean="0"/>
              <a:t> </a:t>
            </a:r>
            <a:r>
              <a:rPr lang="en-US" sz="2400" dirty="0" err="1" smtClean="0"/>
              <a:t>thống</a:t>
            </a:r>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329831236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DỰ ÁN 3: PHÂN CỤM DỮ LIỆU</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77500" lnSpcReduction="20000"/>
          </a:bodyPr>
          <a:lstStyle/>
          <a:p>
            <a:r>
              <a:rPr lang="en-US" dirty="0" err="1"/>
              <a:t>Bước</a:t>
            </a:r>
            <a:r>
              <a:rPr lang="en-US" dirty="0"/>
              <a:t> 1: </a:t>
            </a:r>
            <a:r>
              <a:rPr lang="en-US" dirty="0" err="1"/>
              <a:t>Xác</a:t>
            </a:r>
            <a:r>
              <a:rPr lang="en-US" dirty="0"/>
              <a:t> </a:t>
            </a:r>
            <a:r>
              <a:rPr lang="en-US" dirty="0" err="1"/>
              <a:t>định</a:t>
            </a:r>
            <a:r>
              <a:rPr lang="en-US" dirty="0"/>
              <a:t> </a:t>
            </a:r>
            <a:r>
              <a:rPr lang="en-US" dirty="0" err="1"/>
              <a:t>vấn</a:t>
            </a:r>
            <a:r>
              <a:rPr lang="en-US" dirty="0"/>
              <a:t> </a:t>
            </a:r>
            <a:r>
              <a:rPr lang="en-US" dirty="0" err="1"/>
              <a:t>đề</a:t>
            </a:r>
            <a:endParaRPr lang="en-US" dirty="0"/>
          </a:p>
          <a:p>
            <a:r>
              <a:rPr lang="en-US" dirty="0" err="1" smtClean="0"/>
              <a:t>Bước</a:t>
            </a:r>
            <a:r>
              <a:rPr lang="en-US" dirty="0" smtClean="0"/>
              <a:t> </a:t>
            </a:r>
            <a:r>
              <a:rPr lang="en-US" dirty="0"/>
              <a:t>2: Thu </a:t>
            </a:r>
            <a:r>
              <a:rPr lang="en-US" dirty="0" err="1"/>
              <a:t>thập</a:t>
            </a:r>
            <a:r>
              <a:rPr lang="en-US" dirty="0"/>
              <a:t> </a:t>
            </a:r>
            <a:r>
              <a:rPr lang="en-US" dirty="0" err="1"/>
              <a:t>dữ</a:t>
            </a:r>
            <a:r>
              <a:rPr lang="en-US" dirty="0"/>
              <a:t> </a:t>
            </a:r>
            <a:r>
              <a:rPr lang="en-US" dirty="0" err="1" smtClean="0"/>
              <a:t>liệu</a:t>
            </a:r>
            <a:endParaRPr lang="en-US" dirty="0" smtClean="0"/>
          </a:p>
          <a:p>
            <a:endParaRPr lang="en-US" dirty="0"/>
          </a:p>
          <a:p>
            <a:r>
              <a:rPr lang="en-US" dirty="0" err="1" smtClean="0">
                <a:solidFill>
                  <a:srgbClr val="FF0000"/>
                </a:solidFill>
              </a:rPr>
              <a:t>Bước</a:t>
            </a:r>
            <a:r>
              <a:rPr lang="en-US" dirty="0" smtClean="0">
                <a:solidFill>
                  <a:srgbClr val="FF0000"/>
                </a:solidFill>
              </a:rPr>
              <a:t> </a:t>
            </a:r>
            <a:r>
              <a:rPr lang="en-US" dirty="0">
                <a:solidFill>
                  <a:srgbClr val="FF0000"/>
                </a:solidFill>
              </a:rPr>
              <a:t>3: </a:t>
            </a:r>
            <a:r>
              <a:rPr lang="en-US" dirty="0" err="1">
                <a:solidFill>
                  <a:srgbClr val="FF0000"/>
                </a:solidFill>
              </a:rPr>
              <a:t>Khám</a:t>
            </a:r>
            <a:r>
              <a:rPr lang="en-US" dirty="0">
                <a:solidFill>
                  <a:srgbClr val="FF0000"/>
                </a:solidFill>
              </a:rPr>
              <a:t> </a:t>
            </a:r>
            <a:r>
              <a:rPr lang="en-US" dirty="0" err="1">
                <a:solidFill>
                  <a:srgbClr val="FF0000"/>
                </a:solidFill>
              </a:rPr>
              <a:t>phá</a:t>
            </a:r>
            <a:r>
              <a:rPr lang="en-US" dirty="0">
                <a:solidFill>
                  <a:srgbClr val="FF0000"/>
                </a:solidFill>
              </a:rPr>
              <a:t> </a:t>
            </a:r>
            <a:r>
              <a:rPr lang="en-US" dirty="0" err="1">
                <a:solidFill>
                  <a:srgbClr val="FF0000"/>
                </a:solidFill>
              </a:rPr>
              <a:t>dữ</a:t>
            </a:r>
            <a:r>
              <a:rPr lang="en-US" dirty="0">
                <a:solidFill>
                  <a:srgbClr val="FF0000"/>
                </a:solidFill>
              </a:rPr>
              <a:t> </a:t>
            </a:r>
            <a:r>
              <a:rPr lang="en-US" dirty="0" err="1">
                <a:solidFill>
                  <a:srgbClr val="FF0000"/>
                </a:solidFill>
              </a:rPr>
              <a:t>liệu</a:t>
            </a:r>
            <a:endParaRPr lang="en-US" dirty="0">
              <a:solidFill>
                <a:srgbClr val="FF0000"/>
              </a:solidFill>
            </a:endParaRPr>
          </a:p>
          <a:p>
            <a:r>
              <a:rPr lang="en-US" dirty="0" err="1">
                <a:solidFill>
                  <a:srgbClr val="FF0000"/>
                </a:solidFill>
              </a:rPr>
              <a:t>Bước</a:t>
            </a:r>
            <a:r>
              <a:rPr lang="en-US" dirty="0">
                <a:solidFill>
                  <a:srgbClr val="FF0000"/>
                </a:solidFill>
              </a:rPr>
              <a:t> 4: </a:t>
            </a:r>
            <a:r>
              <a:rPr lang="en-US" dirty="0" err="1">
                <a:solidFill>
                  <a:srgbClr val="FF0000"/>
                </a:solidFill>
              </a:rPr>
              <a:t>Xử</a:t>
            </a:r>
            <a:r>
              <a:rPr lang="en-US" dirty="0">
                <a:solidFill>
                  <a:srgbClr val="FF0000"/>
                </a:solidFill>
              </a:rPr>
              <a:t> </a:t>
            </a:r>
            <a:r>
              <a:rPr lang="en-US" dirty="0" err="1">
                <a:solidFill>
                  <a:srgbClr val="FF0000"/>
                </a:solidFill>
              </a:rPr>
              <a:t>lý</a:t>
            </a:r>
            <a:r>
              <a:rPr lang="en-US" dirty="0">
                <a:solidFill>
                  <a:srgbClr val="FF0000"/>
                </a:solidFill>
              </a:rPr>
              <a:t> </a:t>
            </a:r>
            <a:r>
              <a:rPr lang="en-US" dirty="0" err="1">
                <a:solidFill>
                  <a:srgbClr val="FF0000"/>
                </a:solidFill>
              </a:rPr>
              <a:t>dữ</a:t>
            </a:r>
            <a:r>
              <a:rPr lang="en-US" dirty="0">
                <a:solidFill>
                  <a:srgbClr val="FF0000"/>
                </a:solidFill>
              </a:rPr>
              <a:t> </a:t>
            </a:r>
            <a:r>
              <a:rPr lang="en-US" dirty="0" err="1">
                <a:solidFill>
                  <a:srgbClr val="FF0000"/>
                </a:solidFill>
              </a:rPr>
              <a:t>liệu</a:t>
            </a:r>
            <a:endParaRPr lang="en-US" dirty="0">
              <a:solidFill>
                <a:srgbClr val="FF0000"/>
              </a:solidFill>
            </a:endParaRPr>
          </a:p>
          <a:p>
            <a:endParaRPr lang="en-US" dirty="0"/>
          </a:p>
          <a:p>
            <a:r>
              <a:rPr lang="en-US" dirty="0" err="1">
                <a:solidFill>
                  <a:srgbClr val="0000CC"/>
                </a:solidFill>
              </a:rPr>
              <a:t>Bước</a:t>
            </a:r>
            <a:r>
              <a:rPr lang="en-US" dirty="0">
                <a:solidFill>
                  <a:srgbClr val="0000CC"/>
                </a:solidFill>
              </a:rPr>
              <a:t> 5: </a:t>
            </a:r>
            <a:r>
              <a:rPr lang="en-US" dirty="0" err="1">
                <a:solidFill>
                  <a:srgbClr val="0000CC"/>
                </a:solidFill>
              </a:rPr>
              <a:t>Lựa</a:t>
            </a:r>
            <a:r>
              <a:rPr lang="en-US" dirty="0">
                <a:solidFill>
                  <a:srgbClr val="0000CC"/>
                </a:solidFill>
              </a:rPr>
              <a:t> </a:t>
            </a:r>
            <a:r>
              <a:rPr lang="en-US" dirty="0" err="1">
                <a:solidFill>
                  <a:srgbClr val="0000CC"/>
                </a:solidFill>
              </a:rPr>
              <a:t>chọn</a:t>
            </a:r>
            <a:r>
              <a:rPr lang="en-US" dirty="0">
                <a:solidFill>
                  <a:srgbClr val="0000CC"/>
                </a:solidFill>
              </a:rPr>
              <a:t> </a:t>
            </a:r>
            <a:r>
              <a:rPr lang="en-US" dirty="0" err="1">
                <a:solidFill>
                  <a:srgbClr val="0000CC"/>
                </a:solidFill>
              </a:rPr>
              <a:t>mô</a:t>
            </a:r>
            <a:r>
              <a:rPr lang="en-US" dirty="0">
                <a:solidFill>
                  <a:srgbClr val="0000CC"/>
                </a:solidFill>
              </a:rPr>
              <a:t> </a:t>
            </a:r>
            <a:r>
              <a:rPr lang="en-US" dirty="0" err="1">
                <a:solidFill>
                  <a:srgbClr val="0000CC"/>
                </a:solidFill>
              </a:rPr>
              <a:t>hình</a:t>
            </a:r>
            <a:endParaRPr lang="en-US" dirty="0">
              <a:solidFill>
                <a:srgbClr val="0000CC"/>
              </a:solidFill>
            </a:endParaRPr>
          </a:p>
          <a:p>
            <a:r>
              <a:rPr lang="en-US" dirty="0" err="1">
                <a:solidFill>
                  <a:srgbClr val="0000CC"/>
                </a:solidFill>
              </a:rPr>
              <a:t>Bước</a:t>
            </a:r>
            <a:r>
              <a:rPr lang="en-US" dirty="0">
                <a:solidFill>
                  <a:srgbClr val="0000CC"/>
                </a:solidFill>
              </a:rPr>
              <a:t> 6: </a:t>
            </a:r>
            <a:r>
              <a:rPr lang="en-US" dirty="0" err="1">
                <a:solidFill>
                  <a:srgbClr val="0000CC"/>
                </a:solidFill>
              </a:rPr>
              <a:t>Tinh</a:t>
            </a:r>
            <a:r>
              <a:rPr lang="en-US" dirty="0">
                <a:solidFill>
                  <a:srgbClr val="0000CC"/>
                </a:solidFill>
              </a:rPr>
              <a:t> </a:t>
            </a:r>
            <a:r>
              <a:rPr lang="en-US" dirty="0" err="1">
                <a:solidFill>
                  <a:srgbClr val="0000CC"/>
                </a:solidFill>
              </a:rPr>
              <a:t>chỉnh</a:t>
            </a:r>
            <a:r>
              <a:rPr lang="en-US" dirty="0">
                <a:solidFill>
                  <a:srgbClr val="0000CC"/>
                </a:solidFill>
              </a:rPr>
              <a:t> </a:t>
            </a:r>
            <a:r>
              <a:rPr lang="en-US" dirty="0" err="1">
                <a:solidFill>
                  <a:srgbClr val="0000CC"/>
                </a:solidFill>
              </a:rPr>
              <a:t>mô</a:t>
            </a:r>
            <a:r>
              <a:rPr lang="en-US" dirty="0">
                <a:solidFill>
                  <a:srgbClr val="0000CC"/>
                </a:solidFill>
              </a:rPr>
              <a:t> </a:t>
            </a:r>
            <a:r>
              <a:rPr lang="en-US" dirty="0" err="1" smtClean="0">
                <a:solidFill>
                  <a:srgbClr val="0000CC"/>
                </a:solidFill>
              </a:rPr>
              <a:t>hình</a:t>
            </a:r>
            <a:endParaRPr lang="en-US" dirty="0" smtClean="0">
              <a:solidFill>
                <a:srgbClr val="0000CC"/>
              </a:solidFill>
            </a:endParaRPr>
          </a:p>
          <a:p>
            <a:endParaRPr lang="en-US" dirty="0">
              <a:solidFill>
                <a:srgbClr val="0000CC"/>
              </a:solidFill>
            </a:endParaRPr>
          </a:p>
          <a:p>
            <a:r>
              <a:rPr lang="en-US" dirty="0" err="1"/>
              <a:t>Bước</a:t>
            </a:r>
            <a:r>
              <a:rPr lang="en-US" dirty="0"/>
              <a:t> 7: </a:t>
            </a:r>
            <a:r>
              <a:rPr lang="en-US" dirty="0" err="1"/>
              <a:t>Trình</a:t>
            </a:r>
            <a:r>
              <a:rPr lang="en-US" dirty="0"/>
              <a:t> </a:t>
            </a:r>
            <a:r>
              <a:rPr lang="en-US" dirty="0" err="1"/>
              <a:t>bày</a:t>
            </a:r>
            <a:r>
              <a:rPr lang="en-US" dirty="0"/>
              <a:t> </a:t>
            </a:r>
            <a:r>
              <a:rPr lang="en-US" dirty="0" err="1"/>
              <a:t>kết</a:t>
            </a:r>
            <a:r>
              <a:rPr lang="en-US" dirty="0"/>
              <a:t> </a:t>
            </a:r>
            <a:r>
              <a:rPr lang="en-US" dirty="0" err="1"/>
              <a:t>quả</a:t>
            </a:r>
            <a:endParaRPr lang="en-US" dirty="0"/>
          </a:p>
          <a:p>
            <a:r>
              <a:rPr lang="en-US" dirty="0" err="1"/>
              <a:t>Bước</a:t>
            </a:r>
            <a:r>
              <a:rPr lang="en-US" dirty="0"/>
              <a:t> 8: </a:t>
            </a:r>
            <a:r>
              <a:rPr lang="en-US" dirty="0" err="1"/>
              <a:t>Triển</a:t>
            </a:r>
            <a:r>
              <a:rPr lang="en-US" dirty="0"/>
              <a:t> </a:t>
            </a:r>
            <a:r>
              <a:rPr lang="en-US" dirty="0" err="1"/>
              <a:t>khai</a:t>
            </a:r>
            <a:r>
              <a:rPr lang="en-US" dirty="0"/>
              <a:t> </a:t>
            </a:r>
            <a:r>
              <a:rPr lang="en-US" dirty="0" err="1"/>
              <a:t>hệ</a:t>
            </a:r>
            <a:r>
              <a:rPr lang="en-US" dirty="0"/>
              <a:t> </a:t>
            </a:r>
            <a:r>
              <a:rPr lang="en-US" dirty="0" err="1"/>
              <a:t>thống</a:t>
            </a:r>
            <a:endParaRPr lang="en-US" dirty="0"/>
          </a:p>
          <a:p>
            <a:endParaRPr lang="en-US" dirty="0"/>
          </a:p>
          <a:p>
            <a:endParaRPr lang="en-US" dirty="0"/>
          </a:p>
          <a:p>
            <a:endParaRPr lang="en-US" dirty="0"/>
          </a:p>
          <a:p>
            <a:endParaRPr lang="en-US" dirty="0"/>
          </a:p>
          <a:p>
            <a:endParaRPr lang="en-US" dirty="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Tree>
    <p:extLst>
      <p:ext uri="{BB962C8B-B14F-4D97-AF65-F5344CB8AC3E}">
        <p14:creationId xmlns:p14="http://schemas.microsoft.com/office/powerpoint/2010/main" val="191600605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DỮ LIỆU: IRIS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graphicFrame>
        <p:nvGraphicFramePr>
          <p:cNvPr id="7" name="Object 6"/>
          <p:cNvGraphicFramePr>
            <a:graphicFrameLocks noChangeAspect="1"/>
          </p:cNvGraphicFramePr>
          <p:nvPr>
            <p:extLst>
              <p:ext uri="{D42A27DB-BD31-4B8C-83A1-F6EECF244321}">
                <p14:modId xmlns:p14="http://schemas.microsoft.com/office/powerpoint/2010/main" val="611837474"/>
              </p:ext>
            </p:extLst>
          </p:nvPr>
        </p:nvGraphicFramePr>
        <p:xfrm>
          <a:off x="1398993" y="2136775"/>
          <a:ext cx="10412007" cy="3380630"/>
        </p:xfrm>
        <a:graphic>
          <a:graphicData uri="http://schemas.openxmlformats.org/presentationml/2006/ole">
            <mc:AlternateContent xmlns:mc="http://schemas.openxmlformats.org/markup-compatibility/2006">
              <mc:Choice xmlns:v="urn:schemas-microsoft-com:vml" Requires="v">
                <p:oleObj spid="_x0000_s1049" name="Bitmap Image" r:id="rId3" imgW="7955280" imgH="2583360" progId="Paint.Picture.1">
                  <p:embed/>
                </p:oleObj>
              </mc:Choice>
              <mc:Fallback>
                <p:oleObj name="Bitmap Image" r:id="rId3" imgW="7955280" imgH="2583360" progId="Paint.Picture.1">
                  <p:embed/>
                  <p:pic>
                    <p:nvPicPr>
                      <p:cNvPr id="0" name=""/>
                      <p:cNvPicPr/>
                      <p:nvPr/>
                    </p:nvPicPr>
                    <p:blipFill>
                      <a:blip r:embed="rId4"/>
                      <a:stretch>
                        <a:fillRect/>
                      </a:stretch>
                    </p:blipFill>
                    <p:spPr>
                      <a:xfrm>
                        <a:off x="1398993" y="2136775"/>
                        <a:ext cx="10412007" cy="3380630"/>
                      </a:xfrm>
                      <a:prstGeom prst="rect">
                        <a:avLst/>
                      </a:prstGeom>
                    </p:spPr>
                  </p:pic>
                </p:oleObj>
              </mc:Fallback>
            </mc:AlternateContent>
          </a:graphicData>
        </a:graphic>
      </p:graphicFrame>
    </p:spTree>
    <p:extLst>
      <p:ext uri="{BB962C8B-B14F-4D97-AF65-F5344CB8AC3E}">
        <p14:creationId xmlns:p14="http://schemas.microsoft.com/office/powerpoint/2010/main" val="1893600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MỘT SỐ CÔNG CỤ SỬ DỤNG</a:t>
            </a:r>
            <a:endParaRPr lang="en-US" dirty="0"/>
          </a:p>
        </p:txBody>
      </p:sp>
      <p:sp>
        <p:nvSpPr>
          <p:cNvPr id="3" name="Content Placeholder 2"/>
          <p:cNvSpPr>
            <a:spLocks noGrp="1"/>
          </p:cNvSpPr>
          <p:nvPr>
            <p:ph idx="1"/>
          </p:nvPr>
        </p:nvSpPr>
        <p:spPr/>
        <p:txBody>
          <a:bodyPr/>
          <a:lstStyle/>
          <a:p>
            <a:r>
              <a:rPr lang="en-US" dirty="0" err="1" smtClean="0"/>
              <a:t>Skimage</a:t>
            </a:r>
            <a:endParaRPr lang="en-US" dirty="0" smtClean="0"/>
          </a:p>
          <a:p>
            <a:r>
              <a:rPr lang="en-US" dirty="0" err="1" smtClean="0"/>
              <a:t>Sklearn</a:t>
            </a:r>
            <a:endParaRPr lang="en-US" dirty="0" smtClean="0"/>
          </a:p>
          <a:p>
            <a:r>
              <a:rPr lang="en-US" dirty="0" err="1" smtClean="0"/>
              <a:t>Matplotlib</a:t>
            </a:r>
            <a:endParaRPr lang="en-US" dirty="0" smtClean="0"/>
          </a:p>
          <a:p>
            <a:r>
              <a:rPr lang="en-US" dirty="0" err="1" smtClean="0"/>
              <a:t>Numpy</a:t>
            </a:r>
            <a:endParaRPr lang="en-US" dirty="0" smtClean="0"/>
          </a:p>
          <a:p>
            <a:r>
              <a:rPr lang="en-US" dirty="0" smtClean="0"/>
              <a:t>Pandas</a:t>
            </a:r>
          </a:p>
          <a:p>
            <a:r>
              <a:rPr lang="en-US" dirty="0" smtClean="0"/>
              <a:t>PIL</a:t>
            </a:r>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2195388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nvPr>
        </p:nvGraphicFramePr>
        <p:xfrm>
          <a:off x="1328738" y="2451818"/>
          <a:ext cx="10634662" cy="2822726"/>
        </p:xfrm>
        <a:graphic>
          <a:graphicData uri="http://schemas.openxmlformats.org/drawingml/2006/table">
            <a:tbl>
              <a:tblPr/>
              <a:tblGrid>
                <a:gridCol w="5317331">
                  <a:extLst>
                    <a:ext uri="{9D8B030D-6E8A-4147-A177-3AD203B41FA5}">
                      <a16:colId xmlns:a16="http://schemas.microsoft.com/office/drawing/2014/main" val="1014814062"/>
                    </a:ext>
                  </a:extLst>
                </a:gridCol>
                <a:gridCol w="5317331">
                  <a:extLst>
                    <a:ext uri="{9D8B030D-6E8A-4147-A177-3AD203B41FA5}">
                      <a16:colId xmlns:a16="http://schemas.microsoft.com/office/drawing/2014/main" val="1477803059"/>
                    </a:ext>
                  </a:extLst>
                </a:gridCol>
              </a:tblGrid>
              <a:tr h="358955">
                <a:tc>
                  <a:txBody>
                    <a:bodyPr/>
                    <a:lstStyle/>
                    <a:p>
                      <a:r>
                        <a:rPr lang="en-US" sz="1800" u="none" strike="noStrike">
                          <a:solidFill>
                            <a:srgbClr val="2878A2"/>
                          </a:solidFill>
                          <a:effectLst/>
                          <a:hlinkClick r:id="rId2" tooltip="sklearn.linear_model.LogisticRegression"/>
                        </a:rPr>
                        <a:t>linear_model.LogisticRegression</a:t>
                      </a:r>
                      <a:r>
                        <a:rPr lang="en-US" sz="1800">
                          <a:effectLst/>
                        </a:rPr>
                        <a:t>([penalty, …])</a:t>
                      </a:r>
                    </a:p>
                  </a:txBody>
                  <a:tcPr marL="89739" marR="89739" marT="44869" marB="4486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0F7FA"/>
                    </a:solidFill>
                  </a:tcPr>
                </a:tc>
                <a:tc>
                  <a:txBody>
                    <a:bodyPr/>
                    <a:lstStyle/>
                    <a:p>
                      <a:r>
                        <a:rPr lang="fr-FR" sz="1800">
                          <a:effectLst/>
                        </a:rPr>
                        <a:t>Logistic Regression (aka logit, MaxEnt) classifier.</a:t>
                      </a:r>
                    </a:p>
                  </a:txBody>
                  <a:tcPr marL="89739" marR="89739" marT="44869" marB="4486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0F7FA"/>
                    </a:solidFill>
                  </a:tcPr>
                </a:tc>
                <a:extLst>
                  <a:ext uri="{0D108BD9-81ED-4DB2-BD59-A6C34878D82A}">
                    <a16:rowId xmlns:a16="http://schemas.microsoft.com/office/drawing/2014/main" val="266274323"/>
                  </a:ext>
                </a:extLst>
              </a:tr>
              <a:tr h="358955">
                <a:tc>
                  <a:txBody>
                    <a:bodyPr/>
                    <a:lstStyle/>
                    <a:p>
                      <a:r>
                        <a:rPr lang="en-US" sz="1800" u="sng">
                          <a:solidFill>
                            <a:srgbClr val="0056B3"/>
                          </a:solidFill>
                          <a:effectLst/>
                          <a:hlinkClick r:id="rId3" tooltip="sklearn.linear_model.LogisticRegressionCV"/>
                        </a:rPr>
                        <a:t>linear_model.LogisticRegressionCV</a:t>
                      </a:r>
                      <a:r>
                        <a:rPr lang="en-US" sz="1800">
                          <a:effectLst/>
                        </a:rPr>
                        <a:t>(*[, Cs, …])</a:t>
                      </a:r>
                    </a:p>
                  </a:txBody>
                  <a:tcPr marL="89739" marR="89739" marT="44869" marB="4486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r>
                        <a:rPr lang="fr-FR" sz="1800">
                          <a:effectLst/>
                        </a:rPr>
                        <a:t>Logistic Regression CV (aka logit, MaxEnt) classifier.</a:t>
                      </a:r>
                    </a:p>
                  </a:txBody>
                  <a:tcPr marL="89739" marR="89739" marT="44869" marB="4486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931983887"/>
                  </a:ext>
                </a:extLst>
              </a:tr>
              <a:tr h="358955">
                <a:tc>
                  <a:txBody>
                    <a:bodyPr/>
                    <a:lstStyle/>
                    <a:p>
                      <a:r>
                        <a:rPr lang="en-US" sz="1800" u="none" strike="noStrike">
                          <a:solidFill>
                            <a:srgbClr val="2878A2"/>
                          </a:solidFill>
                          <a:effectLst/>
                          <a:hlinkClick r:id="rId4" tooltip="sklearn.linear_model.PassiveAggressiveClassifier"/>
                        </a:rPr>
                        <a:t>linear_model.PassiveAggressiveClassifier</a:t>
                      </a:r>
                      <a:r>
                        <a:rPr lang="en-US" sz="1800">
                          <a:effectLst/>
                        </a:rPr>
                        <a:t>(*)</a:t>
                      </a:r>
                    </a:p>
                  </a:txBody>
                  <a:tcPr marL="89739" marR="89739" marT="44869" marB="4486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0F7FA"/>
                    </a:solidFill>
                  </a:tcPr>
                </a:tc>
                <a:tc>
                  <a:txBody>
                    <a:bodyPr/>
                    <a:lstStyle/>
                    <a:p>
                      <a:r>
                        <a:rPr lang="en-US" sz="1800">
                          <a:effectLst/>
                        </a:rPr>
                        <a:t>Passive Aggressive Classifier</a:t>
                      </a:r>
                    </a:p>
                  </a:txBody>
                  <a:tcPr marL="89739" marR="89739" marT="44869" marB="4486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0F7FA"/>
                    </a:solidFill>
                  </a:tcPr>
                </a:tc>
                <a:extLst>
                  <a:ext uri="{0D108BD9-81ED-4DB2-BD59-A6C34878D82A}">
                    <a16:rowId xmlns:a16="http://schemas.microsoft.com/office/drawing/2014/main" val="2657859321"/>
                  </a:ext>
                </a:extLst>
              </a:tr>
              <a:tr h="358955">
                <a:tc>
                  <a:txBody>
                    <a:bodyPr/>
                    <a:lstStyle/>
                    <a:p>
                      <a:r>
                        <a:rPr lang="en-US" sz="1800" u="none" strike="noStrike">
                          <a:solidFill>
                            <a:srgbClr val="2878A2"/>
                          </a:solidFill>
                          <a:effectLst/>
                          <a:hlinkClick r:id="rId5" tooltip="sklearn.linear_model.Perceptron"/>
                        </a:rPr>
                        <a:t>linear_model.Perceptron</a:t>
                      </a:r>
                      <a:r>
                        <a:rPr lang="en-US" sz="1800">
                          <a:effectLst/>
                        </a:rPr>
                        <a:t>(*[, penalty, alpha, …])</a:t>
                      </a:r>
                    </a:p>
                  </a:txBody>
                  <a:tcPr marL="89739" marR="89739" marT="44869" marB="4486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r>
                        <a:rPr lang="en-US" sz="1800">
                          <a:effectLst/>
                        </a:rPr>
                        <a:t>Read more in the </a:t>
                      </a:r>
                      <a:r>
                        <a:rPr lang="en-US" sz="1800" u="none" strike="noStrike">
                          <a:solidFill>
                            <a:srgbClr val="2878A2"/>
                          </a:solidFill>
                          <a:effectLst/>
                          <a:hlinkClick r:id="rId6"/>
                        </a:rPr>
                        <a:t>User Guide</a:t>
                      </a:r>
                      <a:r>
                        <a:rPr lang="en-US" sz="1800">
                          <a:effectLst/>
                        </a:rPr>
                        <a:t>.</a:t>
                      </a:r>
                    </a:p>
                  </a:txBody>
                  <a:tcPr marL="89739" marR="89739" marT="44869" marB="4486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82218098"/>
                  </a:ext>
                </a:extLst>
              </a:tr>
              <a:tr h="358955">
                <a:tc>
                  <a:txBody>
                    <a:bodyPr/>
                    <a:lstStyle/>
                    <a:p>
                      <a:r>
                        <a:rPr lang="en-US" sz="1800" u="none" strike="noStrike">
                          <a:solidFill>
                            <a:srgbClr val="2878A2"/>
                          </a:solidFill>
                          <a:effectLst/>
                          <a:hlinkClick r:id="rId7" tooltip="sklearn.linear_model.RidgeClassifier"/>
                        </a:rPr>
                        <a:t>linear_model.RidgeClassifier</a:t>
                      </a:r>
                      <a:r>
                        <a:rPr lang="en-US" sz="1800">
                          <a:effectLst/>
                        </a:rPr>
                        <a:t>([alpha, …])</a:t>
                      </a:r>
                    </a:p>
                  </a:txBody>
                  <a:tcPr marL="89739" marR="89739" marT="44869" marB="4486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0F7FA"/>
                    </a:solidFill>
                  </a:tcPr>
                </a:tc>
                <a:tc>
                  <a:txBody>
                    <a:bodyPr/>
                    <a:lstStyle/>
                    <a:p>
                      <a:r>
                        <a:rPr lang="en-US" sz="1800">
                          <a:effectLst/>
                        </a:rPr>
                        <a:t>Classifier using Ridge regression.</a:t>
                      </a:r>
                    </a:p>
                  </a:txBody>
                  <a:tcPr marL="89739" marR="89739" marT="44869" marB="4486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0F7FA"/>
                    </a:solidFill>
                  </a:tcPr>
                </a:tc>
                <a:extLst>
                  <a:ext uri="{0D108BD9-81ED-4DB2-BD59-A6C34878D82A}">
                    <a16:rowId xmlns:a16="http://schemas.microsoft.com/office/drawing/2014/main" val="83256001"/>
                  </a:ext>
                </a:extLst>
              </a:tr>
              <a:tr h="358955">
                <a:tc>
                  <a:txBody>
                    <a:bodyPr/>
                    <a:lstStyle/>
                    <a:p>
                      <a:r>
                        <a:rPr lang="en-US" sz="1800" u="none" strike="noStrike">
                          <a:solidFill>
                            <a:srgbClr val="2878A2"/>
                          </a:solidFill>
                          <a:effectLst/>
                          <a:hlinkClick r:id="rId8" tooltip="sklearn.linear_model.RidgeClassifierCV"/>
                        </a:rPr>
                        <a:t>linear_model.RidgeClassifierCV</a:t>
                      </a:r>
                      <a:r>
                        <a:rPr lang="en-US" sz="1800">
                          <a:effectLst/>
                        </a:rPr>
                        <a:t>([alphas, …])</a:t>
                      </a:r>
                    </a:p>
                  </a:txBody>
                  <a:tcPr marL="89739" marR="89739" marT="44869" marB="4486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r>
                        <a:rPr lang="en-US" sz="1800">
                          <a:effectLst/>
                        </a:rPr>
                        <a:t>Ridge classifier with built-in cross-validation.</a:t>
                      </a:r>
                    </a:p>
                  </a:txBody>
                  <a:tcPr marL="89739" marR="89739" marT="44869" marB="4486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858366236"/>
                  </a:ext>
                </a:extLst>
              </a:tr>
              <a:tr h="628171">
                <a:tc>
                  <a:txBody>
                    <a:bodyPr/>
                    <a:lstStyle/>
                    <a:p>
                      <a:r>
                        <a:rPr lang="en-US" sz="1800" u="none" strike="noStrike">
                          <a:solidFill>
                            <a:srgbClr val="2878A2"/>
                          </a:solidFill>
                          <a:effectLst/>
                          <a:hlinkClick r:id="rId9" tooltip="sklearn.linear_model.SGDClassifier"/>
                        </a:rPr>
                        <a:t>linear_model.SGDClassifier</a:t>
                      </a:r>
                      <a:r>
                        <a:rPr lang="en-US" sz="1800">
                          <a:effectLst/>
                        </a:rPr>
                        <a:t>([loss, penalty, …])</a:t>
                      </a:r>
                    </a:p>
                  </a:txBody>
                  <a:tcPr marL="89739" marR="89739" marT="44869" marB="4486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0F7FA"/>
                    </a:solidFill>
                  </a:tcPr>
                </a:tc>
                <a:tc>
                  <a:txBody>
                    <a:bodyPr/>
                    <a:lstStyle/>
                    <a:p>
                      <a:r>
                        <a:rPr lang="en-US" sz="1800" dirty="0">
                          <a:effectLst/>
                        </a:rPr>
                        <a:t>Linear classifiers (SVM, logistic regression, etc.) with SGD training.</a:t>
                      </a:r>
                    </a:p>
                  </a:txBody>
                  <a:tcPr marL="89739" marR="89739" marT="44869" marB="4486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0F7FA"/>
                    </a:solidFill>
                  </a:tcPr>
                </a:tc>
                <a:extLst>
                  <a:ext uri="{0D108BD9-81ED-4DB2-BD59-A6C34878D82A}">
                    <a16:rowId xmlns:a16="http://schemas.microsoft.com/office/drawing/2014/main" val="1906286928"/>
                  </a:ext>
                </a:extLst>
              </a:tr>
            </a:tbl>
          </a:graphicData>
        </a:graphic>
      </p:graphicFrame>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
        <p:nvSpPr>
          <p:cNvPr id="8" name="Rectangle 2"/>
          <p:cNvSpPr>
            <a:spLocks noGrp="1" noChangeArrowheads="1"/>
          </p:cNvSpPr>
          <p:nvPr>
            <p:ph type="title"/>
          </p:nvPr>
        </p:nvSpPr>
        <p:spPr bwMode="auto">
          <a:xfrm>
            <a:off x="1328738" y="762000"/>
            <a:ext cx="9414934" cy="1000274"/>
          </a:xfrm>
          <a:prstGeom prst="rect">
            <a:avLst/>
          </a:prstGeom>
          <a:solidFill>
            <a:srgbClr val="BED4E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sng" strike="noStrike" normalizeH="0" baseline="0" dirty="0" err="1" smtClean="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hlinkClick r:id="rId10" tooltip="sklearn.linear_model"/>
              </a:rPr>
              <a:t>sklearn.linear_model</a:t>
            </a:r>
            <a:r>
              <a:rPr kumimoji="0" lang="en-US" altLang="en-US" i="0" u="none" strike="noStrike" normalizeH="0" baseline="0" dirty="0" smtClean="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a:t>
            </a:r>
            <a:r>
              <a:rPr kumimoji="0" lang="en-US" altLang="en-US" i="0" u="none" strike="noStrike" normalizeH="0" baseline="0" dirty="0" smtClean="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Linear Models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i="0" u="none" strike="noStrike" normalizeH="0" baseline="0" dirty="0" smtClean="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p:txBody>
      </p:sp>
      <p:sp>
        <p:nvSpPr>
          <p:cNvPr id="10" name="Rectangle 3"/>
          <p:cNvSpPr>
            <a:spLocks noChangeArrowheads="1"/>
          </p:cNvSpPr>
          <p:nvPr/>
        </p:nvSpPr>
        <p:spPr bwMode="auto">
          <a:xfrm>
            <a:off x="0" y="0"/>
            <a:ext cx="12192000" cy="457200"/>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smtClean="0">
                <a:ln>
                  <a:noFill/>
                </a:ln>
                <a:solidFill>
                  <a:srgbClr val="212529"/>
                </a:solidFill>
                <a:effectLst/>
                <a:latin typeface="-apple-system"/>
              </a:rPr>
              <a:t>Linear classifiers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882363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sp>
        <p:nvSpPr>
          <p:cNvPr id="8" name="Rectangle 2"/>
          <p:cNvSpPr>
            <a:spLocks noGrp="1" noChangeArrowheads="1"/>
          </p:cNvSpPr>
          <p:nvPr>
            <p:ph type="title"/>
          </p:nvPr>
        </p:nvSpPr>
        <p:spPr bwMode="auto">
          <a:xfrm>
            <a:off x="1447800" y="931429"/>
            <a:ext cx="8348134" cy="877163"/>
          </a:xfrm>
          <a:prstGeom prst="rect">
            <a:avLst/>
          </a:prstGeom>
          <a:solidFill>
            <a:srgbClr val="BED4E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i="0" u="sng" strike="noStrike" normalizeH="0" baseline="0" dirty="0" err="1" smtClean="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hlinkClick r:id="rId2" tooltip="sklearn.linear_model"/>
              </a:rPr>
              <a:t>sklearn.linear_model</a:t>
            </a:r>
            <a:r>
              <a:rPr kumimoji="0" lang="en-US" altLang="en-US" sz="3600" i="0" u="none" strike="noStrike" normalizeH="0" baseline="0" dirty="0" smtClean="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a:t>
            </a:r>
            <a:r>
              <a:rPr kumimoji="0" lang="en-US" altLang="en-US" sz="3600" i="0" u="none" strike="noStrike" normalizeH="0" baseline="0" dirty="0" smtClean="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Linear Models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i="0" u="none" strike="noStrike" normalizeH="0" baseline="0" dirty="0" smtClean="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p:txBody>
      </p:sp>
      <p:sp>
        <p:nvSpPr>
          <p:cNvPr id="10" name="Rectangle 3"/>
          <p:cNvSpPr>
            <a:spLocks noChangeArrowheads="1"/>
          </p:cNvSpPr>
          <p:nvPr/>
        </p:nvSpPr>
        <p:spPr bwMode="auto">
          <a:xfrm>
            <a:off x="0" y="0"/>
            <a:ext cx="12192000" cy="457200"/>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smtClean="0">
                <a:ln>
                  <a:noFill/>
                </a:ln>
                <a:solidFill>
                  <a:srgbClr val="212529"/>
                </a:solidFill>
                <a:effectLst/>
                <a:latin typeface="-apple-system"/>
              </a:rPr>
              <a:t>Linear classifiers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graphicFrame>
        <p:nvGraphicFramePr>
          <p:cNvPr id="3" name="Content Placeholder 2"/>
          <p:cNvGraphicFramePr>
            <a:graphicFrameLocks noGrp="1"/>
          </p:cNvGraphicFramePr>
          <p:nvPr>
            <p:ph idx="1"/>
          </p:nvPr>
        </p:nvGraphicFramePr>
        <p:xfrm>
          <a:off x="1328738" y="2997905"/>
          <a:ext cx="10634662" cy="1730552"/>
        </p:xfrm>
        <a:graphic>
          <a:graphicData uri="http://schemas.openxmlformats.org/drawingml/2006/table">
            <a:tbl>
              <a:tblPr/>
              <a:tblGrid>
                <a:gridCol w="5317331">
                  <a:extLst>
                    <a:ext uri="{9D8B030D-6E8A-4147-A177-3AD203B41FA5}">
                      <a16:colId xmlns:a16="http://schemas.microsoft.com/office/drawing/2014/main" val="1553631083"/>
                    </a:ext>
                  </a:extLst>
                </a:gridCol>
                <a:gridCol w="5317331">
                  <a:extLst>
                    <a:ext uri="{9D8B030D-6E8A-4147-A177-3AD203B41FA5}">
                      <a16:colId xmlns:a16="http://schemas.microsoft.com/office/drawing/2014/main" val="1620099116"/>
                    </a:ext>
                  </a:extLst>
                </a:gridCol>
              </a:tblGrid>
              <a:tr h="358955">
                <a:tc>
                  <a:txBody>
                    <a:bodyPr/>
                    <a:lstStyle/>
                    <a:p>
                      <a:r>
                        <a:rPr lang="en-US" sz="1800" u="none" strike="noStrike">
                          <a:solidFill>
                            <a:srgbClr val="2878A2"/>
                          </a:solidFill>
                          <a:effectLst/>
                          <a:hlinkClick r:id="rId3" tooltip="sklearn.linear_model.LinearRegression"/>
                        </a:rPr>
                        <a:t>linear_model.LinearRegression</a:t>
                      </a:r>
                      <a:r>
                        <a:rPr lang="en-US" sz="1800">
                          <a:effectLst/>
                        </a:rPr>
                        <a:t>(*[, …])</a:t>
                      </a:r>
                    </a:p>
                  </a:txBody>
                  <a:tcPr marL="89739" marR="89739" marT="44869" marB="4486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0F7FA"/>
                    </a:solidFill>
                  </a:tcPr>
                </a:tc>
                <a:tc>
                  <a:txBody>
                    <a:bodyPr/>
                    <a:lstStyle/>
                    <a:p>
                      <a:r>
                        <a:rPr lang="en-US" sz="1800">
                          <a:effectLst/>
                        </a:rPr>
                        <a:t>Ordinary least squares Linear Regression.</a:t>
                      </a:r>
                    </a:p>
                  </a:txBody>
                  <a:tcPr marL="89739" marR="89739" marT="44869" marB="4486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0F7FA"/>
                    </a:solidFill>
                  </a:tcPr>
                </a:tc>
                <a:extLst>
                  <a:ext uri="{0D108BD9-81ED-4DB2-BD59-A6C34878D82A}">
                    <a16:rowId xmlns:a16="http://schemas.microsoft.com/office/drawing/2014/main" val="3617853774"/>
                  </a:ext>
                </a:extLst>
              </a:tr>
              <a:tr h="358955">
                <a:tc>
                  <a:txBody>
                    <a:bodyPr/>
                    <a:lstStyle/>
                    <a:p>
                      <a:r>
                        <a:rPr lang="en-US" sz="1800" u="none" strike="noStrike">
                          <a:solidFill>
                            <a:srgbClr val="2878A2"/>
                          </a:solidFill>
                          <a:effectLst/>
                          <a:hlinkClick r:id="rId4" tooltip="sklearn.linear_model.Ridge"/>
                        </a:rPr>
                        <a:t>linear_model.Ridge</a:t>
                      </a:r>
                      <a:r>
                        <a:rPr lang="en-US" sz="1800">
                          <a:effectLst/>
                        </a:rPr>
                        <a:t>([alpha, fit_intercept, …])</a:t>
                      </a:r>
                    </a:p>
                  </a:txBody>
                  <a:tcPr marL="89739" marR="89739" marT="44869" marB="4486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r>
                        <a:rPr lang="en-US" sz="1800">
                          <a:effectLst/>
                        </a:rPr>
                        <a:t>Linear least squares with l2 regularization.</a:t>
                      </a:r>
                    </a:p>
                  </a:txBody>
                  <a:tcPr marL="89739" marR="89739" marT="44869" marB="4486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124448634"/>
                  </a:ext>
                </a:extLst>
              </a:tr>
              <a:tr h="358955">
                <a:tc>
                  <a:txBody>
                    <a:bodyPr/>
                    <a:lstStyle/>
                    <a:p>
                      <a:r>
                        <a:rPr lang="en-US" sz="1800" u="none" strike="noStrike">
                          <a:solidFill>
                            <a:srgbClr val="2878A2"/>
                          </a:solidFill>
                          <a:effectLst/>
                          <a:hlinkClick r:id="rId5" tooltip="sklearn.linear_model.RidgeCV"/>
                        </a:rPr>
                        <a:t>linear_model.RidgeCV</a:t>
                      </a:r>
                      <a:r>
                        <a:rPr lang="en-US" sz="1800">
                          <a:effectLst/>
                        </a:rPr>
                        <a:t>([alphas, …])</a:t>
                      </a:r>
                    </a:p>
                  </a:txBody>
                  <a:tcPr marL="89739" marR="89739" marT="44869" marB="4486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0F7FA"/>
                    </a:solidFill>
                  </a:tcPr>
                </a:tc>
                <a:tc>
                  <a:txBody>
                    <a:bodyPr/>
                    <a:lstStyle/>
                    <a:p>
                      <a:r>
                        <a:rPr lang="en-US" sz="1800">
                          <a:effectLst/>
                        </a:rPr>
                        <a:t>Ridge regression with built-in cross-validation.</a:t>
                      </a:r>
                    </a:p>
                  </a:txBody>
                  <a:tcPr marL="89739" marR="89739" marT="44869" marB="4486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0F7FA"/>
                    </a:solidFill>
                  </a:tcPr>
                </a:tc>
                <a:extLst>
                  <a:ext uri="{0D108BD9-81ED-4DB2-BD59-A6C34878D82A}">
                    <a16:rowId xmlns:a16="http://schemas.microsoft.com/office/drawing/2014/main" val="695152940"/>
                  </a:ext>
                </a:extLst>
              </a:tr>
              <a:tr h="628171">
                <a:tc>
                  <a:txBody>
                    <a:bodyPr/>
                    <a:lstStyle/>
                    <a:p>
                      <a:r>
                        <a:rPr lang="en-US" sz="1800" u="none" strike="noStrike">
                          <a:solidFill>
                            <a:srgbClr val="2878A2"/>
                          </a:solidFill>
                          <a:effectLst/>
                          <a:hlinkClick r:id="rId6" tooltip="sklearn.linear_model.SGDRegressor"/>
                        </a:rPr>
                        <a:t>linear_model.SGDRegressor</a:t>
                      </a:r>
                      <a:r>
                        <a:rPr lang="en-US" sz="1800">
                          <a:effectLst/>
                        </a:rPr>
                        <a:t>([loss, penalty, …])</a:t>
                      </a:r>
                    </a:p>
                  </a:txBody>
                  <a:tcPr marL="89739" marR="89739" marT="44869" marB="4486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r>
                        <a:rPr lang="en-US" sz="1800" dirty="0">
                          <a:effectLst/>
                        </a:rPr>
                        <a:t>Linear model fitted by minimizing a regularized empirical loss with SGD</a:t>
                      </a:r>
                    </a:p>
                  </a:txBody>
                  <a:tcPr marL="89739" marR="89739" marT="44869" marB="44869"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696797376"/>
                  </a:ext>
                </a:extLst>
              </a:tr>
            </a:tbl>
          </a:graphicData>
        </a:graphic>
      </p:graphicFrame>
      <p:sp>
        <p:nvSpPr>
          <p:cNvPr id="7" name="Rectangle 1"/>
          <p:cNvSpPr>
            <a:spLocks noChangeArrowheads="1"/>
          </p:cNvSpPr>
          <p:nvPr/>
        </p:nvSpPr>
        <p:spPr bwMode="auto">
          <a:xfrm>
            <a:off x="0" y="0"/>
            <a:ext cx="12192000" cy="457200"/>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smtClean="0">
                <a:ln>
                  <a:noFill/>
                </a:ln>
                <a:solidFill>
                  <a:srgbClr val="212529"/>
                </a:solidFill>
                <a:effectLst/>
                <a:latin typeface="-apple-system"/>
              </a:rPr>
              <a:t>Classical linear regressors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013791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p:cNvGraphicFramePr>
            <a:graphicFrameLocks noGrp="1"/>
          </p:cNvGraphicFramePr>
          <p:nvPr>
            <p:ph idx="1"/>
          </p:nvPr>
        </p:nvGraphicFramePr>
        <p:xfrm>
          <a:off x="1679790" y="1600198"/>
          <a:ext cx="9932558" cy="4525968"/>
        </p:xfrm>
        <a:graphic>
          <a:graphicData uri="http://schemas.openxmlformats.org/drawingml/2006/table">
            <a:tbl>
              <a:tblPr/>
              <a:tblGrid>
                <a:gridCol w="4966279">
                  <a:extLst>
                    <a:ext uri="{9D8B030D-6E8A-4147-A177-3AD203B41FA5}">
                      <a16:colId xmlns:a16="http://schemas.microsoft.com/office/drawing/2014/main" val="3283551860"/>
                    </a:ext>
                  </a:extLst>
                </a:gridCol>
                <a:gridCol w="4966279">
                  <a:extLst>
                    <a:ext uri="{9D8B030D-6E8A-4147-A177-3AD203B41FA5}">
                      <a16:colId xmlns:a16="http://schemas.microsoft.com/office/drawing/2014/main" val="539915967"/>
                    </a:ext>
                  </a:extLst>
                </a:gridCol>
              </a:tblGrid>
              <a:tr h="335257">
                <a:tc>
                  <a:txBody>
                    <a:bodyPr/>
                    <a:lstStyle/>
                    <a:p>
                      <a:r>
                        <a:rPr lang="en-US" sz="1600" u="none" strike="noStrike">
                          <a:solidFill>
                            <a:srgbClr val="2878A2"/>
                          </a:solidFill>
                          <a:effectLst/>
                          <a:hlinkClick r:id="rId2" tooltip="sklearn.cluster.AffinityPropagation"/>
                        </a:rPr>
                        <a:t>cluster.AffinityPropagation</a:t>
                      </a:r>
                      <a:r>
                        <a:rPr lang="en-US" sz="1600">
                          <a:effectLst/>
                        </a:rPr>
                        <a:t>(*[, damping, …])</a:t>
                      </a:r>
                    </a:p>
                  </a:txBody>
                  <a:tcPr marL="83814" marR="83814" marT="41907" marB="41907"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0F7FA"/>
                    </a:solidFill>
                  </a:tcPr>
                </a:tc>
                <a:tc>
                  <a:txBody>
                    <a:bodyPr/>
                    <a:lstStyle/>
                    <a:p>
                      <a:r>
                        <a:rPr lang="en-US" sz="1600">
                          <a:effectLst/>
                        </a:rPr>
                        <a:t>Perform Affinity Propagation Clustering of data.</a:t>
                      </a:r>
                    </a:p>
                  </a:txBody>
                  <a:tcPr marL="83814" marR="83814" marT="41907" marB="41907"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0F7FA"/>
                    </a:solidFill>
                  </a:tcPr>
                </a:tc>
                <a:extLst>
                  <a:ext uri="{0D108BD9-81ED-4DB2-BD59-A6C34878D82A}">
                    <a16:rowId xmlns:a16="http://schemas.microsoft.com/office/drawing/2014/main" val="2875275458"/>
                  </a:ext>
                </a:extLst>
              </a:tr>
              <a:tr h="335257">
                <a:tc>
                  <a:txBody>
                    <a:bodyPr/>
                    <a:lstStyle/>
                    <a:p>
                      <a:r>
                        <a:rPr lang="en-US" sz="1600" u="none" strike="noStrike">
                          <a:solidFill>
                            <a:srgbClr val="2878A2"/>
                          </a:solidFill>
                          <a:effectLst/>
                          <a:hlinkClick r:id="rId3" tooltip="sklearn.cluster.AgglomerativeClustering"/>
                        </a:rPr>
                        <a:t>cluster.AgglomerativeClustering</a:t>
                      </a:r>
                      <a:r>
                        <a:rPr lang="en-US" sz="1600">
                          <a:effectLst/>
                        </a:rPr>
                        <a:t>([…])</a:t>
                      </a:r>
                    </a:p>
                  </a:txBody>
                  <a:tcPr marL="83814" marR="83814" marT="41907" marB="41907"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r>
                        <a:rPr lang="en-US" sz="1600">
                          <a:effectLst/>
                        </a:rPr>
                        <a:t>Agglomerative Clustering</a:t>
                      </a:r>
                    </a:p>
                  </a:txBody>
                  <a:tcPr marL="83814" marR="83814" marT="41907" marB="41907"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299729728"/>
                  </a:ext>
                </a:extLst>
              </a:tr>
              <a:tr h="335257">
                <a:tc>
                  <a:txBody>
                    <a:bodyPr/>
                    <a:lstStyle/>
                    <a:p>
                      <a:r>
                        <a:rPr lang="en-US" sz="1600" u="none" strike="noStrike">
                          <a:solidFill>
                            <a:srgbClr val="2878A2"/>
                          </a:solidFill>
                          <a:effectLst/>
                          <a:hlinkClick r:id="rId4" tooltip="sklearn.cluster.Birch"/>
                        </a:rPr>
                        <a:t>cluster.Birch</a:t>
                      </a:r>
                      <a:r>
                        <a:rPr lang="en-US" sz="1600">
                          <a:effectLst/>
                        </a:rPr>
                        <a:t>(*[, threshold, …])</a:t>
                      </a:r>
                    </a:p>
                  </a:txBody>
                  <a:tcPr marL="83814" marR="83814" marT="41907" marB="41907"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0F7FA"/>
                    </a:solidFill>
                  </a:tcPr>
                </a:tc>
                <a:tc>
                  <a:txBody>
                    <a:bodyPr/>
                    <a:lstStyle/>
                    <a:p>
                      <a:r>
                        <a:rPr lang="en-US" sz="1600">
                          <a:effectLst/>
                        </a:rPr>
                        <a:t>Implements the BIRCH clustering algorithm.</a:t>
                      </a:r>
                    </a:p>
                  </a:txBody>
                  <a:tcPr marL="83814" marR="83814" marT="41907" marB="41907"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0F7FA"/>
                    </a:solidFill>
                  </a:tcPr>
                </a:tc>
                <a:extLst>
                  <a:ext uri="{0D108BD9-81ED-4DB2-BD59-A6C34878D82A}">
                    <a16:rowId xmlns:a16="http://schemas.microsoft.com/office/drawing/2014/main" val="74312300"/>
                  </a:ext>
                </a:extLst>
              </a:tr>
              <a:tr h="586699">
                <a:tc>
                  <a:txBody>
                    <a:bodyPr/>
                    <a:lstStyle/>
                    <a:p>
                      <a:r>
                        <a:rPr lang="en-US" sz="1600" u="none" strike="noStrike">
                          <a:solidFill>
                            <a:srgbClr val="2878A2"/>
                          </a:solidFill>
                          <a:effectLst/>
                          <a:hlinkClick r:id="rId5" tooltip="sklearn.cluster.DBSCAN"/>
                        </a:rPr>
                        <a:t>cluster.DBSCAN</a:t>
                      </a:r>
                      <a:r>
                        <a:rPr lang="en-US" sz="1600">
                          <a:effectLst/>
                        </a:rPr>
                        <a:t>([eps, min_samples, metric, …])</a:t>
                      </a:r>
                    </a:p>
                  </a:txBody>
                  <a:tcPr marL="83814" marR="83814" marT="41907" marB="41907"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r>
                        <a:rPr lang="en-US" sz="1600">
                          <a:effectLst/>
                        </a:rPr>
                        <a:t>Perform DBSCAN clustering from vector array or distance matrix.</a:t>
                      </a:r>
                    </a:p>
                  </a:txBody>
                  <a:tcPr marL="83814" marR="83814" marT="41907" marB="41907"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537323918"/>
                  </a:ext>
                </a:extLst>
              </a:tr>
              <a:tr h="335257">
                <a:tc>
                  <a:txBody>
                    <a:bodyPr/>
                    <a:lstStyle/>
                    <a:p>
                      <a:r>
                        <a:rPr lang="en-US" sz="1600" u="none" strike="noStrike">
                          <a:solidFill>
                            <a:srgbClr val="2878A2"/>
                          </a:solidFill>
                          <a:effectLst/>
                          <a:hlinkClick r:id="rId6" tooltip="sklearn.cluster.FeatureAgglomeration"/>
                        </a:rPr>
                        <a:t>cluster.FeatureAgglomeration</a:t>
                      </a:r>
                      <a:r>
                        <a:rPr lang="en-US" sz="1600">
                          <a:effectLst/>
                        </a:rPr>
                        <a:t>([n_clusters, …])</a:t>
                      </a:r>
                    </a:p>
                  </a:txBody>
                  <a:tcPr marL="83814" marR="83814" marT="41907" marB="41907"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0F7FA"/>
                    </a:solidFill>
                  </a:tcPr>
                </a:tc>
                <a:tc>
                  <a:txBody>
                    <a:bodyPr/>
                    <a:lstStyle/>
                    <a:p>
                      <a:r>
                        <a:rPr lang="en-US" sz="1600">
                          <a:effectLst/>
                        </a:rPr>
                        <a:t>Agglomerate features.</a:t>
                      </a:r>
                    </a:p>
                  </a:txBody>
                  <a:tcPr marL="83814" marR="83814" marT="41907" marB="41907"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0F7FA"/>
                    </a:solidFill>
                  </a:tcPr>
                </a:tc>
                <a:extLst>
                  <a:ext uri="{0D108BD9-81ED-4DB2-BD59-A6C34878D82A}">
                    <a16:rowId xmlns:a16="http://schemas.microsoft.com/office/drawing/2014/main" val="2318703275"/>
                  </a:ext>
                </a:extLst>
              </a:tr>
              <a:tr h="335257">
                <a:tc>
                  <a:txBody>
                    <a:bodyPr/>
                    <a:lstStyle/>
                    <a:p>
                      <a:r>
                        <a:rPr lang="en-US" sz="1600" u="none" strike="noStrike">
                          <a:solidFill>
                            <a:srgbClr val="2878A2"/>
                          </a:solidFill>
                          <a:effectLst/>
                          <a:hlinkClick r:id="rId7" tooltip="sklearn.cluster.KMeans"/>
                        </a:rPr>
                        <a:t>cluster.KMeans</a:t>
                      </a:r>
                      <a:r>
                        <a:rPr lang="en-US" sz="1600">
                          <a:effectLst/>
                        </a:rPr>
                        <a:t>([n_clusters, init, n_init, …])</a:t>
                      </a:r>
                    </a:p>
                  </a:txBody>
                  <a:tcPr marL="83814" marR="83814" marT="41907" marB="41907"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r>
                        <a:rPr lang="en-US" sz="1600">
                          <a:effectLst/>
                        </a:rPr>
                        <a:t>K-Means clustering.</a:t>
                      </a:r>
                    </a:p>
                  </a:txBody>
                  <a:tcPr marL="83814" marR="83814" marT="41907" marB="41907"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725002706"/>
                  </a:ext>
                </a:extLst>
              </a:tr>
              <a:tr h="335257">
                <a:tc>
                  <a:txBody>
                    <a:bodyPr/>
                    <a:lstStyle/>
                    <a:p>
                      <a:r>
                        <a:rPr lang="en-US" sz="1600" u="none" strike="noStrike">
                          <a:solidFill>
                            <a:srgbClr val="2878A2"/>
                          </a:solidFill>
                          <a:effectLst/>
                          <a:hlinkClick r:id="rId8" tooltip="sklearn.cluster.MiniBatchKMeans"/>
                        </a:rPr>
                        <a:t>cluster.MiniBatchKMeans</a:t>
                      </a:r>
                      <a:r>
                        <a:rPr lang="en-US" sz="1600">
                          <a:effectLst/>
                        </a:rPr>
                        <a:t>([n_clusters, init, …])</a:t>
                      </a:r>
                    </a:p>
                  </a:txBody>
                  <a:tcPr marL="83814" marR="83814" marT="41907" marB="41907"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0F7FA"/>
                    </a:solidFill>
                  </a:tcPr>
                </a:tc>
                <a:tc>
                  <a:txBody>
                    <a:bodyPr/>
                    <a:lstStyle/>
                    <a:p>
                      <a:r>
                        <a:rPr lang="en-US" sz="1600">
                          <a:effectLst/>
                        </a:rPr>
                        <a:t>Mini-Batch K-Means clustering.</a:t>
                      </a:r>
                    </a:p>
                  </a:txBody>
                  <a:tcPr marL="83814" marR="83814" marT="41907" marB="41907"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0F7FA"/>
                    </a:solidFill>
                  </a:tcPr>
                </a:tc>
                <a:extLst>
                  <a:ext uri="{0D108BD9-81ED-4DB2-BD59-A6C34878D82A}">
                    <a16:rowId xmlns:a16="http://schemas.microsoft.com/office/drawing/2014/main" val="3741958918"/>
                  </a:ext>
                </a:extLst>
              </a:tr>
              <a:tr h="335257">
                <a:tc>
                  <a:txBody>
                    <a:bodyPr/>
                    <a:lstStyle/>
                    <a:p>
                      <a:r>
                        <a:rPr lang="en-US" sz="1600" u="none" strike="noStrike">
                          <a:solidFill>
                            <a:srgbClr val="2878A2"/>
                          </a:solidFill>
                          <a:effectLst/>
                          <a:hlinkClick r:id="rId9" tooltip="sklearn.cluster.MeanShift"/>
                        </a:rPr>
                        <a:t>cluster.MeanShift</a:t>
                      </a:r>
                      <a:r>
                        <a:rPr lang="en-US" sz="1600">
                          <a:effectLst/>
                        </a:rPr>
                        <a:t>(*[, bandwidth, seeds, …])</a:t>
                      </a:r>
                    </a:p>
                  </a:txBody>
                  <a:tcPr marL="83814" marR="83814" marT="41907" marB="41907"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r>
                        <a:rPr lang="en-US" sz="1600">
                          <a:effectLst/>
                        </a:rPr>
                        <a:t>Mean shift clustering using a flat kernel.</a:t>
                      </a:r>
                    </a:p>
                  </a:txBody>
                  <a:tcPr marL="83814" marR="83814" marT="41907" marB="41907"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85457114"/>
                  </a:ext>
                </a:extLst>
              </a:tr>
              <a:tr h="335257">
                <a:tc>
                  <a:txBody>
                    <a:bodyPr/>
                    <a:lstStyle/>
                    <a:p>
                      <a:r>
                        <a:rPr lang="en-US" sz="1600" u="none" strike="noStrike">
                          <a:solidFill>
                            <a:srgbClr val="2878A2"/>
                          </a:solidFill>
                          <a:effectLst/>
                          <a:hlinkClick r:id="rId10" tooltip="sklearn.cluster.OPTICS"/>
                        </a:rPr>
                        <a:t>cluster.OPTICS</a:t>
                      </a:r>
                      <a:r>
                        <a:rPr lang="en-US" sz="1600">
                          <a:effectLst/>
                        </a:rPr>
                        <a:t>(*[, min_samples, max_eps, …])</a:t>
                      </a:r>
                    </a:p>
                  </a:txBody>
                  <a:tcPr marL="83814" marR="83814" marT="41907" marB="41907"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0F7FA"/>
                    </a:solidFill>
                  </a:tcPr>
                </a:tc>
                <a:tc>
                  <a:txBody>
                    <a:bodyPr/>
                    <a:lstStyle/>
                    <a:p>
                      <a:r>
                        <a:rPr lang="en-US" sz="1600">
                          <a:effectLst/>
                        </a:rPr>
                        <a:t>Estimate clustering structure from vector array.</a:t>
                      </a:r>
                    </a:p>
                  </a:txBody>
                  <a:tcPr marL="83814" marR="83814" marT="41907" marB="41907"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0F7FA"/>
                    </a:solidFill>
                  </a:tcPr>
                </a:tc>
                <a:extLst>
                  <a:ext uri="{0D108BD9-81ED-4DB2-BD59-A6C34878D82A}">
                    <a16:rowId xmlns:a16="http://schemas.microsoft.com/office/drawing/2014/main" val="3457149326"/>
                  </a:ext>
                </a:extLst>
              </a:tr>
              <a:tr h="586699">
                <a:tc>
                  <a:txBody>
                    <a:bodyPr/>
                    <a:lstStyle/>
                    <a:p>
                      <a:r>
                        <a:rPr lang="en-US" sz="1600" u="none" strike="noStrike">
                          <a:solidFill>
                            <a:srgbClr val="2878A2"/>
                          </a:solidFill>
                          <a:effectLst/>
                          <a:hlinkClick r:id="rId11" tooltip="sklearn.cluster.SpectralClustering"/>
                        </a:rPr>
                        <a:t>cluster.SpectralClustering</a:t>
                      </a:r>
                      <a:r>
                        <a:rPr lang="en-US" sz="1600">
                          <a:effectLst/>
                        </a:rPr>
                        <a:t>([n_clusters, …])</a:t>
                      </a:r>
                    </a:p>
                  </a:txBody>
                  <a:tcPr marL="83814" marR="83814" marT="41907" marB="41907"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r>
                        <a:rPr lang="en-US" sz="1600">
                          <a:effectLst/>
                        </a:rPr>
                        <a:t>Apply clustering to a projection of the normalized Laplacian.</a:t>
                      </a:r>
                    </a:p>
                  </a:txBody>
                  <a:tcPr marL="83814" marR="83814" marT="41907" marB="41907"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845240497"/>
                  </a:ext>
                </a:extLst>
              </a:tr>
              <a:tr h="335257">
                <a:tc>
                  <a:txBody>
                    <a:bodyPr/>
                    <a:lstStyle/>
                    <a:p>
                      <a:r>
                        <a:rPr lang="en-US" sz="1600" u="none" strike="noStrike">
                          <a:solidFill>
                            <a:srgbClr val="2878A2"/>
                          </a:solidFill>
                          <a:effectLst/>
                          <a:hlinkClick r:id="rId12" tooltip="sklearn.cluster.SpectralBiclustering"/>
                        </a:rPr>
                        <a:t>cluster.SpectralBiclustering</a:t>
                      </a:r>
                      <a:r>
                        <a:rPr lang="en-US" sz="1600">
                          <a:effectLst/>
                        </a:rPr>
                        <a:t>([n_clusters, …])</a:t>
                      </a:r>
                    </a:p>
                  </a:txBody>
                  <a:tcPr marL="83814" marR="83814" marT="41907" marB="41907"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0F7FA"/>
                    </a:solidFill>
                  </a:tcPr>
                </a:tc>
                <a:tc>
                  <a:txBody>
                    <a:bodyPr/>
                    <a:lstStyle/>
                    <a:p>
                      <a:r>
                        <a:rPr lang="en-US" sz="1600">
                          <a:effectLst/>
                        </a:rPr>
                        <a:t>Spectral biclustering (Kluger, 2003).</a:t>
                      </a:r>
                    </a:p>
                  </a:txBody>
                  <a:tcPr marL="83814" marR="83814" marT="41907" marB="41907"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0F7FA"/>
                    </a:solidFill>
                  </a:tcPr>
                </a:tc>
                <a:extLst>
                  <a:ext uri="{0D108BD9-81ED-4DB2-BD59-A6C34878D82A}">
                    <a16:rowId xmlns:a16="http://schemas.microsoft.com/office/drawing/2014/main" val="3763973686"/>
                  </a:ext>
                </a:extLst>
              </a:tr>
              <a:tr h="335257">
                <a:tc>
                  <a:txBody>
                    <a:bodyPr/>
                    <a:lstStyle/>
                    <a:p>
                      <a:r>
                        <a:rPr lang="en-US" sz="1600" u="none" strike="noStrike">
                          <a:solidFill>
                            <a:srgbClr val="2878A2"/>
                          </a:solidFill>
                          <a:effectLst/>
                          <a:hlinkClick r:id="rId13" tooltip="sklearn.cluster.SpectralCoclustering"/>
                        </a:rPr>
                        <a:t>cluster.SpectralCoclustering</a:t>
                      </a:r>
                      <a:r>
                        <a:rPr lang="en-US" sz="1600">
                          <a:effectLst/>
                        </a:rPr>
                        <a:t>([n_clusters, …])</a:t>
                      </a:r>
                    </a:p>
                  </a:txBody>
                  <a:tcPr marL="83814" marR="83814" marT="41907" marB="41907"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r>
                        <a:rPr lang="en-US" sz="1600" dirty="0">
                          <a:effectLst/>
                        </a:rPr>
                        <a:t>Spectral Co-Clustering algorithm (</a:t>
                      </a:r>
                      <a:r>
                        <a:rPr lang="en-US" sz="1600" dirty="0" err="1">
                          <a:effectLst/>
                        </a:rPr>
                        <a:t>Dhillon</a:t>
                      </a:r>
                      <a:r>
                        <a:rPr lang="en-US" sz="1600" dirty="0">
                          <a:effectLst/>
                        </a:rPr>
                        <a:t>, 2001).</a:t>
                      </a:r>
                    </a:p>
                  </a:txBody>
                  <a:tcPr marL="83814" marR="83814" marT="41907" marB="41907" anchor="ctr">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982051069"/>
                  </a:ext>
                </a:extLst>
              </a:tr>
            </a:tbl>
          </a:graphicData>
        </a:graphic>
      </p:graphicFrame>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sp>
        <p:nvSpPr>
          <p:cNvPr id="7" name="Rectangle 1"/>
          <p:cNvSpPr>
            <a:spLocks noGrp="1" noChangeArrowheads="1"/>
          </p:cNvSpPr>
          <p:nvPr>
            <p:ph type="title"/>
          </p:nvPr>
        </p:nvSpPr>
        <p:spPr bwMode="auto">
          <a:xfrm>
            <a:off x="1329266" y="438335"/>
            <a:ext cx="4700326" cy="815608"/>
          </a:xfrm>
          <a:prstGeom prst="rect">
            <a:avLst/>
          </a:prstGeom>
          <a:solidFill>
            <a:srgbClr val="BED4E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err="1" smtClean="0">
                <a:ln>
                  <a:noFill/>
                </a:ln>
                <a:solidFill>
                  <a:srgbClr val="2878A2"/>
                </a:solidFill>
                <a:effectLst/>
                <a:latin typeface="Times New Roman" panose="02020603050405020304" pitchFamily="18" charset="0"/>
                <a:cs typeface="Times New Roman" panose="02020603050405020304" pitchFamily="18" charset="0"/>
                <a:hlinkClick r:id="rId14" tooltip="sklearn.cluster"/>
              </a:rPr>
              <a:t>sklearn.cluster</a:t>
            </a:r>
            <a:r>
              <a:rPr kumimoji="0" lang="en-US" altLang="en-US" sz="3200" b="0" i="0" u="none" strike="noStrike" cap="none" normalizeH="0" baseline="0" dirty="0" smtClean="0">
                <a:ln>
                  <a:noFill/>
                </a:ln>
                <a:solidFill>
                  <a:srgbClr val="212529"/>
                </a:solidFill>
                <a:effectLst/>
                <a:latin typeface="Times New Roman" panose="02020603050405020304" pitchFamily="18" charset="0"/>
                <a:cs typeface="Times New Roman" panose="02020603050405020304" pitchFamily="18" charset="0"/>
              </a:rPr>
              <a:t>: Clustering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306438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NỘP BÁO CÁO THEO NHÓM</a:t>
            </a:r>
            <a:endParaRPr lang="en-US" dirty="0"/>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DỮ LIỆU</a:t>
            </a:r>
          </a:p>
          <a:p>
            <a:r>
              <a:rPr lang="en-US" dirty="0" smtClean="0">
                <a:latin typeface="Times New Roman" panose="02020603050405020304" pitchFamily="18" charset="0"/>
                <a:cs typeface="Times New Roman" panose="02020603050405020304" pitchFamily="18" charset="0"/>
              </a:rPr>
              <a:t>BÁO CÁO TỔNG KẾT</a:t>
            </a:r>
          </a:p>
          <a:p>
            <a:r>
              <a:rPr lang="en-US" dirty="0" smtClean="0">
                <a:latin typeface="Times New Roman" panose="02020603050405020304" pitchFamily="18" charset="0"/>
                <a:cs typeface="Times New Roman" panose="02020603050405020304" pitchFamily="18" charset="0"/>
              </a:rPr>
              <a:t>CODE CHƯƠNG TRÌNH</a:t>
            </a:r>
          </a:p>
          <a:p>
            <a:r>
              <a:rPr lang="en-US" dirty="0" smtClean="0">
                <a:latin typeface="Times New Roman" panose="02020603050405020304" pitchFamily="18" charset="0"/>
                <a:cs typeface="Times New Roman" panose="02020603050405020304" pitchFamily="18" charset="0"/>
              </a:rPr>
              <a:t>FILE TRÌNH CHIẾU</a:t>
            </a:r>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val="10628675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GỢI Ý MỘT SỐ DỰ ÁN</a:t>
            </a:r>
            <a:endParaRPr lang="en-US" dirty="0"/>
          </a:p>
        </p:txBody>
      </p:sp>
      <p:sp>
        <p:nvSpPr>
          <p:cNvPr id="3" name="Content Placeholder 2"/>
          <p:cNvSpPr>
            <a:spLocks noGrp="1"/>
          </p:cNvSpPr>
          <p:nvPr>
            <p:ph idx="1"/>
          </p:nvPr>
        </p:nvSpPr>
        <p:spPr/>
        <p:txBody>
          <a:bodyPr>
            <a:normAutofit fontScale="92500" lnSpcReduction="20000"/>
          </a:bodyPr>
          <a:lstStyle/>
          <a:p>
            <a:r>
              <a:rPr lang="en-US" dirty="0" err="1" smtClean="0"/>
              <a:t>Dự</a:t>
            </a:r>
            <a:r>
              <a:rPr lang="en-US" dirty="0" smtClean="0"/>
              <a:t> </a:t>
            </a:r>
            <a:r>
              <a:rPr lang="en-US" dirty="0" err="1" smtClean="0"/>
              <a:t>đoán</a:t>
            </a:r>
            <a:r>
              <a:rPr lang="en-US" dirty="0" smtClean="0"/>
              <a:t> </a:t>
            </a:r>
            <a:r>
              <a:rPr lang="en-US" dirty="0" err="1" smtClean="0"/>
              <a:t>tuổi</a:t>
            </a:r>
            <a:r>
              <a:rPr lang="en-US" dirty="0" smtClean="0"/>
              <a:t> </a:t>
            </a:r>
            <a:r>
              <a:rPr lang="en-US" dirty="0" err="1" smtClean="0"/>
              <a:t>bằng</a:t>
            </a:r>
            <a:r>
              <a:rPr lang="en-US" dirty="0" smtClean="0"/>
              <a:t> </a:t>
            </a:r>
            <a:r>
              <a:rPr lang="en-US" dirty="0" err="1" smtClean="0"/>
              <a:t>hình</a:t>
            </a:r>
            <a:r>
              <a:rPr lang="en-US" dirty="0" smtClean="0"/>
              <a:t> </a:t>
            </a:r>
            <a:r>
              <a:rPr lang="en-US" dirty="0" err="1" smtClean="0"/>
              <a:t>ảnh</a:t>
            </a:r>
            <a:r>
              <a:rPr lang="en-US" dirty="0" smtClean="0"/>
              <a:t> </a:t>
            </a:r>
            <a:r>
              <a:rPr lang="en-US" dirty="0" err="1" smtClean="0"/>
              <a:t>khuôn</a:t>
            </a:r>
            <a:r>
              <a:rPr lang="en-US" dirty="0" smtClean="0"/>
              <a:t> </a:t>
            </a:r>
            <a:r>
              <a:rPr lang="en-US" dirty="0" err="1" smtClean="0"/>
              <a:t>mặt</a:t>
            </a:r>
            <a:endParaRPr lang="en-US" dirty="0" smtClean="0"/>
          </a:p>
          <a:p>
            <a:r>
              <a:rPr lang="en-US" dirty="0" err="1" smtClean="0"/>
              <a:t>Phân</a:t>
            </a:r>
            <a:r>
              <a:rPr lang="en-US" dirty="0" smtClean="0"/>
              <a:t> </a:t>
            </a:r>
            <a:r>
              <a:rPr lang="en-US" dirty="0" err="1" smtClean="0"/>
              <a:t>biệt</a:t>
            </a:r>
            <a:r>
              <a:rPr lang="en-US" dirty="0" smtClean="0"/>
              <a:t> </a:t>
            </a:r>
            <a:r>
              <a:rPr lang="en-US" dirty="0" err="1" smtClean="0"/>
              <a:t>nam</a:t>
            </a:r>
            <a:r>
              <a:rPr lang="en-US" dirty="0" smtClean="0"/>
              <a:t> </a:t>
            </a:r>
            <a:r>
              <a:rPr lang="en-US" dirty="0" err="1" smtClean="0"/>
              <a:t>nữ</a:t>
            </a:r>
            <a:r>
              <a:rPr lang="en-US" dirty="0" smtClean="0"/>
              <a:t> </a:t>
            </a:r>
            <a:r>
              <a:rPr lang="en-US" dirty="0" err="1" smtClean="0"/>
              <a:t>bằng</a:t>
            </a:r>
            <a:r>
              <a:rPr lang="en-US" dirty="0" smtClean="0"/>
              <a:t> </a:t>
            </a:r>
            <a:r>
              <a:rPr lang="en-US" dirty="0" err="1" smtClean="0"/>
              <a:t>hình</a:t>
            </a:r>
            <a:r>
              <a:rPr lang="en-US" dirty="0" smtClean="0"/>
              <a:t> </a:t>
            </a:r>
            <a:r>
              <a:rPr lang="en-US" dirty="0" err="1" smtClean="0"/>
              <a:t>ảnh</a:t>
            </a:r>
            <a:r>
              <a:rPr lang="en-US" dirty="0" smtClean="0"/>
              <a:t> </a:t>
            </a:r>
            <a:r>
              <a:rPr lang="en-US" dirty="0" err="1" smtClean="0"/>
              <a:t>khuôn</a:t>
            </a:r>
            <a:r>
              <a:rPr lang="en-US" dirty="0" smtClean="0"/>
              <a:t> </a:t>
            </a:r>
            <a:r>
              <a:rPr lang="en-US" dirty="0" err="1" smtClean="0"/>
              <a:t>mặt</a:t>
            </a:r>
            <a:endParaRPr lang="en-US" dirty="0" smtClean="0"/>
          </a:p>
          <a:p>
            <a:r>
              <a:rPr lang="en-US" dirty="0" err="1" smtClean="0"/>
              <a:t>Phân</a:t>
            </a:r>
            <a:r>
              <a:rPr lang="en-US" dirty="0" smtClean="0"/>
              <a:t> </a:t>
            </a:r>
            <a:r>
              <a:rPr lang="en-US" dirty="0" err="1" smtClean="0"/>
              <a:t>loại</a:t>
            </a:r>
            <a:r>
              <a:rPr lang="en-US" dirty="0" smtClean="0"/>
              <a:t> </a:t>
            </a:r>
            <a:r>
              <a:rPr lang="en-US" dirty="0" err="1" smtClean="0"/>
              <a:t>biểu</a:t>
            </a:r>
            <a:r>
              <a:rPr lang="en-US" dirty="0" smtClean="0"/>
              <a:t> </a:t>
            </a:r>
            <a:r>
              <a:rPr lang="en-US" dirty="0" err="1" smtClean="0"/>
              <a:t>tượng</a:t>
            </a:r>
            <a:r>
              <a:rPr lang="en-US" dirty="0" smtClean="0"/>
              <a:t> </a:t>
            </a:r>
            <a:r>
              <a:rPr lang="en-US" dirty="0" err="1" smtClean="0"/>
              <a:t>cảm</a:t>
            </a:r>
            <a:r>
              <a:rPr lang="en-US" dirty="0" smtClean="0"/>
              <a:t> </a:t>
            </a:r>
            <a:r>
              <a:rPr lang="en-US" dirty="0" err="1" smtClean="0"/>
              <a:t>xúc</a:t>
            </a:r>
            <a:r>
              <a:rPr lang="en-US" dirty="0" smtClean="0"/>
              <a:t> </a:t>
            </a:r>
            <a:r>
              <a:rPr lang="en-US" dirty="0" err="1" smtClean="0"/>
              <a:t>bằng</a:t>
            </a:r>
            <a:r>
              <a:rPr lang="en-US" dirty="0" smtClean="0"/>
              <a:t> </a:t>
            </a:r>
            <a:r>
              <a:rPr lang="en-US" dirty="0" err="1" smtClean="0"/>
              <a:t>hình</a:t>
            </a:r>
            <a:r>
              <a:rPr lang="en-US" dirty="0" smtClean="0"/>
              <a:t> </a:t>
            </a:r>
            <a:r>
              <a:rPr lang="en-US" dirty="0" err="1" smtClean="0"/>
              <a:t>ảnh</a:t>
            </a:r>
            <a:endParaRPr lang="en-US" dirty="0" smtClean="0"/>
          </a:p>
          <a:p>
            <a:r>
              <a:rPr lang="en-US" dirty="0" err="1" smtClean="0"/>
              <a:t>Dự</a:t>
            </a:r>
            <a:r>
              <a:rPr lang="en-US" dirty="0" smtClean="0"/>
              <a:t> </a:t>
            </a:r>
            <a:r>
              <a:rPr lang="en-US" dirty="0" err="1" smtClean="0"/>
              <a:t>báo</a:t>
            </a:r>
            <a:r>
              <a:rPr lang="en-US" dirty="0" smtClean="0"/>
              <a:t> </a:t>
            </a:r>
            <a:r>
              <a:rPr lang="en-US" dirty="0" err="1" smtClean="0"/>
              <a:t>giá</a:t>
            </a:r>
            <a:r>
              <a:rPr lang="en-US" dirty="0" smtClean="0"/>
              <a:t> </a:t>
            </a:r>
            <a:r>
              <a:rPr lang="en-US" dirty="0" err="1" smtClean="0"/>
              <a:t>cổ</a:t>
            </a:r>
            <a:r>
              <a:rPr lang="en-US" dirty="0" smtClean="0"/>
              <a:t> </a:t>
            </a:r>
            <a:r>
              <a:rPr lang="en-US" dirty="0" err="1" smtClean="0"/>
              <a:t>phiếu</a:t>
            </a:r>
            <a:endParaRPr lang="en-US" dirty="0" smtClean="0"/>
          </a:p>
          <a:p>
            <a:r>
              <a:rPr lang="en-US" dirty="0" err="1" smtClean="0"/>
              <a:t>Dự</a:t>
            </a:r>
            <a:r>
              <a:rPr lang="en-US" dirty="0" smtClean="0"/>
              <a:t> </a:t>
            </a:r>
            <a:r>
              <a:rPr lang="en-US" dirty="0" err="1" smtClean="0"/>
              <a:t>báo</a:t>
            </a:r>
            <a:r>
              <a:rPr lang="en-US" dirty="0" smtClean="0"/>
              <a:t> </a:t>
            </a:r>
            <a:r>
              <a:rPr lang="en-US" dirty="0" err="1" smtClean="0"/>
              <a:t>giá</a:t>
            </a:r>
            <a:r>
              <a:rPr lang="en-US" dirty="0" smtClean="0"/>
              <a:t> </a:t>
            </a:r>
            <a:r>
              <a:rPr lang="en-US" dirty="0" err="1" smtClean="0"/>
              <a:t>nhà</a:t>
            </a:r>
            <a:r>
              <a:rPr lang="en-US" dirty="0" smtClean="0"/>
              <a:t>, </a:t>
            </a:r>
            <a:r>
              <a:rPr lang="en-US" dirty="0" err="1" smtClean="0"/>
              <a:t>giá</a:t>
            </a:r>
            <a:r>
              <a:rPr lang="en-US" dirty="0" smtClean="0"/>
              <a:t> </a:t>
            </a:r>
            <a:r>
              <a:rPr lang="en-US" dirty="0" err="1" smtClean="0"/>
              <a:t>phòng</a:t>
            </a:r>
            <a:r>
              <a:rPr lang="en-US" dirty="0" smtClean="0"/>
              <a:t> </a:t>
            </a:r>
            <a:r>
              <a:rPr lang="en-US" dirty="0" err="1" smtClean="0"/>
              <a:t>trọ</a:t>
            </a:r>
            <a:endParaRPr lang="en-US" dirty="0" smtClean="0"/>
          </a:p>
          <a:p>
            <a:r>
              <a:rPr lang="en-US" dirty="0" err="1" smtClean="0"/>
              <a:t>Phân</a:t>
            </a:r>
            <a:r>
              <a:rPr lang="en-US" dirty="0" smtClean="0"/>
              <a:t> </a:t>
            </a:r>
            <a:r>
              <a:rPr lang="en-US" dirty="0" err="1" smtClean="0"/>
              <a:t>loại</a:t>
            </a:r>
            <a:r>
              <a:rPr lang="en-US" dirty="0" smtClean="0"/>
              <a:t> </a:t>
            </a:r>
            <a:r>
              <a:rPr lang="en-US" dirty="0" err="1" smtClean="0"/>
              <a:t>chữ</a:t>
            </a:r>
            <a:r>
              <a:rPr lang="en-US" dirty="0" smtClean="0"/>
              <a:t> </a:t>
            </a:r>
            <a:r>
              <a:rPr lang="en-US" dirty="0" err="1" smtClean="0"/>
              <a:t>số</a:t>
            </a:r>
            <a:r>
              <a:rPr lang="en-US" dirty="0" smtClean="0"/>
              <a:t> </a:t>
            </a:r>
            <a:r>
              <a:rPr lang="en-US" dirty="0" err="1" smtClean="0"/>
              <a:t>và</a:t>
            </a:r>
            <a:r>
              <a:rPr lang="en-US" dirty="0" smtClean="0"/>
              <a:t> </a:t>
            </a:r>
            <a:r>
              <a:rPr lang="en-US" dirty="0" err="1" smtClean="0"/>
              <a:t>chữ</a:t>
            </a:r>
            <a:r>
              <a:rPr lang="en-US" dirty="0" smtClean="0"/>
              <a:t> </a:t>
            </a:r>
            <a:r>
              <a:rPr lang="en-US" dirty="0" err="1" smtClean="0"/>
              <a:t>viết</a:t>
            </a:r>
            <a:endParaRPr lang="en-US" dirty="0" smtClean="0"/>
          </a:p>
          <a:p>
            <a:r>
              <a:rPr lang="en-US" dirty="0" err="1" smtClean="0"/>
              <a:t>Phân</a:t>
            </a:r>
            <a:r>
              <a:rPr lang="en-US" dirty="0" smtClean="0"/>
              <a:t> </a:t>
            </a:r>
            <a:r>
              <a:rPr lang="en-US" dirty="0" err="1" smtClean="0"/>
              <a:t>loại</a:t>
            </a:r>
            <a:r>
              <a:rPr lang="en-US" dirty="0" smtClean="0"/>
              <a:t> </a:t>
            </a:r>
            <a:r>
              <a:rPr lang="en-US" dirty="0" err="1" smtClean="0"/>
              <a:t>khách</a:t>
            </a:r>
            <a:r>
              <a:rPr lang="en-US" dirty="0" smtClean="0"/>
              <a:t> </a:t>
            </a:r>
            <a:r>
              <a:rPr lang="en-US" dirty="0" err="1" smtClean="0"/>
              <a:t>hàng</a:t>
            </a:r>
            <a:endParaRPr lang="en-US" dirty="0" smtClean="0"/>
          </a:p>
          <a:p>
            <a:r>
              <a:rPr lang="en-US" dirty="0" err="1" smtClean="0"/>
              <a:t>Phân</a:t>
            </a:r>
            <a:r>
              <a:rPr lang="en-US" dirty="0" smtClean="0"/>
              <a:t> </a:t>
            </a:r>
            <a:r>
              <a:rPr lang="en-US" dirty="0" err="1" smtClean="0"/>
              <a:t>loại</a:t>
            </a:r>
            <a:r>
              <a:rPr lang="en-US" dirty="0" smtClean="0"/>
              <a:t> </a:t>
            </a:r>
            <a:r>
              <a:rPr lang="en-US" dirty="0" err="1" smtClean="0"/>
              <a:t>thư</a:t>
            </a:r>
            <a:r>
              <a:rPr lang="en-US" dirty="0" smtClean="0"/>
              <a:t> </a:t>
            </a:r>
            <a:r>
              <a:rPr lang="en-US" dirty="0" err="1" smtClean="0"/>
              <a:t>rác</a:t>
            </a:r>
            <a:endParaRPr lang="en-US" dirty="0" smtClean="0"/>
          </a:p>
          <a:p>
            <a:r>
              <a:rPr lang="en-US" dirty="0" err="1" smtClean="0"/>
              <a:t>Phân</a:t>
            </a:r>
            <a:r>
              <a:rPr lang="en-US" dirty="0" smtClean="0"/>
              <a:t> </a:t>
            </a:r>
            <a:r>
              <a:rPr lang="en-US" dirty="0" err="1" smtClean="0"/>
              <a:t>loại</a:t>
            </a:r>
            <a:r>
              <a:rPr lang="en-US" dirty="0" smtClean="0"/>
              <a:t> </a:t>
            </a:r>
            <a:r>
              <a:rPr lang="en-US" dirty="0" err="1" smtClean="0"/>
              <a:t>chữ</a:t>
            </a:r>
            <a:r>
              <a:rPr lang="en-US" dirty="0" smtClean="0"/>
              <a:t> </a:t>
            </a:r>
            <a:r>
              <a:rPr lang="en-US" dirty="0" err="1" smtClean="0"/>
              <a:t>cái</a:t>
            </a:r>
            <a:r>
              <a:rPr lang="en-US" dirty="0" smtClean="0"/>
              <a:t> </a:t>
            </a:r>
            <a:r>
              <a:rPr lang="en-US" dirty="0" err="1" smtClean="0"/>
              <a:t>trong</a:t>
            </a:r>
            <a:r>
              <a:rPr lang="en-US" dirty="0" smtClean="0"/>
              <a:t> </a:t>
            </a:r>
            <a:r>
              <a:rPr lang="en-US" dirty="0" err="1" smtClean="0"/>
              <a:t>tiếng</a:t>
            </a:r>
            <a:r>
              <a:rPr lang="en-US" dirty="0" smtClean="0"/>
              <a:t> </a:t>
            </a:r>
            <a:r>
              <a:rPr lang="en-US" dirty="0" err="1" smtClean="0"/>
              <a:t>Việt</a:t>
            </a:r>
            <a:endParaRPr lang="en-US" dirty="0" smtClean="0"/>
          </a:p>
          <a:p>
            <a:endParaRPr lang="en-US" dirty="0" smtClean="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5752992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sklearn</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
        <p:nvSpPr>
          <p:cNvPr id="8" name="Content Placeholder 7"/>
          <p:cNvSpPr>
            <a:spLocks noGrp="1"/>
          </p:cNvSpPr>
          <p:nvPr>
            <p:ph idx="1"/>
          </p:nvPr>
        </p:nvSpPr>
        <p:spPr/>
        <p:txBody>
          <a:bodyPr/>
          <a:lstStyle/>
          <a:p>
            <a:r>
              <a:rPr lang="en-US" dirty="0" err="1" smtClean="0"/>
              <a:t>sklearn.neighbors.</a:t>
            </a:r>
            <a:r>
              <a:rPr lang="en-US" b="1" dirty="0" err="1" smtClean="0"/>
              <a:t>KNeighborsClassifier</a:t>
            </a:r>
            <a:endParaRPr lang="en-US" b="1" dirty="0" smtClean="0"/>
          </a:p>
          <a:p>
            <a:r>
              <a:rPr lang="en-US" dirty="0" err="1" smtClean="0"/>
              <a:t>sklearn.neighbors.</a:t>
            </a:r>
            <a:r>
              <a:rPr lang="en-US" b="1" dirty="0" err="1" smtClean="0"/>
              <a:t>KNeighborsRegressor</a:t>
            </a:r>
            <a:endParaRPr lang="en-US" b="1" dirty="0" smtClean="0"/>
          </a:p>
          <a:p>
            <a:r>
              <a:rPr lang="en-US" dirty="0" err="1" smtClean="0"/>
              <a:t>sklearn.neural_network.</a:t>
            </a:r>
            <a:r>
              <a:rPr lang="en-US" b="1" dirty="0" err="1" smtClean="0"/>
              <a:t>MLPClassifier</a:t>
            </a:r>
            <a:endParaRPr lang="en-US" b="1" dirty="0" smtClean="0"/>
          </a:p>
          <a:p>
            <a:r>
              <a:rPr lang="en-US" dirty="0" err="1" smtClean="0"/>
              <a:t>sklearn.neural_network.</a:t>
            </a:r>
            <a:r>
              <a:rPr lang="en-US" b="1" dirty="0" err="1" smtClean="0"/>
              <a:t>MLPRegressor</a:t>
            </a:r>
            <a:endParaRPr lang="en-US" b="1" dirty="0" smtClean="0"/>
          </a:p>
          <a:p>
            <a:r>
              <a:rPr lang="en-US" dirty="0" err="1"/>
              <a:t>sklearn.tree.</a:t>
            </a:r>
            <a:r>
              <a:rPr lang="en-US" b="1" dirty="0" err="1"/>
              <a:t>DecisionTreeClassifier</a:t>
            </a:r>
            <a:endParaRPr lang="en-US" dirty="0" smtClean="0"/>
          </a:p>
          <a:p>
            <a:r>
              <a:rPr lang="en-US" dirty="0" err="1"/>
              <a:t>sklearn.tree.</a:t>
            </a:r>
            <a:r>
              <a:rPr lang="en-US" b="1" dirty="0" err="1"/>
              <a:t>DecisionTreeRegressor</a:t>
            </a:r>
            <a:endParaRPr lang="en-US" dirty="0"/>
          </a:p>
          <a:p>
            <a:endParaRPr lang="en-US" dirty="0" smtClean="0"/>
          </a:p>
          <a:p>
            <a:endParaRPr lang="en-US" dirty="0"/>
          </a:p>
          <a:p>
            <a:endParaRPr lang="en-US" dirty="0" smtClean="0"/>
          </a:p>
          <a:p>
            <a:endParaRPr lang="en-US" dirty="0"/>
          </a:p>
        </p:txBody>
      </p:sp>
    </p:spTree>
    <p:extLst>
      <p:ext uri="{BB962C8B-B14F-4D97-AF65-F5344CB8AC3E}">
        <p14:creationId xmlns:p14="http://schemas.microsoft.com/office/powerpoint/2010/main" val="55545714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Ví</a:t>
            </a:r>
            <a:r>
              <a:rPr lang="en-US" dirty="0" smtClean="0"/>
              <a:t> </a:t>
            </a:r>
            <a:r>
              <a:rPr lang="en-US" dirty="0" err="1" smtClean="0"/>
              <a:t>dụ</a:t>
            </a:r>
            <a:r>
              <a:rPr lang="en-US" dirty="0" smtClean="0"/>
              <a:t> </a:t>
            </a:r>
            <a:r>
              <a:rPr lang="en-US" dirty="0" err="1" smtClean="0"/>
              <a:t>Dự</a:t>
            </a:r>
            <a:r>
              <a:rPr lang="en-US" dirty="0" smtClean="0"/>
              <a:t> </a:t>
            </a:r>
            <a:r>
              <a:rPr lang="en-US" dirty="0" err="1" smtClean="0"/>
              <a:t>án</a:t>
            </a:r>
            <a:r>
              <a:rPr lang="en-US" dirty="0" smtClean="0"/>
              <a:t> </a:t>
            </a:r>
            <a:r>
              <a:rPr lang="en-US" dirty="0" err="1" smtClean="0"/>
              <a:t>khoa</a:t>
            </a:r>
            <a:r>
              <a:rPr lang="en-US" dirty="0" smtClean="0"/>
              <a:t> </a:t>
            </a:r>
            <a:r>
              <a:rPr lang="en-US" dirty="0" err="1" smtClean="0"/>
              <a:t>học</a:t>
            </a:r>
            <a:r>
              <a:rPr lang="en-US" dirty="0" smtClean="0"/>
              <a:t> </a:t>
            </a:r>
            <a:r>
              <a:rPr lang="en-US" dirty="0" err="1" smtClean="0"/>
              <a:t>dữ</a:t>
            </a:r>
            <a:r>
              <a:rPr lang="en-US" dirty="0" smtClean="0"/>
              <a:t> </a:t>
            </a:r>
            <a:r>
              <a:rPr lang="en-US" dirty="0" err="1" smtClean="0"/>
              <a:t>liệu</a:t>
            </a:r>
            <a:endParaRPr lang="en-US" dirty="0"/>
          </a:p>
        </p:txBody>
      </p:sp>
      <p:sp>
        <p:nvSpPr>
          <p:cNvPr id="3" name="Content Placeholder 2"/>
          <p:cNvSpPr>
            <a:spLocks noGrp="1"/>
          </p:cNvSpPr>
          <p:nvPr>
            <p:ph idx="1"/>
          </p:nvPr>
        </p:nvSpPr>
        <p:spPr/>
        <p:txBody>
          <a:bodyPr>
            <a:normAutofit lnSpcReduction="10000"/>
          </a:bodyPr>
          <a:lstStyle/>
          <a:p>
            <a:r>
              <a:rPr lang="en-US" dirty="0" err="1" smtClean="0"/>
              <a:t>Bước</a:t>
            </a:r>
            <a:r>
              <a:rPr lang="en-US" dirty="0" smtClean="0"/>
              <a:t> 1: </a:t>
            </a:r>
            <a:r>
              <a:rPr lang="en-US" dirty="0" err="1" smtClean="0"/>
              <a:t>Xác</a:t>
            </a:r>
            <a:r>
              <a:rPr lang="en-US" dirty="0" smtClean="0"/>
              <a:t> </a:t>
            </a:r>
            <a:r>
              <a:rPr lang="en-US" dirty="0" err="1" smtClean="0"/>
              <a:t>định</a:t>
            </a:r>
            <a:r>
              <a:rPr lang="en-US" dirty="0" smtClean="0"/>
              <a:t> </a:t>
            </a:r>
            <a:r>
              <a:rPr lang="en-US" dirty="0" err="1" smtClean="0"/>
              <a:t>vấn</a:t>
            </a:r>
            <a:r>
              <a:rPr lang="en-US" dirty="0" smtClean="0"/>
              <a:t> </a:t>
            </a:r>
            <a:r>
              <a:rPr lang="en-US" dirty="0" err="1" smtClean="0"/>
              <a:t>đề</a:t>
            </a:r>
            <a:endParaRPr lang="en-US" dirty="0" smtClean="0"/>
          </a:p>
          <a:p>
            <a:pPr lvl="1"/>
            <a:r>
              <a:rPr lang="en-US" dirty="0" err="1" smtClean="0"/>
              <a:t>Dự</a:t>
            </a:r>
            <a:r>
              <a:rPr lang="en-US" dirty="0" smtClean="0"/>
              <a:t> </a:t>
            </a:r>
            <a:r>
              <a:rPr lang="en-US" dirty="0" err="1" smtClean="0"/>
              <a:t>đoán</a:t>
            </a:r>
            <a:r>
              <a:rPr lang="en-US" dirty="0" smtClean="0"/>
              <a:t> </a:t>
            </a:r>
            <a:r>
              <a:rPr lang="en-US" dirty="0" err="1" smtClean="0"/>
              <a:t>sự</a:t>
            </a:r>
            <a:r>
              <a:rPr lang="en-US" dirty="0" smtClean="0"/>
              <a:t> </a:t>
            </a:r>
            <a:r>
              <a:rPr lang="en-US" dirty="0" err="1" smtClean="0"/>
              <a:t>biến</a:t>
            </a:r>
            <a:r>
              <a:rPr lang="en-US" dirty="0" smtClean="0"/>
              <a:t> </a:t>
            </a:r>
            <a:r>
              <a:rPr lang="en-US" dirty="0" err="1" smtClean="0"/>
              <a:t>động</a:t>
            </a:r>
            <a:r>
              <a:rPr lang="en-US" dirty="0" smtClean="0"/>
              <a:t> </a:t>
            </a:r>
            <a:r>
              <a:rPr lang="en-US" dirty="0" err="1" smtClean="0"/>
              <a:t>giá</a:t>
            </a:r>
            <a:r>
              <a:rPr lang="en-US" dirty="0" smtClean="0"/>
              <a:t> </a:t>
            </a:r>
            <a:r>
              <a:rPr lang="en-US" dirty="0" err="1" smtClean="0"/>
              <a:t>cổ</a:t>
            </a:r>
            <a:r>
              <a:rPr lang="en-US" dirty="0" smtClean="0"/>
              <a:t> </a:t>
            </a:r>
            <a:r>
              <a:rPr lang="en-US" dirty="0" err="1" smtClean="0"/>
              <a:t>phiếu</a:t>
            </a:r>
            <a:r>
              <a:rPr lang="en-US" dirty="0" smtClean="0"/>
              <a:t> </a:t>
            </a:r>
            <a:r>
              <a:rPr lang="en-US" dirty="0" err="1" smtClean="0"/>
              <a:t>của</a:t>
            </a:r>
            <a:r>
              <a:rPr lang="en-US" dirty="0" smtClean="0"/>
              <a:t> </a:t>
            </a:r>
            <a:r>
              <a:rPr lang="en-US" dirty="0" err="1" smtClean="0"/>
              <a:t>một</a:t>
            </a:r>
            <a:r>
              <a:rPr lang="en-US" dirty="0" smtClean="0"/>
              <a:t> </a:t>
            </a:r>
            <a:r>
              <a:rPr lang="en-US" dirty="0" err="1" smtClean="0"/>
              <a:t>công</a:t>
            </a:r>
            <a:r>
              <a:rPr lang="en-US" dirty="0" smtClean="0"/>
              <a:t> ty </a:t>
            </a:r>
            <a:r>
              <a:rPr lang="en-US" dirty="0" err="1" smtClean="0"/>
              <a:t>trong</a:t>
            </a:r>
            <a:r>
              <a:rPr lang="en-US" dirty="0" smtClean="0"/>
              <a:t> </a:t>
            </a:r>
            <a:r>
              <a:rPr lang="en-US" dirty="0" err="1" smtClean="0"/>
              <a:t>thời</a:t>
            </a:r>
            <a:r>
              <a:rPr lang="en-US" dirty="0" smtClean="0"/>
              <a:t> </a:t>
            </a:r>
            <a:r>
              <a:rPr lang="en-US" dirty="0" err="1" smtClean="0"/>
              <a:t>gian</a:t>
            </a:r>
            <a:r>
              <a:rPr lang="en-US" dirty="0" smtClean="0"/>
              <a:t> 1 </a:t>
            </a:r>
            <a:r>
              <a:rPr lang="en-US" dirty="0" err="1" smtClean="0"/>
              <a:t>năm</a:t>
            </a:r>
            <a:r>
              <a:rPr lang="en-US" dirty="0" smtClean="0"/>
              <a:t> </a:t>
            </a:r>
            <a:r>
              <a:rPr lang="en-US" dirty="0" err="1" smtClean="0"/>
              <a:t>gần</a:t>
            </a:r>
            <a:r>
              <a:rPr lang="en-US" dirty="0" smtClean="0"/>
              <a:t> </a:t>
            </a:r>
            <a:r>
              <a:rPr lang="en-US" dirty="0" err="1" smtClean="0"/>
              <a:t>đây</a:t>
            </a:r>
            <a:r>
              <a:rPr lang="en-US" dirty="0" smtClean="0"/>
              <a:t> </a:t>
            </a:r>
            <a:r>
              <a:rPr lang="en-US" dirty="0" err="1" smtClean="0"/>
              <a:t>để</a:t>
            </a:r>
            <a:r>
              <a:rPr lang="en-US" dirty="0" smtClean="0"/>
              <a:t> </a:t>
            </a:r>
            <a:r>
              <a:rPr lang="en-US" dirty="0" err="1" smtClean="0"/>
              <a:t>đưa</a:t>
            </a:r>
            <a:r>
              <a:rPr lang="en-US" dirty="0" smtClean="0"/>
              <a:t> </a:t>
            </a:r>
            <a:r>
              <a:rPr lang="en-US" dirty="0" err="1" smtClean="0"/>
              <a:t>ra</a:t>
            </a:r>
            <a:r>
              <a:rPr lang="en-US" dirty="0" smtClean="0"/>
              <a:t> </a:t>
            </a:r>
            <a:r>
              <a:rPr lang="en-US" dirty="0" err="1" smtClean="0"/>
              <a:t>quyết</a:t>
            </a:r>
            <a:r>
              <a:rPr lang="en-US" dirty="0" smtClean="0"/>
              <a:t> </a:t>
            </a:r>
            <a:r>
              <a:rPr lang="en-US" dirty="0" err="1" smtClean="0"/>
              <a:t>đingj</a:t>
            </a:r>
            <a:r>
              <a:rPr lang="en-US" dirty="0" smtClean="0"/>
              <a:t> </a:t>
            </a:r>
            <a:r>
              <a:rPr lang="en-US" dirty="0" err="1" smtClean="0"/>
              <a:t>đầu</a:t>
            </a:r>
            <a:r>
              <a:rPr lang="en-US" dirty="0" smtClean="0"/>
              <a:t> </a:t>
            </a:r>
            <a:r>
              <a:rPr lang="en-US" dirty="0" err="1" smtClean="0"/>
              <a:t>tư</a:t>
            </a:r>
            <a:r>
              <a:rPr lang="en-US" dirty="0" smtClean="0"/>
              <a:t>.</a:t>
            </a:r>
          </a:p>
          <a:p>
            <a:r>
              <a:rPr lang="en-US" dirty="0" err="1" smtClean="0"/>
              <a:t>Bước</a:t>
            </a:r>
            <a:r>
              <a:rPr lang="en-US" dirty="0" smtClean="0"/>
              <a:t> 2: Thu </a:t>
            </a:r>
            <a:r>
              <a:rPr lang="en-US" dirty="0" err="1" smtClean="0"/>
              <a:t>thập</a:t>
            </a:r>
            <a:r>
              <a:rPr lang="en-US" dirty="0" smtClean="0"/>
              <a:t> </a:t>
            </a:r>
            <a:r>
              <a:rPr lang="en-US" dirty="0" err="1" smtClean="0"/>
              <a:t>dữ</a:t>
            </a:r>
            <a:r>
              <a:rPr lang="en-US" dirty="0" smtClean="0"/>
              <a:t> </a:t>
            </a:r>
            <a:r>
              <a:rPr lang="en-US" dirty="0" err="1" smtClean="0"/>
              <a:t>liệu</a:t>
            </a:r>
            <a:endParaRPr lang="en-US" dirty="0"/>
          </a:p>
          <a:p>
            <a:pPr lvl="1"/>
            <a:r>
              <a:rPr lang="en-US" dirty="0" err="1" smtClean="0"/>
              <a:t>Nguồn</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giá</a:t>
            </a:r>
            <a:r>
              <a:rPr lang="en-US" dirty="0" smtClean="0"/>
              <a:t> </a:t>
            </a:r>
            <a:r>
              <a:rPr lang="en-US" dirty="0" err="1" smtClean="0"/>
              <a:t>mở</a:t>
            </a:r>
            <a:r>
              <a:rPr lang="en-US" dirty="0" smtClean="0"/>
              <a:t> </a:t>
            </a:r>
            <a:r>
              <a:rPr lang="en-US" dirty="0" err="1" smtClean="0"/>
              <a:t>cửa</a:t>
            </a:r>
            <a:r>
              <a:rPr lang="en-US" dirty="0" smtClean="0"/>
              <a:t>, </a:t>
            </a:r>
            <a:r>
              <a:rPr lang="en-US" dirty="0" err="1" smtClean="0"/>
              <a:t>đóng</a:t>
            </a:r>
            <a:r>
              <a:rPr lang="en-US" dirty="0" smtClean="0"/>
              <a:t> </a:t>
            </a:r>
            <a:r>
              <a:rPr lang="en-US" dirty="0" err="1" smtClean="0"/>
              <a:t>cửa</a:t>
            </a:r>
            <a:r>
              <a:rPr lang="en-US" dirty="0" smtClean="0"/>
              <a:t>, </a:t>
            </a:r>
            <a:r>
              <a:rPr lang="en-US" dirty="0" err="1" smtClean="0"/>
              <a:t>cao</a:t>
            </a:r>
            <a:r>
              <a:rPr lang="en-US" dirty="0" smtClean="0"/>
              <a:t> </a:t>
            </a:r>
            <a:r>
              <a:rPr lang="en-US" dirty="0" err="1" smtClean="0"/>
              <a:t>nhất</a:t>
            </a:r>
            <a:r>
              <a:rPr lang="en-US" dirty="0" smtClean="0"/>
              <a:t>, </a:t>
            </a:r>
            <a:r>
              <a:rPr lang="en-US" dirty="0" err="1" smtClean="0"/>
              <a:t>thấp</a:t>
            </a:r>
            <a:r>
              <a:rPr lang="en-US" dirty="0" smtClean="0"/>
              <a:t> </a:t>
            </a:r>
            <a:r>
              <a:rPr lang="en-US" dirty="0" err="1" smtClean="0"/>
              <a:t>nhất</a:t>
            </a:r>
            <a:r>
              <a:rPr lang="en-US" dirty="0" smtClean="0"/>
              <a:t>, </a:t>
            </a:r>
            <a:r>
              <a:rPr lang="en-US" dirty="0" err="1" smtClean="0"/>
              <a:t>khối</a:t>
            </a:r>
            <a:r>
              <a:rPr lang="en-US" dirty="0" smtClean="0"/>
              <a:t> </a:t>
            </a:r>
            <a:r>
              <a:rPr lang="en-US" dirty="0" err="1" smtClean="0"/>
              <a:t>lượng</a:t>
            </a:r>
            <a:r>
              <a:rPr lang="en-US" dirty="0" smtClean="0"/>
              <a:t> </a:t>
            </a:r>
            <a:r>
              <a:rPr lang="en-US" dirty="0" err="1" smtClean="0"/>
              <a:t>giao</a:t>
            </a:r>
            <a:r>
              <a:rPr lang="en-US" dirty="0" smtClean="0"/>
              <a:t> </a:t>
            </a:r>
            <a:r>
              <a:rPr lang="en-US" dirty="0" err="1" smtClean="0"/>
              <a:t>dịch</a:t>
            </a:r>
            <a:r>
              <a:rPr lang="en-US" dirty="0" smtClean="0"/>
              <a:t> </a:t>
            </a:r>
            <a:r>
              <a:rPr lang="en-US" dirty="0" err="1" smtClean="0"/>
              <a:t>trong</a:t>
            </a:r>
            <a:r>
              <a:rPr lang="en-US" dirty="0" smtClean="0"/>
              <a:t> </a:t>
            </a:r>
            <a:r>
              <a:rPr lang="en-US" dirty="0" err="1" smtClean="0"/>
              <a:t>thời</a:t>
            </a:r>
            <a:r>
              <a:rPr lang="en-US" dirty="0" smtClean="0"/>
              <a:t> </a:t>
            </a:r>
            <a:r>
              <a:rPr lang="en-US" dirty="0" err="1" smtClean="0"/>
              <a:t>gian</a:t>
            </a:r>
            <a:r>
              <a:rPr lang="en-US" dirty="0" smtClean="0"/>
              <a:t> 1 </a:t>
            </a:r>
            <a:r>
              <a:rPr lang="en-US" dirty="0" err="1" smtClean="0"/>
              <a:t>năm</a:t>
            </a:r>
            <a:endParaRPr lang="en-US" dirty="0" smtClean="0"/>
          </a:p>
          <a:p>
            <a:pPr lvl="1"/>
            <a:r>
              <a:rPr lang="en-US" dirty="0" err="1" smtClean="0"/>
              <a:t>Báo</a:t>
            </a:r>
            <a:r>
              <a:rPr lang="en-US" dirty="0" smtClean="0"/>
              <a:t> </a:t>
            </a:r>
            <a:r>
              <a:rPr lang="en-US" dirty="0" err="1" smtClean="0"/>
              <a:t>cáo</a:t>
            </a:r>
            <a:r>
              <a:rPr lang="en-US" dirty="0" smtClean="0"/>
              <a:t> </a:t>
            </a:r>
            <a:r>
              <a:rPr lang="en-US" dirty="0" err="1" smtClean="0"/>
              <a:t>tài</a:t>
            </a:r>
            <a:r>
              <a:rPr lang="en-US" dirty="0" smtClean="0"/>
              <a:t> </a:t>
            </a:r>
            <a:r>
              <a:rPr lang="en-US" dirty="0" err="1" smtClean="0"/>
              <a:t>chính</a:t>
            </a:r>
            <a:r>
              <a:rPr lang="en-US" dirty="0" smtClean="0"/>
              <a:t> </a:t>
            </a:r>
            <a:r>
              <a:rPr lang="en-US" dirty="0" err="1" smtClean="0"/>
              <a:t>của</a:t>
            </a:r>
            <a:r>
              <a:rPr lang="en-US" dirty="0" smtClean="0"/>
              <a:t> </a:t>
            </a:r>
            <a:r>
              <a:rPr lang="en-US" dirty="0" err="1" smtClean="0"/>
              <a:t>công</a:t>
            </a:r>
            <a:r>
              <a:rPr lang="en-US" dirty="0" smtClean="0"/>
              <a:t> ty</a:t>
            </a:r>
          </a:p>
          <a:p>
            <a:pPr lvl="1"/>
            <a:r>
              <a:rPr lang="en-US" dirty="0" smtClean="0"/>
              <a:t>Tin </a:t>
            </a:r>
            <a:r>
              <a:rPr lang="en-US" dirty="0" err="1" smtClean="0"/>
              <a:t>tức</a:t>
            </a:r>
            <a:r>
              <a:rPr lang="en-US" dirty="0" smtClean="0"/>
              <a:t> </a:t>
            </a:r>
            <a:r>
              <a:rPr lang="en-US" dirty="0" err="1" smtClean="0"/>
              <a:t>tài</a:t>
            </a:r>
            <a:r>
              <a:rPr lang="en-US" dirty="0" smtClean="0"/>
              <a:t> </a:t>
            </a:r>
            <a:r>
              <a:rPr lang="en-US" dirty="0" err="1" smtClean="0"/>
              <a:t>chính</a:t>
            </a:r>
            <a:endParaRPr lang="en-US" dirty="0" smtClean="0"/>
          </a:p>
          <a:p>
            <a:pPr lvl="1"/>
            <a:r>
              <a:rPr lang="en-US" dirty="0" err="1" smtClean="0"/>
              <a:t>Dữ</a:t>
            </a:r>
            <a:r>
              <a:rPr lang="en-US" dirty="0" smtClean="0"/>
              <a:t> </a:t>
            </a:r>
            <a:r>
              <a:rPr lang="en-US" dirty="0" err="1" smtClean="0"/>
              <a:t>liệu</a:t>
            </a:r>
            <a:r>
              <a:rPr lang="en-US" dirty="0" smtClean="0"/>
              <a:t> </a:t>
            </a:r>
            <a:r>
              <a:rPr lang="en-US" dirty="0" err="1" smtClean="0"/>
              <a:t>kinh</a:t>
            </a:r>
            <a:r>
              <a:rPr lang="en-US" dirty="0" smtClean="0"/>
              <a:t> </a:t>
            </a:r>
            <a:r>
              <a:rPr lang="en-US" dirty="0" err="1" smtClean="0"/>
              <a:t>tế</a:t>
            </a:r>
            <a:r>
              <a:rPr lang="en-US" dirty="0" smtClean="0"/>
              <a:t> </a:t>
            </a:r>
            <a:r>
              <a:rPr lang="en-US" dirty="0" err="1" smtClean="0"/>
              <a:t>vĩ</a:t>
            </a:r>
            <a:r>
              <a:rPr lang="en-US" dirty="0" smtClean="0"/>
              <a:t> </a:t>
            </a:r>
            <a:r>
              <a:rPr lang="en-US" dirty="0" err="1" smtClean="0"/>
              <a:t>mô</a:t>
            </a:r>
            <a:r>
              <a:rPr lang="en-US" dirty="0" smtClean="0"/>
              <a:t> </a:t>
            </a:r>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28811053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Ví</a:t>
            </a:r>
            <a:r>
              <a:rPr lang="en-US" dirty="0"/>
              <a:t> </a:t>
            </a:r>
            <a:r>
              <a:rPr lang="en-US" dirty="0" err="1"/>
              <a:t>dụ</a:t>
            </a:r>
            <a:r>
              <a:rPr lang="en-US" dirty="0"/>
              <a:t> </a:t>
            </a:r>
            <a:r>
              <a:rPr lang="en-US" dirty="0" err="1"/>
              <a:t>Dự</a:t>
            </a:r>
            <a:r>
              <a:rPr lang="en-US" dirty="0"/>
              <a:t> </a:t>
            </a:r>
            <a:r>
              <a:rPr lang="en-US" dirty="0" err="1"/>
              <a:t>án</a:t>
            </a:r>
            <a:r>
              <a:rPr lang="en-US" dirty="0"/>
              <a:t> </a:t>
            </a:r>
            <a:r>
              <a:rPr lang="en-US" dirty="0" err="1"/>
              <a:t>khoa</a:t>
            </a:r>
            <a:r>
              <a:rPr lang="en-US" dirty="0"/>
              <a:t> </a:t>
            </a:r>
            <a:r>
              <a:rPr lang="en-US" dirty="0" err="1"/>
              <a:t>học</a:t>
            </a:r>
            <a:r>
              <a:rPr lang="en-US" dirty="0"/>
              <a:t> </a:t>
            </a:r>
            <a:r>
              <a:rPr lang="en-US" dirty="0" err="1"/>
              <a:t>dữ</a:t>
            </a:r>
            <a:r>
              <a:rPr lang="en-US" dirty="0"/>
              <a:t> </a:t>
            </a:r>
            <a:r>
              <a:rPr lang="en-US" dirty="0" err="1"/>
              <a:t>liệu</a:t>
            </a:r>
            <a:endParaRPr lang="en-US" dirty="0"/>
          </a:p>
        </p:txBody>
      </p:sp>
      <p:sp>
        <p:nvSpPr>
          <p:cNvPr id="3" name="Content Placeholder 2"/>
          <p:cNvSpPr>
            <a:spLocks noGrp="1"/>
          </p:cNvSpPr>
          <p:nvPr>
            <p:ph idx="1"/>
          </p:nvPr>
        </p:nvSpPr>
        <p:spPr/>
        <p:txBody>
          <a:bodyPr>
            <a:normAutofit/>
          </a:bodyPr>
          <a:lstStyle/>
          <a:p>
            <a:r>
              <a:rPr lang="en-US" dirty="0" err="1"/>
              <a:t>Bước</a:t>
            </a:r>
            <a:r>
              <a:rPr lang="en-US" dirty="0"/>
              <a:t> 3: </a:t>
            </a:r>
            <a:r>
              <a:rPr lang="en-US" dirty="0" err="1"/>
              <a:t>Khám</a:t>
            </a:r>
            <a:r>
              <a:rPr lang="en-US" dirty="0"/>
              <a:t> </a:t>
            </a:r>
            <a:r>
              <a:rPr lang="en-US" dirty="0" err="1"/>
              <a:t>phá</a:t>
            </a:r>
            <a:r>
              <a:rPr lang="en-US" dirty="0"/>
              <a:t> </a:t>
            </a:r>
            <a:r>
              <a:rPr lang="en-US" dirty="0" err="1"/>
              <a:t>dữ</a:t>
            </a:r>
            <a:r>
              <a:rPr lang="en-US" dirty="0"/>
              <a:t> </a:t>
            </a:r>
            <a:r>
              <a:rPr lang="en-US" dirty="0" err="1" smtClean="0"/>
              <a:t>liệu</a:t>
            </a:r>
            <a:endParaRPr lang="en-US" dirty="0" smtClean="0"/>
          </a:p>
          <a:p>
            <a:pPr lvl="1"/>
            <a:r>
              <a:rPr lang="en-US" dirty="0" err="1" smtClean="0"/>
              <a:t>Phân</a:t>
            </a:r>
            <a:r>
              <a:rPr lang="en-US" dirty="0" smtClean="0"/>
              <a:t> </a:t>
            </a:r>
            <a:r>
              <a:rPr lang="en-US" dirty="0" err="1" smtClean="0"/>
              <a:t>tích</a:t>
            </a:r>
            <a:r>
              <a:rPr lang="en-US" dirty="0" smtClean="0"/>
              <a:t> </a:t>
            </a:r>
            <a:r>
              <a:rPr lang="en-US" dirty="0" err="1" smtClean="0"/>
              <a:t>mô</a:t>
            </a:r>
            <a:r>
              <a:rPr lang="en-US" dirty="0" smtClean="0"/>
              <a:t> </a:t>
            </a:r>
            <a:r>
              <a:rPr lang="en-US" dirty="0" err="1" smtClean="0"/>
              <a:t>tả</a:t>
            </a:r>
            <a:r>
              <a:rPr lang="en-US" dirty="0" smtClean="0"/>
              <a:t>: </a:t>
            </a:r>
            <a:r>
              <a:rPr lang="en-US" dirty="0" err="1" smtClean="0"/>
              <a:t>tính</a:t>
            </a:r>
            <a:r>
              <a:rPr lang="en-US" dirty="0" smtClean="0"/>
              <a:t> </a:t>
            </a:r>
            <a:r>
              <a:rPr lang="en-US" dirty="0" err="1" smtClean="0"/>
              <a:t>toán</a:t>
            </a:r>
            <a:r>
              <a:rPr lang="en-US" dirty="0" smtClean="0"/>
              <a:t> </a:t>
            </a:r>
            <a:r>
              <a:rPr lang="en-US" dirty="0" err="1" smtClean="0"/>
              <a:t>các</a:t>
            </a:r>
            <a:r>
              <a:rPr lang="en-US" dirty="0" smtClean="0"/>
              <a:t> </a:t>
            </a:r>
            <a:r>
              <a:rPr lang="en-US" dirty="0" err="1" smtClean="0"/>
              <a:t>thống</a:t>
            </a:r>
            <a:r>
              <a:rPr lang="en-US" dirty="0" smtClean="0"/>
              <a:t> </a:t>
            </a:r>
            <a:r>
              <a:rPr lang="en-US" dirty="0" err="1" smtClean="0"/>
              <a:t>kê</a:t>
            </a:r>
            <a:r>
              <a:rPr lang="en-US" dirty="0" smtClean="0"/>
              <a:t>, </a:t>
            </a:r>
            <a:r>
              <a:rPr lang="en-US" dirty="0" err="1" smtClean="0"/>
              <a:t>vẽ</a:t>
            </a:r>
            <a:r>
              <a:rPr lang="en-US" dirty="0" smtClean="0"/>
              <a:t> </a:t>
            </a:r>
            <a:r>
              <a:rPr lang="en-US" dirty="0" err="1" smtClean="0"/>
              <a:t>các</a:t>
            </a:r>
            <a:r>
              <a:rPr lang="en-US" dirty="0" smtClean="0"/>
              <a:t> </a:t>
            </a:r>
            <a:r>
              <a:rPr lang="en-US" dirty="0" err="1" smtClean="0"/>
              <a:t>biểu</a:t>
            </a:r>
            <a:r>
              <a:rPr lang="en-US" dirty="0" smtClean="0"/>
              <a:t> </a:t>
            </a:r>
            <a:r>
              <a:rPr lang="en-US" dirty="0" err="1" smtClean="0"/>
              <a:t>đồ</a:t>
            </a:r>
            <a:r>
              <a:rPr lang="en-US" dirty="0" smtClean="0"/>
              <a:t>, </a:t>
            </a:r>
            <a:r>
              <a:rPr lang="en-US" dirty="0" err="1" smtClean="0"/>
              <a:t>phân</a:t>
            </a:r>
            <a:r>
              <a:rPr lang="en-US" dirty="0" smtClean="0"/>
              <a:t> </a:t>
            </a:r>
            <a:r>
              <a:rPr lang="en-US" dirty="0" err="1" smtClean="0"/>
              <a:t>tích</a:t>
            </a:r>
            <a:r>
              <a:rPr lang="en-US" dirty="0" smtClean="0"/>
              <a:t> </a:t>
            </a:r>
            <a:r>
              <a:rPr lang="en-US" dirty="0" err="1" smtClean="0"/>
              <a:t>tương</a:t>
            </a:r>
            <a:r>
              <a:rPr lang="en-US" dirty="0" smtClean="0"/>
              <a:t> </a:t>
            </a:r>
            <a:r>
              <a:rPr lang="en-US" dirty="0" err="1" smtClean="0"/>
              <a:t>quan</a:t>
            </a:r>
            <a:endParaRPr lang="en-US" dirty="0"/>
          </a:p>
          <a:p>
            <a:r>
              <a:rPr lang="en-US" dirty="0" err="1"/>
              <a:t>Bước</a:t>
            </a:r>
            <a:r>
              <a:rPr lang="en-US" dirty="0"/>
              <a:t> 4: </a:t>
            </a:r>
            <a:r>
              <a:rPr lang="en-US" dirty="0" err="1"/>
              <a:t>Xử</a:t>
            </a:r>
            <a:r>
              <a:rPr lang="en-US" dirty="0"/>
              <a:t> </a:t>
            </a:r>
            <a:r>
              <a:rPr lang="en-US" dirty="0" err="1"/>
              <a:t>lý</a:t>
            </a:r>
            <a:r>
              <a:rPr lang="en-US" dirty="0"/>
              <a:t> </a:t>
            </a:r>
            <a:r>
              <a:rPr lang="en-US" dirty="0" err="1"/>
              <a:t>dữ</a:t>
            </a:r>
            <a:r>
              <a:rPr lang="en-US" dirty="0"/>
              <a:t> </a:t>
            </a:r>
            <a:r>
              <a:rPr lang="en-US" dirty="0" err="1" smtClean="0"/>
              <a:t>liệu</a:t>
            </a:r>
            <a:endParaRPr lang="en-US" dirty="0" smtClean="0"/>
          </a:p>
          <a:p>
            <a:pPr lvl="1"/>
            <a:r>
              <a:rPr lang="en-US" dirty="0" err="1" smtClean="0"/>
              <a:t>Xử</a:t>
            </a:r>
            <a:r>
              <a:rPr lang="en-US" dirty="0" smtClean="0"/>
              <a:t> </a:t>
            </a:r>
            <a:r>
              <a:rPr lang="en-US" dirty="0" err="1" smtClean="0"/>
              <a:t>lý</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bị</a:t>
            </a:r>
            <a:r>
              <a:rPr lang="en-US" dirty="0" smtClean="0"/>
              <a:t> </a:t>
            </a:r>
            <a:r>
              <a:rPr lang="en-US" dirty="0" err="1" smtClean="0"/>
              <a:t>thiếu</a:t>
            </a:r>
            <a:r>
              <a:rPr lang="en-US" dirty="0" smtClean="0"/>
              <a:t>, </a:t>
            </a:r>
            <a:r>
              <a:rPr lang="en-US" dirty="0" err="1" smtClean="0"/>
              <a:t>ngoại</a:t>
            </a:r>
            <a:r>
              <a:rPr lang="en-US" dirty="0" smtClean="0"/>
              <a:t> </a:t>
            </a:r>
            <a:r>
              <a:rPr lang="en-US" dirty="0" err="1" smtClean="0"/>
              <a:t>lệ</a:t>
            </a:r>
            <a:r>
              <a:rPr lang="en-US" dirty="0" smtClean="0"/>
              <a:t>, </a:t>
            </a:r>
            <a:r>
              <a:rPr lang="en-US" dirty="0" err="1" smtClean="0"/>
              <a:t>trùng</a:t>
            </a:r>
            <a:r>
              <a:rPr lang="en-US" dirty="0" smtClean="0"/>
              <a:t> </a:t>
            </a:r>
            <a:r>
              <a:rPr lang="en-US" dirty="0" err="1" smtClean="0"/>
              <a:t>lặp</a:t>
            </a:r>
            <a:endParaRPr lang="en-US" dirty="0" smtClean="0"/>
          </a:p>
          <a:p>
            <a:pPr lvl="1"/>
            <a:r>
              <a:rPr lang="en-US" dirty="0" err="1" smtClean="0"/>
              <a:t>Chuẩn</a:t>
            </a:r>
            <a:r>
              <a:rPr lang="en-US" dirty="0" smtClean="0"/>
              <a:t> </a:t>
            </a:r>
            <a:r>
              <a:rPr lang="en-US" dirty="0" err="1" smtClean="0"/>
              <a:t>hoá</a:t>
            </a:r>
            <a:r>
              <a:rPr lang="en-US" dirty="0" smtClean="0"/>
              <a:t> </a:t>
            </a:r>
            <a:r>
              <a:rPr lang="en-US" dirty="0" err="1" smtClean="0"/>
              <a:t>dữ</a:t>
            </a:r>
            <a:r>
              <a:rPr lang="en-US" dirty="0" smtClean="0"/>
              <a:t> </a:t>
            </a:r>
            <a:r>
              <a:rPr lang="en-US" dirty="0" err="1" smtClean="0"/>
              <a:t>liệu</a:t>
            </a:r>
            <a:endParaRPr lang="en-US" dirty="0" smtClean="0"/>
          </a:p>
          <a:p>
            <a:pPr lvl="1"/>
            <a:r>
              <a:rPr lang="en-US" dirty="0" err="1" smtClean="0"/>
              <a:t>Tạo</a:t>
            </a:r>
            <a:r>
              <a:rPr lang="en-US" dirty="0" smtClean="0"/>
              <a:t> </a:t>
            </a:r>
            <a:r>
              <a:rPr lang="en-US" dirty="0" err="1" smtClean="0"/>
              <a:t>các</a:t>
            </a:r>
            <a:r>
              <a:rPr lang="en-US" dirty="0" smtClean="0"/>
              <a:t> </a:t>
            </a:r>
            <a:r>
              <a:rPr lang="en-US" dirty="0" err="1" smtClean="0"/>
              <a:t>biến</a:t>
            </a:r>
            <a:r>
              <a:rPr lang="en-US" dirty="0" smtClean="0"/>
              <a:t> </a:t>
            </a:r>
            <a:r>
              <a:rPr lang="en-US" dirty="0" err="1" smtClean="0"/>
              <a:t>mới</a:t>
            </a:r>
            <a:endParaRPr lang="en-US" dirty="0" smtClean="0"/>
          </a:p>
          <a:p>
            <a:pPr lvl="1"/>
            <a:r>
              <a:rPr lang="en-US" dirty="0" err="1" smtClean="0"/>
              <a:t>Tạo</a:t>
            </a:r>
            <a:r>
              <a:rPr lang="en-US" dirty="0" smtClean="0"/>
              <a:t> </a:t>
            </a:r>
            <a:r>
              <a:rPr lang="en-US" dirty="0" err="1" smtClean="0"/>
              <a:t>các</a:t>
            </a:r>
            <a:r>
              <a:rPr lang="en-US" dirty="0" smtClean="0"/>
              <a:t> </a:t>
            </a:r>
            <a:r>
              <a:rPr lang="en-US" dirty="0" err="1" smtClean="0"/>
              <a:t>đặc</a:t>
            </a:r>
            <a:r>
              <a:rPr lang="en-US" dirty="0" smtClean="0"/>
              <a:t> </a:t>
            </a:r>
            <a:r>
              <a:rPr lang="en-US" dirty="0" err="1" smtClean="0"/>
              <a:t>trưng</a:t>
            </a:r>
            <a:r>
              <a:rPr lang="en-US" dirty="0" smtClean="0"/>
              <a:t> </a:t>
            </a:r>
            <a:r>
              <a:rPr lang="en-US" dirty="0" err="1" smtClean="0"/>
              <a:t>mới</a:t>
            </a:r>
            <a:r>
              <a:rPr lang="en-US" dirty="0" smtClean="0"/>
              <a:t> (MA, RSI)</a:t>
            </a:r>
            <a:endParaRPr lang="en-US" dirty="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Tree>
    <p:extLst>
      <p:ext uri="{BB962C8B-B14F-4D97-AF65-F5344CB8AC3E}">
        <p14:creationId xmlns:p14="http://schemas.microsoft.com/office/powerpoint/2010/main" val="27333024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Ví</a:t>
            </a:r>
            <a:r>
              <a:rPr lang="en-US" dirty="0"/>
              <a:t> </a:t>
            </a:r>
            <a:r>
              <a:rPr lang="en-US" dirty="0" err="1"/>
              <a:t>dụ</a:t>
            </a:r>
            <a:r>
              <a:rPr lang="en-US" dirty="0"/>
              <a:t> </a:t>
            </a:r>
            <a:r>
              <a:rPr lang="en-US" dirty="0" err="1"/>
              <a:t>Dự</a:t>
            </a:r>
            <a:r>
              <a:rPr lang="en-US" dirty="0"/>
              <a:t> </a:t>
            </a:r>
            <a:r>
              <a:rPr lang="en-US" dirty="0" err="1"/>
              <a:t>án</a:t>
            </a:r>
            <a:r>
              <a:rPr lang="en-US" dirty="0"/>
              <a:t> </a:t>
            </a:r>
            <a:r>
              <a:rPr lang="en-US" dirty="0" err="1"/>
              <a:t>khoa</a:t>
            </a:r>
            <a:r>
              <a:rPr lang="en-US" dirty="0"/>
              <a:t> </a:t>
            </a:r>
            <a:r>
              <a:rPr lang="en-US" dirty="0" err="1"/>
              <a:t>học</a:t>
            </a:r>
            <a:r>
              <a:rPr lang="en-US" dirty="0"/>
              <a:t> </a:t>
            </a:r>
            <a:r>
              <a:rPr lang="en-US" dirty="0" err="1"/>
              <a:t>dữ</a:t>
            </a:r>
            <a:r>
              <a:rPr lang="en-US" dirty="0"/>
              <a:t> </a:t>
            </a:r>
            <a:r>
              <a:rPr lang="en-US" dirty="0" err="1"/>
              <a:t>liệu</a:t>
            </a:r>
            <a:endParaRPr lang="en-US" dirty="0"/>
          </a:p>
        </p:txBody>
      </p:sp>
      <p:sp>
        <p:nvSpPr>
          <p:cNvPr id="3" name="Content Placeholder 2"/>
          <p:cNvSpPr>
            <a:spLocks noGrp="1"/>
          </p:cNvSpPr>
          <p:nvPr>
            <p:ph idx="1"/>
          </p:nvPr>
        </p:nvSpPr>
        <p:spPr/>
        <p:txBody>
          <a:bodyPr/>
          <a:lstStyle/>
          <a:p>
            <a:r>
              <a:rPr lang="en-US" dirty="0" err="1">
                <a:solidFill>
                  <a:srgbClr val="0000CC"/>
                </a:solidFill>
              </a:rPr>
              <a:t>Bước</a:t>
            </a:r>
            <a:r>
              <a:rPr lang="en-US" dirty="0">
                <a:solidFill>
                  <a:srgbClr val="0000CC"/>
                </a:solidFill>
              </a:rPr>
              <a:t> 5: </a:t>
            </a:r>
            <a:r>
              <a:rPr lang="en-US" dirty="0" err="1">
                <a:solidFill>
                  <a:srgbClr val="0000CC"/>
                </a:solidFill>
              </a:rPr>
              <a:t>Lựa</a:t>
            </a:r>
            <a:r>
              <a:rPr lang="en-US" dirty="0">
                <a:solidFill>
                  <a:srgbClr val="0000CC"/>
                </a:solidFill>
              </a:rPr>
              <a:t> </a:t>
            </a:r>
            <a:r>
              <a:rPr lang="en-US" dirty="0" err="1">
                <a:solidFill>
                  <a:srgbClr val="0000CC"/>
                </a:solidFill>
              </a:rPr>
              <a:t>chọn</a:t>
            </a:r>
            <a:r>
              <a:rPr lang="en-US" dirty="0">
                <a:solidFill>
                  <a:srgbClr val="0000CC"/>
                </a:solidFill>
              </a:rPr>
              <a:t> </a:t>
            </a:r>
            <a:r>
              <a:rPr lang="en-US" dirty="0" err="1">
                <a:solidFill>
                  <a:srgbClr val="0000CC"/>
                </a:solidFill>
              </a:rPr>
              <a:t>mô</a:t>
            </a:r>
            <a:r>
              <a:rPr lang="en-US" dirty="0">
                <a:solidFill>
                  <a:srgbClr val="0000CC"/>
                </a:solidFill>
              </a:rPr>
              <a:t> </a:t>
            </a:r>
            <a:r>
              <a:rPr lang="en-US" dirty="0" err="1" smtClean="0">
                <a:solidFill>
                  <a:srgbClr val="0000CC"/>
                </a:solidFill>
              </a:rPr>
              <a:t>hình</a:t>
            </a:r>
            <a:endParaRPr lang="en-US" dirty="0" smtClean="0">
              <a:solidFill>
                <a:srgbClr val="0000CC"/>
              </a:solidFill>
            </a:endParaRPr>
          </a:p>
          <a:p>
            <a:pPr lvl="1"/>
            <a:r>
              <a:rPr lang="en-US" dirty="0" err="1" smtClean="0">
                <a:solidFill>
                  <a:srgbClr val="0000CC"/>
                </a:solidFill>
              </a:rPr>
              <a:t>Chọn</a:t>
            </a:r>
            <a:r>
              <a:rPr lang="en-US" dirty="0" smtClean="0">
                <a:solidFill>
                  <a:srgbClr val="0000CC"/>
                </a:solidFill>
              </a:rPr>
              <a:t> </a:t>
            </a:r>
            <a:r>
              <a:rPr lang="en-US" dirty="0" err="1" smtClean="0">
                <a:solidFill>
                  <a:srgbClr val="0000CC"/>
                </a:solidFill>
              </a:rPr>
              <a:t>mô</a:t>
            </a:r>
            <a:r>
              <a:rPr lang="en-US" dirty="0" smtClean="0">
                <a:solidFill>
                  <a:srgbClr val="0000CC"/>
                </a:solidFill>
              </a:rPr>
              <a:t> </a:t>
            </a:r>
            <a:r>
              <a:rPr lang="en-US" dirty="0" err="1" smtClean="0">
                <a:solidFill>
                  <a:srgbClr val="0000CC"/>
                </a:solidFill>
              </a:rPr>
              <a:t>hình</a:t>
            </a:r>
            <a:r>
              <a:rPr lang="en-US" dirty="0" smtClean="0">
                <a:solidFill>
                  <a:srgbClr val="0000CC"/>
                </a:solidFill>
              </a:rPr>
              <a:t> ARIMA, SARIMA, LSTM, </a:t>
            </a:r>
            <a:r>
              <a:rPr lang="en-US" dirty="0" err="1" smtClean="0">
                <a:solidFill>
                  <a:srgbClr val="0000CC"/>
                </a:solidFill>
              </a:rPr>
              <a:t>Phophet</a:t>
            </a:r>
            <a:endParaRPr lang="en-US" dirty="0" smtClean="0">
              <a:solidFill>
                <a:srgbClr val="0000CC"/>
              </a:solidFill>
            </a:endParaRPr>
          </a:p>
          <a:p>
            <a:pPr lvl="1"/>
            <a:r>
              <a:rPr lang="en-US" dirty="0" err="1" smtClean="0">
                <a:solidFill>
                  <a:srgbClr val="0000CC"/>
                </a:solidFill>
              </a:rPr>
              <a:t>Phân</a:t>
            </a:r>
            <a:r>
              <a:rPr lang="en-US" dirty="0" smtClean="0">
                <a:solidFill>
                  <a:srgbClr val="0000CC"/>
                </a:solidFill>
              </a:rPr>
              <a:t> </a:t>
            </a:r>
            <a:r>
              <a:rPr lang="en-US" dirty="0" err="1" smtClean="0">
                <a:solidFill>
                  <a:srgbClr val="0000CC"/>
                </a:solidFill>
              </a:rPr>
              <a:t>loại</a:t>
            </a:r>
            <a:r>
              <a:rPr lang="en-US" dirty="0" smtClean="0">
                <a:solidFill>
                  <a:srgbClr val="0000CC"/>
                </a:solidFill>
              </a:rPr>
              <a:t>: </a:t>
            </a:r>
            <a:r>
              <a:rPr lang="en-US" dirty="0" err="1" smtClean="0">
                <a:solidFill>
                  <a:srgbClr val="0000CC"/>
                </a:solidFill>
              </a:rPr>
              <a:t>Hồi</a:t>
            </a:r>
            <a:r>
              <a:rPr lang="en-US" dirty="0" smtClean="0">
                <a:solidFill>
                  <a:srgbClr val="0000CC"/>
                </a:solidFill>
              </a:rPr>
              <a:t> </a:t>
            </a:r>
            <a:r>
              <a:rPr lang="en-US" dirty="0" err="1" smtClean="0">
                <a:solidFill>
                  <a:srgbClr val="0000CC"/>
                </a:solidFill>
              </a:rPr>
              <a:t>quy</a:t>
            </a:r>
            <a:r>
              <a:rPr lang="en-US" dirty="0" smtClean="0">
                <a:solidFill>
                  <a:srgbClr val="0000CC"/>
                </a:solidFill>
              </a:rPr>
              <a:t> logistic</a:t>
            </a:r>
          </a:p>
          <a:p>
            <a:pPr lvl="1"/>
            <a:r>
              <a:rPr lang="en-US" dirty="0" err="1" smtClean="0">
                <a:solidFill>
                  <a:srgbClr val="0000CC"/>
                </a:solidFill>
              </a:rPr>
              <a:t>Hồi</a:t>
            </a:r>
            <a:r>
              <a:rPr lang="en-US" dirty="0" smtClean="0">
                <a:solidFill>
                  <a:srgbClr val="0000CC"/>
                </a:solidFill>
              </a:rPr>
              <a:t> </a:t>
            </a:r>
            <a:r>
              <a:rPr lang="en-US" dirty="0" err="1" smtClean="0">
                <a:solidFill>
                  <a:srgbClr val="0000CC"/>
                </a:solidFill>
              </a:rPr>
              <a:t>quy</a:t>
            </a:r>
            <a:r>
              <a:rPr lang="en-US" dirty="0" smtClean="0">
                <a:solidFill>
                  <a:srgbClr val="0000CC"/>
                </a:solidFill>
              </a:rPr>
              <a:t>: </a:t>
            </a:r>
            <a:r>
              <a:rPr lang="en-US" dirty="0" err="1" smtClean="0">
                <a:solidFill>
                  <a:srgbClr val="0000CC"/>
                </a:solidFill>
              </a:rPr>
              <a:t>Hồi</a:t>
            </a:r>
            <a:r>
              <a:rPr lang="en-US" dirty="0" smtClean="0">
                <a:solidFill>
                  <a:srgbClr val="0000CC"/>
                </a:solidFill>
              </a:rPr>
              <a:t> </a:t>
            </a:r>
            <a:r>
              <a:rPr lang="en-US" dirty="0" err="1" smtClean="0">
                <a:solidFill>
                  <a:srgbClr val="0000CC"/>
                </a:solidFill>
              </a:rPr>
              <a:t>quy</a:t>
            </a:r>
            <a:r>
              <a:rPr lang="en-US" dirty="0" smtClean="0">
                <a:solidFill>
                  <a:srgbClr val="0000CC"/>
                </a:solidFill>
              </a:rPr>
              <a:t> </a:t>
            </a:r>
            <a:r>
              <a:rPr lang="en-US" dirty="0" err="1" smtClean="0">
                <a:solidFill>
                  <a:srgbClr val="0000CC"/>
                </a:solidFill>
              </a:rPr>
              <a:t>tuyến</a:t>
            </a:r>
            <a:r>
              <a:rPr lang="en-US" dirty="0" smtClean="0">
                <a:solidFill>
                  <a:srgbClr val="0000CC"/>
                </a:solidFill>
              </a:rPr>
              <a:t> </a:t>
            </a:r>
            <a:r>
              <a:rPr lang="en-US" dirty="0" err="1" smtClean="0">
                <a:solidFill>
                  <a:srgbClr val="0000CC"/>
                </a:solidFill>
              </a:rPr>
              <a:t>tính</a:t>
            </a:r>
            <a:endParaRPr lang="en-US" dirty="0">
              <a:solidFill>
                <a:srgbClr val="0000CC"/>
              </a:solidFill>
            </a:endParaRPr>
          </a:p>
          <a:p>
            <a:r>
              <a:rPr lang="en-US" dirty="0" err="1">
                <a:solidFill>
                  <a:srgbClr val="0000CC"/>
                </a:solidFill>
              </a:rPr>
              <a:t>Bước</a:t>
            </a:r>
            <a:r>
              <a:rPr lang="en-US" dirty="0">
                <a:solidFill>
                  <a:srgbClr val="0000CC"/>
                </a:solidFill>
              </a:rPr>
              <a:t> 6: </a:t>
            </a:r>
            <a:r>
              <a:rPr lang="en-US" dirty="0" err="1">
                <a:solidFill>
                  <a:srgbClr val="0000CC"/>
                </a:solidFill>
              </a:rPr>
              <a:t>Tinh</a:t>
            </a:r>
            <a:r>
              <a:rPr lang="en-US" dirty="0">
                <a:solidFill>
                  <a:srgbClr val="0000CC"/>
                </a:solidFill>
              </a:rPr>
              <a:t> </a:t>
            </a:r>
            <a:r>
              <a:rPr lang="en-US" dirty="0" err="1">
                <a:solidFill>
                  <a:srgbClr val="0000CC"/>
                </a:solidFill>
              </a:rPr>
              <a:t>chỉnh</a:t>
            </a:r>
            <a:r>
              <a:rPr lang="en-US" dirty="0">
                <a:solidFill>
                  <a:srgbClr val="0000CC"/>
                </a:solidFill>
              </a:rPr>
              <a:t> </a:t>
            </a:r>
            <a:r>
              <a:rPr lang="en-US" dirty="0" err="1">
                <a:solidFill>
                  <a:srgbClr val="0000CC"/>
                </a:solidFill>
              </a:rPr>
              <a:t>mô</a:t>
            </a:r>
            <a:r>
              <a:rPr lang="en-US" dirty="0">
                <a:solidFill>
                  <a:srgbClr val="0000CC"/>
                </a:solidFill>
              </a:rPr>
              <a:t> </a:t>
            </a:r>
            <a:r>
              <a:rPr lang="en-US" dirty="0" err="1">
                <a:solidFill>
                  <a:srgbClr val="0000CC"/>
                </a:solidFill>
              </a:rPr>
              <a:t>hình</a:t>
            </a:r>
            <a:endParaRPr lang="en-US" dirty="0">
              <a:solidFill>
                <a:srgbClr val="0000CC"/>
              </a:solidFill>
            </a:endParaRPr>
          </a:p>
          <a:p>
            <a:pPr lvl="1"/>
            <a:r>
              <a:rPr lang="en-US" dirty="0" err="1" smtClean="0">
                <a:solidFill>
                  <a:srgbClr val="0000CC"/>
                </a:solidFill>
              </a:rPr>
              <a:t>Dự</a:t>
            </a:r>
            <a:r>
              <a:rPr lang="en-US" dirty="0" smtClean="0">
                <a:solidFill>
                  <a:srgbClr val="0000CC"/>
                </a:solidFill>
              </a:rPr>
              <a:t> </a:t>
            </a:r>
            <a:r>
              <a:rPr lang="en-US" dirty="0" err="1" smtClean="0">
                <a:solidFill>
                  <a:srgbClr val="0000CC"/>
                </a:solidFill>
              </a:rPr>
              <a:t>báo</a:t>
            </a:r>
            <a:r>
              <a:rPr lang="en-US" dirty="0" smtClean="0">
                <a:solidFill>
                  <a:srgbClr val="0000CC"/>
                </a:solidFill>
              </a:rPr>
              <a:t>: RMSE, MAE, MAPE</a:t>
            </a:r>
          </a:p>
          <a:p>
            <a:pPr lvl="1"/>
            <a:r>
              <a:rPr lang="en-US" dirty="0" err="1" smtClean="0">
                <a:solidFill>
                  <a:srgbClr val="0000CC"/>
                </a:solidFill>
              </a:rPr>
              <a:t>Phân</a:t>
            </a:r>
            <a:r>
              <a:rPr lang="en-US" dirty="0" smtClean="0">
                <a:solidFill>
                  <a:srgbClr val="0000CC"/>
                </a:solidFill>
              </a:rPr>
              <a:t> </a:t>
            </a:r>
            <a:r>
              <a:rPr lang="en-US" dirty="0" err="1" smtClean="0">
                <a:solidFill>
                  <a:srgbClr val="0000CC"/>
                </a:solidFill>
              </a:rPr>
              <a:t>loại</a:t>
            </a:r>
            <a:r>
              <a:rPr lang="en-US" dirty="0" smtClean="0">
                <a:solidFill>
                  <a:srgbClr val="0000CC"/>
                </a:solidFill>
              </a:rPr>
              <a:t>: </a:t>
            </a:r>
            <a:r>
              <a:rPr lang="en-US" dirty="0" err="1" smtClean="0">
                <a:solidFill>
                  <a:srgbClr val="0000CC"/>
                </a:solidFill>
              </a:rPr>
              <a:t>Độ</a:t>
            </a:r>
            <a:r>
              <a:rPr lang="en-US" dirty="0" smtClean="0">
                <a:solidFill>
                  <a:srgbClr val="0000CC"/>
                </a:solidFill>
              </a:rPr>
              <a:t> </a:t>
            </a:r>
            <a:r>
              <a:rPr lang="en-US" dirty="0" err="1" smtClean="0">
                <a:solidFill>
                  <a:srgbClr val="0000CC"/>
                </a:solidFill>
              </a:rPr>
              <a:t>chính</a:t>
            </a:r>
            <a:r>
              <a:rPr lang="en-US" dirty="0" smtClean="0">
                <a:solidFill>
                  <a:srgbClr val="0000CC"/>
                </a:solidFill>
              </a:rPr>
              <a:t> </a:t>
            </a:r>
            <a:r>
              <a:rPr lang="en-US" dirty="0" err="1" smtClean="0">
                <a:solidFill>
                  <a:srgbClr val="0000CC"/>
                </a:solidFill>
              </a:rPr>
              <a:t>xác</a:t>
            </a:r>
            <a:r>
              <a:rPr lang="en-US" dirty="0" smtClean="0">
                <a:solidFill>
                  <a:srgbClr val="0000CC"/>
                </a:solidFill>
              </a:rPr>
              <a:t>, F1.</a:t>
            </a:r>
            <a:endParaRPr lang="en-US" dirty="0">
              <a:solidFill>
                <a:srgbClr val="0000CC"/>
              </a:solidFill>
            </a:endParaRPr>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8348114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Ví</a:t>
            </a:r>
            <a:r>
              <a:rPr lang="en-US" dirty="0"/>
              <a:t> </a:t>
            </a:r>
            <a:r>
              <a:rPr lang="en-US" dirty="0" err="1"/>
              <a:t>dụ</a:t>
            </a:r>
            <a:r>
              <a:rPr lang="en-US" dirty="0"/>
              <a:t> </a:t>
            </a:r>
            <a:r>
              <a:rPr lang="en-US" dirty="0" err="1"/>
              <a:t>Dự</a:t>
            </a:r>
            <a:r>
              <a:rPr lang="en-US" dirty="0"/>
              <a:t> </a:t>
            </a:r>
            <a:r>
              <a:rPr lang="en-US" dirty="0" err="1"/>
              <a:t>án</a:t>
            </a:r>
            <a:r>
              <a:rPr lang="en-US" dirty="0"/>
              <a:t> </a:t>
            </a:r>
            <a:r>
              <a:rPr lang="en-US" dirty="0" err="1"/>
              <a:t>khoa</a:t>
            </a:r>
            <a:r>
              <a:rPr lang="en-US" dirty="0"/>
              <a:t> </a:t>
            </a:r>
            <a:r>
              <a:rPr lang="en-US" dirty="0" err="1"/>
              <a:t>học</a:t>
            </a:r>
            <a:r>
              <a:rPr lang="en-US" dirty="0"/>
              <a:t> </a:t>
            </a:r>
            <a:r>
              <a:rPr lang="en-US" dirty="0" err="1"/>
              <a:t>dữ</a:t>
            </a:r>
            <a:r>
              <a:rPr lang="en-US" dirty="0"/>
              <a:t> </a:t>
            </a:r>
            <a:r>
              <a:rPr lang="en-US" dirty="0" err="1"/>
              <a:t>liệu</a:t>
            </a:r>
            <a:endParaRPr lang="en-US" dirty="0"/>
          </a:p>
        </p:txBody>
      </p:sp>
      <p:sp>
        <p:nvSpPr>
          <p:cNvPr id="3" name="Content Placeholder 2"/>
          <p:cNvSpPr>
            <a:spLocks noGrp="1"/>
          </p:cNvSpPr>
          <p:nvPr>
            <p:ph idx="1"/>
          </p:nvPr>
        </p:nvSpPr>
        <p:spPr/>
        <p:txBody>
          <a:bodyPr/>
          <a:lstStyle/>
          <a:p>
            <a:r>
              <a:rPr lang="en-US" dirty="0" err="1"/>
              <a:t>Bước</a:t>
            </a:r>
            <a:r>
              <a:rPr lang="en-US" dirty="0"/>
              <a:t> 7: </a:t>
            </a:r>
            <a:r>
              <a:rPr lang="en-US" dirty="0" err="1"/>
              <a:t>Trình</a:t>
            </a:r>
            <a:r>
              <a:rPr lang="en-US" dirty="0"/>
              <a:t> </a:t>
            </a:r>
            <a:r>
              <a:rPr lang="en-US" dirty="0" err="1"/>
              <a:t>bày</a:t>
            </a:r>
            <a:r>
              <a:rPr lang="en-US" dirty="0"/>
              <a:t> </a:t>
            </a:r>
            <a:r>
              <a:rPr lang="en-US" dirty="0" err="1"/>
              <a:t>kết</a:t>
            </a:r>
            <a:r>
              <a:rPr lang="en-US" dirty="0"/>
              <a:t> </a:t>
            </a:r>
            <a:r>
              <a:rPr lang="en-US" dirty="0" err="1" smtClean="0"/>
              <a:t>quả</a:t>
            </a:r>
            <a:endParaRPr lang="en-US" dirty="0" smtClean="0"/>
          </a:p>
          <a:p>
            <a:pPr lvl="1"/>
            <a:r>
              <a:rPr lang="en-US" dirty="0" err="1" smtClean="0"/>
              <a:t>Diễn</a:t>
            </a:r>
            <a:r>
              <a:rPr lang="en-US" dirty="0" smtClean="0"/>
              <a:t> </a:t>
            </a:r>
            <a:r>
              <a:rPr lang="en-US" dirty="0" err="1" smtClean="0"/>
              <a:t>giải</a:t>
            </a:r>
            <a:r>
              <a:rPr lang="en-US" dirty="0" smtClean="0"/>
              <a:t> </a:t>
            </a:r>
            <a:r>
              <a:rPr lang="en-US" dirty="0" err="1" smtClean="0"/>
              <a:t>các</a:t>
            </a:r>
            <a:r>
              <a:rPr lang="en-US" dirty="0" smtClean="0"/>
              <a:t> </a:t>
            </a:r>
            <a:r>
              <a:rPr lang="en-US" dirty="0" err="1" smtClean="0"/>
              <a:t>kết</a:t>
            </a:r>
            <a:r>
              <a:rPr lang="en-US" dirty="0" smtClean="0"/>
              <a:t> </a:t>
            </a:r>
            <a:r>
              <a:rPr lang="en-US" dirty="0" err="1" smtClean="0"/>
              <a:t>quả</a:t>
            </a:r>
            <a:r>
              <a:rPr lang="en-US" dirty="0" smtClean="0"/>
              <a:t> </a:t>
            </a:r>
            <a:r>
              <a:rPr lang="en-US" dirty="0" err="1" smtClean="0"/>
              <a:t>của</a:t>
            </a:r>
            <a:r>
              <a:rPr lang="en-US" dirty="0" smtClean="0"/>
              <a:t> </a:t>
            </a:r>
            <a:r>
              <a:rPr lang="en-US" dirty="0" err="1" smtClean="0"/>
              <a:t>mô</a:t>
            </a:r>
            <a:r>
              <a:rPr lang="en-US" dirty="0" smtClean="0"/>
              <a:t> </a:t>
            </a:r>
            <a:r>
              <a:rPr lang="en-US" dirty="0" err="1" smtClean="0"/>
              <a:t>hình</a:t>
            </a:r>
            <a:endParaRPr lang="en-US" dirty="0" smtClean="0"/>
          </a:p>
          <a:p>
            <a:r>
              <a:rPr lang="en-US" dirty="0" err="1" smtClean="0"/>
              <a:t>Bước</a:t>
            </a:r>
            <a:r>
              <a:rPr lang="en-US" dirty="0" smtClean="0"/>
              <a:t> </a:t>
            </a:r>
            <a:r>
              <a:rPr lang="en-US" dirty="0"/>
              <a:t>8: </a:t>
            </a:r>
            <a:r>
              <a:rPr lang="en-US" dirty="0" err="1"/>
              <a:t>Triển</a:t>
            </a:r>
            <a:r>
              <a:rPr lang="en-US" dirty="0"/>
              <a:t> </a:t>
            </a:r>
            <a:r>
              <a:rPr lang="en-US" dirty="0" err="1"/>
              <a:t>khai</a:t>
            </a:r>
            <a:r>
              <a:rPr lang="en-US" dirty="0"/>
              <a:t> </a:t>
            </a:r>
            <a:r>
              <a:rPr lang="en-US" dirty="0" err="1"/>
              <a:t>hệ</a:t>
            </a:r>
            <a:r>
              <a:rPr lang="en-US" dirty="0"/>
              <a:t> </a:t>
            </a:r>
            <a:r>
              <a:rPr lang="en-US" dirty="0" err="1" smtClean="0"/>
              <a:t>thống</a:t>
            </a:r>
            <a:endParaRPr lang="en-US" dirty="0" smtClean="0"/>
          </a:p>
          <a:p>
            <a:pPr lvl="1"/>
            <a:r>
              <a:rPr lang="en-US" dirty="0" err="1" smtClean="0"/>
              <a:t>Tích</a:t>
            </a:r>
            <a:r>
              <a:rPr lang="en-US" dirty="0" smtClean="0"/>
              <a:t> </a:t>
            </a:r>
            <a:r>
              <a:rPr lang="en-US" dirty="0" err="1" smtClean="0"/>
              <a:t>hợp</a:t>
            </a:r>
            <a:r>
              <a:rPr lang="en-US" dirty="0" smtClean="0"/>
              <a:t> </a:t>
            </a:r>
            <a:r>
              <a:rPr lang="en-US" dirty="0" err="1" smtClean="0"/>
              <a:t>mô</a:t>
            </a:r>
            <a:r>
              <a:rPr lang="en-US" dirty="0" smtClean="0"/>
              <a:t> </a:t>
            </a:r>
            <a:r>
              <a:rPr lang="en-US" dirty="0" err="1" smtClean="0"/>
              <a:t>hình</a:t>
            </a:r>
            <a:r>
              <a:rPr lang="en-US" dirty="0" smtClean="0"/>
              <a:t> </a:t>
            </a:r>
            <a:r>
              <a:rPr lang="en-US" dirty="0" err="1" smtClean="0"/>
              <a:t>vào</a:t>
            </a:r>
            <a:r>
              <a:rPr lang="en-US" dirty="0" smtClean="0"/>
              <a:t> </a:t>
            </a:r>
            <a:r>
              <a:rPr lang="en-US" dirty="0" err="1" smtClean="0"/>
              <a:t>một</a:t>
            </a:r>
            <a:r>
              <a:rPr lang="en-US" dirty="0" smtClean="0"/>
              <a:t> </a:t>
            </a:r>
            <a:r>
              <a:rPr lang="en-US" dirty="0" err="1" smtClean="0"/>
              <a:t>ứng</a:t>
            </a:r>
            <a:r>
              <a:rPr lang="en-US" dirty="0" smtClean="0"/>
              <a:t> </a:t>
            </a:r>
            <a:r>
              <a:rPr lang="en-US" dirty="0" err="1" smtClean="0"/>
              <a:t>dụng</a:t>
            </a:r>
            <a:r>
              <a:rPr lang="en-US" dirty="0" smtClean="0"/>
              <a:t> </a:t>
            </a:r>
            <a:r>
              <a:rPr lang="en-US" dirty="0" err="1" smtClean="0"/>
              <a:t>của</a:t>
            </a:r>
            <a:r>
              <a:rPr lang="en-US" dirty="0" smtClean="0"/>
              <a:t> web, app </a:t>
            </a:r>
            <a:r>
              <a:rPr lang="en-US" dirty="0" err="1" smtClean="0"/>
              <a:t>để</a:t>
            </a:r>
            <a:r>
              <a:rPr lang="en-US" dirty="0" smtClean="0"/>
              <a:t> </a:t>
            </a:r>
            <a:r>
              <a:rPr lang="en-US" dirty="0" err="1" smtClean="0"/>
              <a:t>cung</a:t>
            </a:r>
            <a:r>
              <a:rPr lang="en-US" dirty="0" smtClean="0"/>
              <a:t> </a:t>
            </a:r>
            <a:r>
              <a:rPr lang="en-US" dirty="0" err="1" smtClean="0"/>
              <a:t>cấp</a:t>
            </a:r>
            <a:r>
              <a:rPr lang="en-US" dirty="0" smtClean="0"/>
              <a:t> </a:t>
            </a:r>
            <a:r>
              <a:rPr lang="en-US" dirty="0" err="1" smtClean="0"/>
              <a:t>tín</a:t>
            </a:r>
            <a:r>
              <a:rPr lang="en-US" dirty="0" smtClean="0"/>
              <a:t> </a:t>
            </a:r>
            <a:r>
              <a:rPr lang="en-US" dirty="0" err="1" smtClean="0"/>
              <a:t>hiệu</a:t>
            </a:r>
            <a:r>
              <a:rPr lang="en-US" dirty="0" smtClean="0"/>
              <a:t> </a:t>
            </a:r>
            <a:r>
              <a:rPr lang="en-US" dirty="0" err="1" smtClean="0"/>
              <a:t>giao</a:t>
            </a:r>
            <a:r>
              <a:rPr lang="en-US" dirty="0" smtClean="0"/>
              <a:t> </a:t>
            </a:r>
            <a:r>
              <a:rPr lang="en-US" dirty="0" err="1" smtClean="0"/>
              <a:t>dịch</a:t>
            </a:r>
            <a:r>
              <a:rPr lang="en-US" dirty="0" smtClean="0"/>
              <a:t> </a:t>
            </a:r>
            <a:r>
              <a:rPr lang="en-US" dirty="0" err="1" smtClean="0"/>
              <a:t>cho</a:t>
            </a:r>
            <a:r>
              <a:rPr lang="en-US" dirty="0" smtClean="0"/>
              <a:t> </a:t>
            </a:r>
            <a:r>
              <a:rPr lang="en-US" dirty="0" err="1" smtClean="0"/>
              <a:t>nhà</a:t>
            </a:r>
            <a:r>
              <a:rPr lang="en-US" dirty="0" smtClean="0"/>
              <a:t> </a:t>
            </a:r>
            <a:r>
              <a:rPr lang="en-US" dirty="0" err="1" smtClean="0"/>
              <a:t>đầu</a:t>
            </a:r>
            <a:r>
              <a:rPr lang="en-US" dirty="0" smtClean="0"/>
              <a:t> </a:t>
            </a:r>
            <a:r>
              <a:rPr lang="en-US" dirty="0" err="1" smtClean="0"/>
              <a:t>tư</a:t>
            </a:r>
            <a:endParaRPr lang="en-US" dirty="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12870574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GỢI Ý MỘT SỐ DỰ ÁN</a:t>
            </a:r>
            <a:endParaRPr lang="en-US" dirty="0"/>
          </a:p>
        </p:txBody>
      </p:sp>
      <p:sp>
        <p:nvSpPr>
          <p:cNvPr id="3" name="Content Placeholder 2"/>
          <p:cNvSpPr>
            <a:spLocks noGrp="1"/>
          </p:cNvSpPr>
          <p:nvPr>
            <p:ph idx="1"/>
          </p:nvPr>
        </p:nvSpPr>
        <p:spPr/>
        <p:txBody>
          <a:bodyPr>
            <a:normAutofit fontScale="47500" lnSpcReduction="20000"/>
          </a:bodyPr>
          <a:lstStyle/>
          <a:p>
            <a:r>
              <a:rPr lang="vi-VN" b="1" dirty="0" smtClean="0"/>
              <a:t>7 </a:t>
            </a:r>
            <a:r>
              <a:rPr lang="vi-VN" b="1" dirty="0"/>
              <a:t>Dự án sơ cấp dành cho các bạn mới bắt </a:t>
            </a:r>
            <a:r>
              <a:rPr lang="vi-VN" b="1" dirty="0" smtClean="0"/>
              <a:t>đầu</a:t>
            </a:r>
            <a:endParaRPr lang="en-US" b="1" dirty="0" smtClean="0"/>
          </a:p>
          <a:p>
            <a:r>
              <a:rPr lang="vi-VN" dirty="0">
                <a:hlinkClick r:id="rId2"/>
              </a:rPr>
              <a:t>Phân loại chữ số viết tay mnist classification</a:t>
            </a:r>
            <a:r>
              <a:rPr lang="vi-VN" dirty="0"/>
              <a:t>: Bộ dữ liệu MNIST gồm các chữ số viết tay được phổ biến rộng rãi trong cộng đồng khoa học dữ liệu và học máy. Đây sẽ là một khởi đầu tuyệt vời để bạn làm quen với khoa học dữ liệu và hiểu các quy trình liên quan của một dự án thực tế như: cách phát triển, đánh giá và sử dụng mạng thần kinh học sâu tích chập để phân loại hình ảnh; cách ước tính hiệu suất của mô hình, khám phá các cải tiến mới,…</a:t>
            </a:r>
          </a:p>
          <a:p>
            <a:r>
              <a:rPr lang="vi-VN" dirty="0">
                <a:hlinkClick r:id="rId3"/>
              </a:rPr>
              <a:t>Dự án phát hiện tin giả với Python</a:t>
            </a:r>
            <a:r>
              <a:rPr lang="vi-VN" dirty="0"/>
              <a:t>: Dự án sử dụng Python để xây dựng một mô hình có khả năng xác định chính xác tính xác thực của thông tin, thông qua TfidfVectorizer, thuật toán Passive Aggressive Classifier và tập dữ liệu có kích thước 7796 × 4.</a:t>
            </a:r>
          </a:p>
          <a:p>
            <a:r>
              <a:rPr lang="vi-VN" dirty="0">
                <a:hlinkClick r:id="rId4"/>
              </a:rPr>
              <a:t>Dự án phát hiện làn đường theo thời gian thực bằng Python</a:t>
            </a:r>
            <a:r>
              <a:rPr lang="vi-VN" dirty="0"/>
              <a:t>: Dự án xây dựng ứng dụng xác định làn đường dựa trên dữ liệu hình ảnh hoặc video đầu vào. Đây là một trong những cơ sở phát triển của xe tự hành.</a:t>
            </a:r>
          </a:p>
          <a:p>
            <a:r>
              <a:rPr lang="vi-VN" dirty="0">
                <a:hlinkClick r:id="rId5"/>
              </a:rPr>
              <a:t>Dự án Phân tích Cảm xúc bằng ngôn ngữ R</a:t>
            </a:r>
            <a:r>
              <a:rPr lang="vi-VN" dirty="0"/>
              <a:t>: Dự án sử dụng ngôn ngữ R và tập dữ liệu ‘janeaustenR’ để phân tích từ ngữ nhằm xác định thái độ, cảm xúc, tình cảm của người nói. Kết quả của dự án được hiển thị bằng Word Cloud.</a:t>
            </a:r>
          </a:p>
          <a:p>
            <a:r>
              <a:rPr lang="vi-VN" dirty="0">
                <a:hlinkClick r:id="rId6"/>
              </a:rPr>
              <a:t>Dự án Phát hiện Bệnh Parkinson với XGBoost</a:t>
            </a:r>
            <a:r>
              <a:rPr lang="vi-VN" dirty="0"/>
              <a:t>: Ứng dụng Khoa học Dữ liệu vào lĩnh vực y tế, dự án có mục tiêu sử dụng ngôn ngữ Python và bộ dữ liệu UCI ML Parkinsons để dự đoán sớm bệnh Parkinson – bệnh thoái hoá mạn tính tiến triển, thường thấy ở người cao tuổi, gây run, cứng khớp hoặc sa sút trí tuệ,…</a:t>
            </a:r>
          </a:p>
          <a:p>
            <a:r>
              <a:rPr lang="vi-VN" dirty="0">
                <a:hlinkClick r:id="rId7"/>
              </a:rPr>
              <a:t>Dự án phát hiện bệnh trên lá cây</a:t>
            </a:r>
            <a:r>
              <a:rPr lang="vi-VN" dirty="0"/>
              <a:t>: Nhằm cung cấp giao diện kiểm tra tự động dựa trên hình ảnh, dự án sử dụng các kỹ thuật học sâu để phân loại lá cây khỏe mạnh hay bị nhiễm bệnh, hướng tới phục vụ ứng dụng trong nông nghiệp.</a:t>
            </a:r>
          </a:p>
          <a:p>
            <a:r>
              <a:rPr lang="vi-VN" dirty="0">
                <a:hlinkClick r:id="rId8"/>
              </a:rPr>
              <a:t>Dự án phát hiện màu sắc với OpenCV</a:t>
            </a:r>
            <a:r>
              <a:rPr lang="vi-VN" dirty="0"/>
              <a:t>: Thực tế có thể có tới 16 triệu màu dựa trên Mô hình màu RGB. Do đó, để phân biệt chính xác các màu sắc này, dự án sử dụng Python và tệp dữ liệu tên màu Codebrainz nhằm xây dựng một ứng dụng nhận diện chính xác màu sắc trên mọi hình ảnh</a:t>
            </a:r>
            <a:r>
              <a:rPr lang="vi-VN" dirty="0" smtClean="0"/>
              <a:t>.</a:t>
            </a:r>
            <a:endParaRPr lang="en-US" b="1" dirty="0" smtClean="0"/>
          </a:p>
          <a:p>
            <a:pPr marL="457200" lvl="1" indent="0">
              <a:buNone/>
            </a:pPr>
            <a:endParaRPr lang="en-US" b="1" dirty="0"/>
          </a:p>
          <a:p>
            <a:r>
              <a:rPr lang="en-US" b="1" dirty="0"/>
              <a:t>https://blog.vinbigdata.org/18-du-an-khoa-hoc-du-lieu-nguon-mo-giup-ban-nang-cap-cv/</a:t>
            </a:r>
            <a:endParaRPr lang="en-US" b="1" dirty="0" smtClean="0"/>
          </a:p>
          <a:p>
            <a:endParaRPr lang="en-US" b="1" dirty="0"/>
          </a:p>
          <a:p>
            <a:endParaRPr lang="en-US" b="1" dirty="0" smtClean="0"/>
          </a:p>
          <a:p>
            <a:endParaRPr lang="en-US" b="1" dirty="0"/>
          </a:p>
          <a:p>
            <a:endParaRPr lang="en-US" b="1" dirty="0" smtClean="0"/>
          </a:p>
          <a:p>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37846811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5 </a:t>
            </a:r>
            <a:r>
              <a:rPr lang="en-US" b="1" dirty="0" err="1"/>
              <a:t>Dự</a:t>
            </a:r>
            <a:r>
              <a:rPr lang="en-US" b="1" dirty="0"/>
              <a:t> </a:t>
            </a:r>
            <a:r>
              <a:rPr lang="en-US" b="1" dirty="0" err="1"/>
              <a:t>án</a:t>
            </a:r>
            <a:r>
              <a:rPr lang="en-US" b="1" dirty="0"/>
              <a:t> </a:t>
            </a:r>
            <a:r>
              <a:rPr lang="en-US" b="1" dirty="0" err="1"/>
              <a:t>trung</a:t>
            </a:r>
            <a:r>
              <a:rPr lang="en-US" b="1" dirty="0"/>
              <a:t> </a:t>
            </a:r>
            <a:r>
              <a:rPr lang="en-US" b="1" dirty="0" err="1"/>
              <a:t>cấp</a:t>
            </a:r>
            <a:r>
              <a:rPr lang="en-US" b="1" dirty="0"/>
              <a:t> </a:t>
            </a:r>
            <a:endParaRPr lang="en-US" dirty="0"/>
          </a:p>
        </p:txBody>
      </p:sp>
      <p:sp>
        <p:nvSpPr>
          <p:cNvPr id="3" name="Content Placeholder 2"/>
          <p:cNvSpPr>
            <a:spLocks noGrp="1"/>
          </p:cNvSpPr>
          <p:nvPr>
            <p:ph idx="1"/>
          </p:nvPr>
        </p:nvSpPr>
        <p:spPr/>
        <p:txBody>
          <a:bodyPr>
            <a:normAutofit fontScale="47500" lnSpcReduction="20000"/>
          </a:bodyPr>
          <a:lstStyle/>
          <a:p>
            <a:r>
              <a:rPr lang="vi-VN" dirty="0">
                <a:hlinkClick r:id="rId2"/>
              </a:rPr>
              <a:t>Dự án nhận diện khuôn mặt</a:t>
            </a:r>
            <a:r>
              <a:rPr lang="vi-VN" dirty="0"/>
              <a:t>: Dự án sử dụng dữ liệu đào tạo bao gồm MS1M, VGG2 và CASIA-Webface đã được làm sạch và ở định dạng nhị phân MXNet. Các network backbones (phần lõi) bao gồm ResNet, MobilefaceNet, MobileNet, InceptionResNet_v2, DenseNet, v.v. Với dự án nguồn mở này, các nhà nghiên cứu/kỹ sư có thể phát triển các thuật toán nhận dạng khuôn mặt một cách nhanh chóng chỉ bằng hai bước: tải xuống bộ dữ liệu nhị phân và chạy tập lệnh đào tạo.</a:t>
            </a:r>
          </a:p>
          <a:p>
            <a:r>
              <a:rPr lang="vi-VN" dirty="0">
                <a:hlinkClick r:id="rId3"/>
              </a:rPr>
              <a:t>Dự án nhận dạng cảm xúc giọng nói với Librosa</a:t>
            </a:r>
            <a:r>
              <a:rPr lang="vi-VN" dirty="0"/>
              <a:t>: Ứng dụng các tính năng mfcc, chroma, mel và sử dụng tập dữ liệu RAVDESS, dự án xây dựng và phát triển MLPClassifier cho mô hình nhận biết cảm xúc qua giọng nói.</a:t>
            </a:r>
          </a:p>
          <a:p>
            <a:r>
              <a:rPr lang="vi-VN" dirty="0">
                <a:hlinkClick r:id="rId4"/>
              </a:rPr>
              <a:t>Dự án Phát hiện Giới tính và Tuổi với OpenCV</a:t>
            </a:r>
            <a:r>
              <a:rPr lang="vi-VN" dirty="0"/>
              <a:t>: Thông qua dự án này, bạn có thể học hỏi về Computer Vision (Thị giác máy tính) và các nguyên tắc của nó. Chỉ sử dụng một hình ảnh duy nhất của mỗi cá nhân, dự án hướng tới phát triển khả năng dự đoán giới tính và độ tuổi của người dùng, nhờ việc xây dựng hệ thống mạng thần kinh tích chập và ứng dụng các mô hình của Tal Hassner và Gil Levi.</a:t>
            </a:r>
          </a:p>
          <a:p>
            <a:r>
              <a:rPr lang="vi-VN" dirty="0">
                <a:hlinkClick r:id="rId5"/>
              </a:rPr>
              <a:t>Dự án phát triển phương pháp tự động tầm soát bệnh võng mạc tiểu đường</a:t>
            </a:r>
            <a:r>
              <a:rPr lang="vi-VN" dirty="0"/>
              <a:t>: Bệnh lý võng mạc đái tháo đường hiện là một trong những nguyên nhân hàng đầu gây mù lòa. Nhằm tăng cường khả năng chẩn đoán, tầm soát nguy cơ của bệnh, dự án hướng tới đào tạo một mạng lưới thần kinh về hình ảnh võng mạc của những người bệnh và người khỏe, thông qua đó, phân loại bệnh nhân có bệnh lý võng mạc hay không.</a:t>
            </a:r>
          </a:p>
          <a:p>
            <a:r>
              <a:rPr lang="vi-VN" dirty="0">
                <a:hlinkClick r:id="rId6"/>
              </a:rPr>
              <a:t>Dự án xây dựng Hệ thống Phát hiện buồn ngủ với OpenCV &amp; Keras</a:t>
            </a:r>
            <a:r>
              <a:rPr lang="vi-VN" dirty="0"/>
              <a:t>: Được thực hiện bằng Keras (phân loại trạng thái của mắt: mở hay nhắm) và OpenCV (phát hiện khuôn mặt và mắt), dự án xây dựng một hệ thống có khả năng phát hiện và đưa ra cảnh báo an toàn nếu tài xế rơi vào trạng thái buồn ngủ</a:t>
            </a:r>
            <a:r>
              <a:rPr lang="vi-VN" dirty="0" smtClean="0"/>
              <a:t>.</a:t>
            </a:r>
            <a:endParaRPr lang="vi-VN"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p14="http://schemas.microsoft.com/office/powerpoint/2010/main" val="26204479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6 </a:t>
            </a:r>
            <a:r>
              <a:rPr lang="en-US" b="1" dirty="0" err="1"/>
              <a:t>Dự</a:t>
            </a:r>
            <a:r>
              <a:rPr lang="en-US" b="1" dirty="0"/>
              <a:t> </a:t>
            </a:r>
            <a:r>
              <a:rPr lang="en-US" b="1" dirty="0" err="1"/>
              <a:t>án</a:t>
            </a:r>
            <a:r>
              <a:rPr lang="en-US" b="1" dirty="0"/>
              <a:t> </a:t>
            </a:r>
            <a:r>
              <a:rPr lang="en-US" b="1" dirty="0" err="1"/>
              <a:t>nâng</a:t>
            </a:r>
            <a:r>
              <a:rPr lang="en-US" b="1" dirty="0"/>
              <a:t> </a:t>
            </a:r>
            <a:r>
              <a:rPr lang="en-US" b="1" dirty="0" err="1"/>
              <a:t>cao</a:t>
            </a:r>
            <a:endParaRPr lang="en-US" dirty="0"/>
          </a:p>
        </p:txBody>
      </p:sp>
      <p:sp>
        <p:nvSpPr>
          <p:cNvPr id="3" name="Content Placeholder 2"/>
          <p:cNvSpPr>
            <a:spLocks noGrp="1"/>
          </p:cNvSpPr>
          <p:nvPr>
            <p:ph idx="1"/>
          </p:nvPr>
        </p:nvSpPr>
        <p:spPr/>
        <p:txBody>
          <a:bodyPr>
            <a:normAutofit fontScale="47500" lnSpcReduction="20000"/>
          </a:bodyPr>
          <a:lstStyle/>
          <a:p>
            <a:r>
              <a:rPr lang="vi-VN" dirty="0">
                <a:hlinkClick r:id="rId2"/>
              </a:rPr>
              <a:t>Dự án làm giả khuôn mặt với deepfake</a:t>
            </a:r>
            <a:r>
              <a:rPr lang="vi-VN" dirty="0"/>
              <a:t>: DeepFaceLab là một hệ thống deepfake mã nguồn mở được chia sẻ qua Github. DeepFaceLab cung cấp một tiện ích đồ họa và thiết kế cho phép người dùng hoán đổi khuôn mặt trên bất kỳ hình ảnh hoặc video nào. Hình ảnh được tạo ra có thể vượt qua nhiều phương pháp phát hiện giả mạo chính thống.</a:t>
            </a:r>
          </a:p>
          <a:p>
            <a:r>
              <a:rPr lang="vi-VN" dirty="0">
                <a:hlinkClick r:id="rId3"/>
              </a:rPr>
              <a:t>Dự án phát triển Trình tạo phụ đề hình ảnh bằng Python</a:t>
            </a:r>
            <a:r>
              <a:rPr lang="vi-VN" dirty="0"/>
              <a:t>: Mô tả nội dung của hình ảnh là một nhiệm vụ dễ dàng đối với con người, nhưng với máy tính, hình ảnh chỉ là một loạt các con số thể hiện giá trị màu sắc của mỗi pixel. Vì vậy, máy tính gặp phải thách thức không nhỏ trong việc hiểu nội dung hình ảnh và sau đó viết các mô tả bằng ngôn ngữ tự nhiên. Dự án này sử dụng các kỹ thuật học sâu, trong đó triển khai mạng thần kinh tích chập (CNN) với Mạng thần kinh hồi quy (LSTM) để xây dựng trình tạo phụ đề hình ảnh.</a:t>
            </a:r>
          </a:p>
          <a:p>
            <a:r>
              <a:rPr lang="vi-VN" dirty="0">
                <a:hlinkClick r:id="rId4"/>
              </a:rPr>
              <a:t>Dự án Phát hiện gian lận thẻ tín dụng với Học máy</a:t>
            </a:r>
            <a:r>
              <a:rPr lang="vi-VN" dirty="0"/>
              <a:t>: Dự án sử dụng R với các thuật toán như Cây quyết định, Hồi quy logistic, Mạng thần kinh nhân tạo và Gradient Boosting Classifier để phân loại các giao dịch thẻ tín dụng thành 02 nhóm gian lận hay xác thực.</a:t>
            </a:r>
          </a:p>
          <a:p>
            <a:r>
              <a:rPr lang="vi-VN" dirty="0">
                <a:hlinkClick r:id="rId5"/>
              </a:rPr>
              <a:t>Dự án Phân khúc khách hàng với Học máy</a:t>
            </a:r>
            <a:r>
              <a:rPr lang="vi-VN" dirty="0"/>
              <a:t>: Phân khúc khách hàng là một ứng dụng phổ biến của học không giám sát (unsupervised learning). Dự án sử dụng K-means clustering và trực quan hóa phân bổ giới tính và độ tuổi của khách hàng, tiến hành phân tích thu nhập hàng năm và mức chi tiêu của họ.</a:t>
            </a:r>
          </a:p>
          <a:p>
            <a:r>
              <a:rPr lang="vi-VN" dirty="0">
                <a:hlinkClick r:id="rId6"/>
              </a:rPr>
              <a:t>Dự án Phân loại ung thư vú bằng Học sâu</a:t>
            </a:r>
            <a:r>
              <a:rPr lang="vi-VN" dirty="0"/>
              <a:t>: Dự án sử dụng tập dữ liệu IDC_regular để phát hiện sự hiện diện của Ung thư biểu mô tuyến xâm lấn, dạng ung thư vú phổ biến nhất hiện nay, qua đó, tiến hành phân loại dựa trên ứng dụng Học sâu và thư viện Keras.</a:t>
            </a:r>
          </a:p>
          <a:p>
            <a:r>
              <a:rPr lang="vi-VN" dirty="0">
                <a:hlinkClick r:id="rId7"/>
              </a:rPr>
              <a:t>Dự án phát hiện khối u não dựa trên ảnh MRI</a:t>
            </a:r>
            <a:r>
              <a:rPr lang="vi-VN" dirty="0"/>
              <a:t>. Dự án sử dụng mô hình Transfer learning (Học chuyển giao) trên bộ dữ liệu MRI, kết hợp với mạng thần kinh tích chập để phát hiện khối u não.</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spTree>
    <p:extLst>
      <p:ext uri="{BB962C8B-B14F-4D97-AF65-F5344CB8AC3E}">
        <p14:creationId xmlns:p14="http://schemas.microsoft.com/office/powerpoint/2010/main" val="1619710633"/>
      </p:ext>
    </p:extLst>
  </p:cSld>
  <p:clrMapOvr>
    <a:masterClrMapping/>
  </p:clrMapOvr>
</p:sld>
</file>

<file path=ppt/theme/theme1.xml><?xml version="1.0" encoding="utf-8"?>
<a:theme xmlns:a="http://schemas.openxmlformats.org/drawingml/2006/main" name="Office Them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2152</TotalTime>
  <Words>3755</Words>
  <Application>Microsoft Office PowerPoint</Application>
  <PresentationFormat>Widescreen</PresentationFormat>
  <Paragraphs>361</Paragraphs>
  <Slides>36</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42" baseType="lpstr">
      <vt:lpstr>-apple-system</vt:lpstr>
      <vt:lpstr>Arial</vt:lpstr>
      <vt:lpstr>Calibri</vt:lpstr>
      <vt:lpstr>Times New Roman</vt:lpstr>
      <vt:lpstr>Office Theme</vt:lpstr>
      <vt:lpstr>Bitmap Image</vt:lpstr>
      <vt:lpstr>Chương 3: Quy trình làm dự án liên quan đến ngành khoa học dữ liệu</vt:lpstr>
      <vt:lpstr>NỘI DUNG</vt:lpstr>
      <vt:lpstr>Bước 1 Xác định vấn đề</vt:lpstr>
      <vt:lpstr>Bước 2: Thu thập dữ liệu</vt:lpstr>
      <vt:lpstr>Bước 3: Khám phá dữ liệu</vt:lpstr>
      <vt:lpstr>Bước 4 Xử lý dữ liệu</vt:lpstr>
      <vt:lpstr>Bước 5 Mô hình hứa hẹn</vt:lpstr>
      <vt:lpstr>Bước 6 Tinh chỉnh hệ thống</vt:lpstr>
      <vt:lpstr>Bước 7 Trình bày giải pháp của bạn</vt:lpstr>
      <vt:lpstr>Bước 8 Triển khai hệ thống</vt:lpstr>
      <vt:lpstr>PowerPoint Presentation</vt:lpstr>
      <vt:lpstr>https://www.kaggle.com/</vt:lpstr>
      <vt:lpstr>UCI Irvine Machine Learning Repository</vt:lpstr>
      <vt:lpstr>https://archive.ics.uci.edu/ml/datasets.php</vt:lpstr>
      <vt:lpstr>https://aws.amazon.com/</vt:lpstr>
      <vt:lpstr>https://data.gov.vn</vt:lpstr>
      <vt:lpstr>Một số trang web</vt:lpstr>
      <vt:lpstr>PowerPoint Presentation</vt:lpstr>
      <vt:lpstr>DỰ ÁN 1: BẤT ĐỘNG SẢN</vt:lpstr>
      <vt:lpstr>DỰ ÁN 2: NHẬN DẠNG BIỂN SỐ XE</vt:lpstr>
      <vt:lpstr>DỰ ÁN 3: PHÂN CỤM DỮ LIỆU</vt:lpstr>
      <vt:lpstr>DỮ LIỆU: IRIS</vt:lpstr>
      <vt:lpstr>MỘT SỐ CÔNG CỤ SỬ DỤNG</vt:lpstr>
      <vt:lpstr>sklearn.linear_model: Linear Models </vt:lpstr>
      <vt:lpstr>sklearn.linear_model: Linear Models </vt:lpstr>
      <vt:lpstr>sklearn.cluster: Clustering </vt:lpstr>
      <vt:lpstr>NỘP BÁO CÁO THEO NHÓM</vt:lpstr>
      <vt:lpstr>GỢI Ý MỘT SỐ DỰ ÁN</vt:lpstr>
      <vt:lpstr>sklearn</vt:lpstr>
      <vt:lpstr>Ví dụ Dự án khoa học dữ liệu</vt:lpstr>
      <vt:lpstr>Ví dụ Dự án khoa học dữ liệu</vt:lpstr>
      <vt:lpstr>Ví dụ Dự án khoa học dữ liệu</vt:lpstr>
      <vt:lpstr>Ví dụ Dự án khoa học dữ liệu</vt:lpstr>
      <vt:lpstr>GỢI Ý MỘT SỐ DỰ ÁN</vt:lpstr>
      <vt:lpstr>5 Dự án trung cấp </vt:lpstr>
      <vt:lpstr>6 Dự án nâng cao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Mathematics CIVE 2602.2</dc:title>
  <dc:creator>TranLong</dc:creator>
  <cp:lastModifiedBy>Admin</cp:lastModifiedBy>
  <cp:revision>206</cp:revision>
  <dcterms:created xsi:type="dcterms:W3CDTF">2006-08-16T00:00:00Z</dcterms:created>
  <dcterms:modified xsi:type="dcterms:W3CDTF">2026-09-06T03:10:27Z</dcterms:modified>
</cp:coreProperties>
</file>