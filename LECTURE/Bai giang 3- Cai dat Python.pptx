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98" r:id="rId3"/>
    <p:sldId id="299" r:id="rId4"/>
    <p:sldId id="300" r:id="rId5"/>
    <p:sldId id="301" r:id="rId6"/>
    <p:sldId id="302" r:id="rId7"/>
    <p:sldId id="303" r:id="rId8"/>
    <p:sldId id="304" r:id="rId9"/>
    <p:sldId id="305" r:id="rId10"/>
    <p:sldId id="306" r:id="rId11"/>
    <p:sldId id="307" r:id="rId12"/>
    <p:sldId id="308" r:id="rId13"/>
    <p:sldId id="330" r:id="rId14"/>
    <p:sldId id="309" r:id="rId15"/>
    <p:sldId id="310" r:id="rId16"/>
    <p:sldId id="311" r:id="rId17"/>
    <p:sldId id="313" r:id="rId18"/>
    <p:sldId id="314" r:id="rId19"/>
    <p:sldId id="315" r:id="rId20"/>
    <p:sldId id="316" r:id="rId21"/>
    <p:sldId id="318" r:id="rId22"/>
    <p:sldId id="317" r:id="rId23"/>
    <p:sldId id="337" r:id="rId24"/>
    <p:sldId id="319" r:id="rId25"/>
    <p:sldId id="334" r:id="rId26"/>
    <p:sldId id="333" r:id="rId27"/>
    <p:sldId id="335" r:id="rId28"/>
    <p:sldId id="336" r:id="rId29"/>
    <p:sldId id="320" r:id="rId30"/>
    <p:sldId id="321" r:id="rId31"/>
    <p:sldId id="322" r:id="rId32"/>
    <p:sldId id="323" r:id="rId33"/>
    <p:sldId id="324" r:id="rId34"/>
    <p:sldId id="325" r:id="rId35"/>
    <p:sldId id="326" r:id="rId36"/>
    <p:sldId id="327" r:id="rId37"/>
    <p:sldId id="328" r:id="rId38"/>
    <p:sldId id="329" r:id="rId39"/>
    <p:sldId id="332" r:id="rId40"/>
    <p:sldId id="33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691" y="7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48CE1B-89DF-4451-914C-8EAA83904CE5}" type="datetimeFigureOut">
              <a:rPr lang="vi-VN" smtClean="0"/>
              <a:pPr/>
              <a:t>07/10/2025</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F09D81-1F8F-4D0C-92B0-DA0D3EC8E914}" type="slidenum">
              <a:rPr lang="vi-VN" smtClean="0"/>
              <a:pPr/>
              <a:t>‹#›</a:t>
            </a:fld>
            <a:endParaRPr lang="vi-VN"/>
          </a:p>
        </p:txBody>
      </p:sp>
    </p:spTree>
    <p:extLst>
      <p:ext uri="{BB962C8B-B14F-4D97-AF65-F5344CB8AC3E}">
        <p14:creationId xmlns:p14="http://schemas.microsoft.com/office/powerpoint/2010/main" val="342385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2057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2536841" y="3806631"/>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1571641" y="6356351"/>
            <a:ext cx="2844800" cy="365125"/>
          </a:xfrm>
        </p:spPr>
        <p:txBody>
          <a:bodyPr/>
          <a:lstStyle/>
          <a:p>
            <a:endParaRPr lang="en-US" dirty="0"/>
          </a:p>
        </p:txBody>
      </p:sp>
      <p:sp>
        <p:nvSpPr>
          <p:cNvPr id="5" name="Footer Placeholder 4"/>
          <p:cNvSpPr>
            <a:spLocks noGrp="1"/>
          </p:cNvSpPr>
          <p:nvPr>
            <p:ph type="ftr" sz="quarter" idx="11"/>
          </p:nvPr>
        </p:nvSpPr>
        <p:spPr>
          <a:xfrm>
            <a:off x="4734331" y="6356351"/>
            <a:ext cx="3860800" cy="365125"/>
          </a:xfrm>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9266" y="274638"/>
            <a:ext cx="10634134"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1329266" y="1600201"/>
            <a:ext cx="10634133"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4337049" y="6356351"/>
            <a:ext cx="3860800" cy="365125"/>
          </a:xfrm>
        </p:spPr>
        <p:txBody>
          <a:bodyPr/>
          <a:lstStyle/>
          <a:p>
            <a:endParaRPr lang="en-US" dirty="0"/>
          </a:p>
        </p:txBody>
      </p:sp>
      <p:sp>
        <p:nvSpPr>
          <p:cNvPr id="6" name="Slide Number Placeholder 5"/>
          <p:cNvSpPr>
            <a:spLocks noGrp="1"/>
          </p:cNvSpPr>
          <p:nvPr>
            <p:ph type="sldNum" sz="quarter" idx="12"/>
          </p:nvPr>
        </p:nvSpPr>
        <p:spPr>
          <a:xfrm>
            <a:off x="9080499" y="6356351"/>
            <a:ext cx="2844800" cy="365125"/>
          </a:xfrm>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Rectangle 10"/>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Rectangle 4"/>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Rectangle 5"/>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3F4466-4275-4567-A820-1B91279C7BDE}" type="datetime1">
              <a:rPr lang="en-US" smtClean="0"/>
              <a:pPr/>
              <a:t>7/10/2025</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5A56F-200E-4368-A691-1AE2D27A4578}" type="datetime1">
              <a:rPr lang="en-US" smtClean="0"/>
              <a:pPr/>
              <a:t>7/10/2025</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27759" y="274638"/>
            <a:ext cx="10835641"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27759" y="1600201"/>
            <a:ext cx="10835641"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57000" y="6356351"/>
            <a:ext cx="22973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848A39-50DC-42FB-A368-12ED3EE12084}" type="datetime1">
              <a:rPr lang="en-US" smtClean="0"/>
              <a:pPr/>
              <a:t>7/10/2025</a:t>
            </a:fld>
            <a:endParaRPr lang="en-US"/>
          </a:p>
        </p:txBody>
      </p:sp>
      <p:sp>
        <p:nvSpPr>
          <p:cNvPr id="5" name="Footer Placeholder 4"/>
          <p:cNvSpPr>
            <a:spLocks noGrp="1"/>
          </p:cNvSpPr>
          <p:nvPr>
            <p:ph type="ftr" sz="quarter" idx="3"/>
          </p:nvPr>
        </p:nvSpPr>
        <p:spPr>
          <a:xfrm>
            <a:off x="4343400" y="636597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CIVE 2602.2</a:t>
            </a:r>
            <a:endParaRPr lang="en-US"/>
          </a:p>
        </p:txBody>
      </p:sp>
      <p:sp>
        <p:nvSpPr>
          <p:cNvPr id="6" name="Slide Number Placeholder 5"/>
          <p:cNvSpPr>
            <a:spLocks noGrp="1"/>
          </p:cNvSpPr>
          <p:nvPr>
            <p:ph type="sldNum" sz="quarter" idx="4"/>
          </p:nvPr>
        </p:nvSpPr>
        <p:spPr>
          <a:xfrm>
            <a:off x="90932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Rectangle 6"/>
          <p:cNvSpPr/>
          <p:nvPr userDrawn="1"/>
        </p:nvSpPr>
        <p:spPr>
          <a:xfrm>
            <a:off x="1" y="0"/>
            <a:ext cx="267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1" y="368300"/>
            <a:ext cx="268000" cy="203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 y="1181100"/>
            <a:ext cx="268000" cy="2032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0070C0"/>
              </a:solidFill>
            </a:endParaRPr>
          </a:p>
        </p:txBody>
      </p:sp>
      <p:sp>
        <p:nvSpPr>
          <p:cNvPr id="10" name="Rectangle 9"/>
          <p:cNvSpPr/>
          <p:nvPr userDrawn="1"/>
        </p:nvSpPr>
        <p:spPr>
          <a:xfrm>
            <a:off x="1" y="774700"/>
            <a:ext cx="268000"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990600"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05483" y="549275"/>
            <a:ext cx="608917" cy="631825"/>
          </a:xfrm>
          <a:prstGeom prst="rect">
            <a:avLst/>
          </a:prstGeom>
        </p:spPr>
      </p:pic>
      <p:pic>
        <p:nvPicPr>
          <p:cNvPr id="14" name="Picture 13"/>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69781" y="5635318"/>
            <a:ext cx="719040" cy="722600"/>
          </a:xfrm>
          <a:prstGeom prst="rect">
            <a:avLst/>
          </a:prstGeom>
        </p:spPr>
      </p:pic>
      <p:sp>
        <p:nvSpPr>
          <p:cNvPr id="13" name="TextBox 12"/>
          <p:cNvSpPr txBox="1"/>
          <p:nvPr userDrawn="1"/>
        </p:nvSpPr>
        <p:spPr>
          <a:xfrm rot="16200000">
            <a:off x="-1563892" y="3136612"/>
            <a:ext cx="4347665" cy="584775"/>
          </a:xfrm>
          <a:prstGeom prst="rect">
            <a:avLst/>
          </a:prstGeom>
          <a:noFill/>
        </p:spPr>
        <p:txBody>
          <a:bodyPr wrap="none" rtlCol="0">
            <a:spAutoFit/>
          </a:bodyPr>
          <a:lstStyle/>
          <a:p>
            <a:r>
              <a:rPr lang="en-US" sz="3200" b="1" dirty="0" smtClean="0">
                <a:solidFill>
                  <a:srgbClr val="000099"/>
                </a:solidFill>
                <a:latin typeface="Times New Roman" panose="02020603050405020304" pitchFamily="18" charset="0"/>
                <a:cs typeface="Times New Roman" panose="02020603050405020304" pitchFamily="18" charset="0"/>
              </a:rPr>
              <a:t>S</a:t>
            </a:r>
            <a:r>
              <a:rPr lang="en-US" sz="2400" b="0" dirty="0" smtClean="0">
                <a:solidFill>
                  <a:srgbClr val="002060"/>
                </a:solidFill>
                <a:latin typeface="Times New Roman" panose="02020603050405020304" pitchFamily="18" charset="0"/>
                <a:cs typeface="Times New Roman" panose="02020603050405020304" pitchFamily="18" charset="0"/>
              </a:rPr>
              <a:t>chool</a:t>
            </a:r>
            <a:r>
              <a:rPr lang="en-US" sz="2400" b="0" baseline="0" dirty="0" smtClean="0">
                <a:solidFill>
                  <a:srgbClr val="002060"/>
                </a:solidFill>
                <a:latin typeface="Times New Roman" panose="02020603050405020304" pitchFamily="18" charset="0"/>
                <a:cs typeface="Times New Roman" panose="02020603050405020304" pitchFamily="18" charset="0"/>
              </a:rPr>
              <a:t> of </a:t>
            </a:r>
            <a:r>
              <a:rPr lang="en-US" sz="3200" b="1" baseline="0" dirty="0" smtClean="0">
                <a:solidFill>
                  <a:srgbClr val="FFC000"/>
                </a:solidFill>
                <a:latin typeface="Times New Roman" panose="02020603050405020304" pitchFamily="18" charset="0"/>
                <a:cs typeface="Times New Roman" panose="02020603050405020304" pitchFamily="18" charset="0"/>
              </a:rPr>
              <a:t>A</a:t>
            </a:r>
            <a:r>
              <a:rPr lang="en-US" sz="2400" b="0" baseline="0" dirty="0" smtClean="0">
                <a:solidFill>
                  <a:srgbClr val="002060"/>
                </a:solidFill>
                <a:latin typeface="Times New Roman" panose="02020603050405020304" pitchFamily="18" charset="0"/>
                <a:cs typeface="Times New Roman" panose="02020603050405020304" pitchFamily="18" charset="0"/>
              </a:rPr>
              <a:t>pplied </a:t>
            </a:r>
            <a:r>
              <a:rPr lang="en-US" sz="3200" b="1" baseline="0" dirty="0" smtClean="0">
                <a:solidFill>
                  <a:schemeClr val="bg1">
                    <a:lumMod val="65000"/>
                  </a:schemeClr>
                </a:solidFill>
                <a:latin typeface="Times New Roman" panose="02020603050405020304" pitchFamily="18" charset="0"/>
                <a:cs typeface="Times New Roman" panose="02020603050405020304" pitchFamily="18" charset="0"/>
              </a:rPr>
              <a:t>M</a:t>
            </a:r>
            <a:r>
              <a:rPr lang="en-US" sz="2400" b="0" baseline="0" dirty="0" smtClean="0">
                <a:solidFill>
                  <a:srgbClr val="002060"/>
                </a:solidFill>
                <a:latin typeface="Times New Roman" panose="02020603050405020304" pitchFamily="18" charset="0"/>
                <a:cs typeface="Times New Roman" panose="02020603050405020304" pitchFamily="18" charset="0"/>
              </a:rPr>
              <a:t>athematics</a:t>
            </a:r>
            <a:endParaRPr lang="en-US" sz="2400" b="0" dirty="0">
              <a:solidFill>
                <a:srgbClr val="002060"/>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blog.jupyter.org/i-python-you-r-we-julia-baf064ca1fb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codelearn.io/sharing/xu-ly-du-lieu-voi-pandas-trong-python" TargetMode="External"/><Relationship Id="rId2" Type="http://schemas.openxmlformats.org/officeDocument/2006/relationships/hyperlink" Target="https://codelearn.io/sharing/tim-hieu-thu-vien-numpy-trong-python" TargetMode="External"/><Relationship Id="rId1" Type="http://schemas.openxmlformats.org/officeDocument/2006/relationships/slideLayout" Target="../slideLayouts/slideLayout2.xml"/><Relationship Id="rId4" Type="http://schemas.openxmlformats.org/officeDocument/2006/relationships/hyperlink" Target="https://codelearn.io/sharing/ve-bieu-do-voi-thu-vien-matplotlib-p1"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kaggle.com/learn" TargetMode="External"/><Relationship Id="rId2" Type="http://schemas.openxmlformats.org/officeDocument/2006/relationships/hyperlink" Target="https://www.kaggle.com/competitions" TargetMode="External"/><Relationship Id="rId1" Type="http://schemas.openxmlformats.org/officeDocument/2006/relationships/slideLayout" Target="../slideLayouts/slideLayout2.xml"/><Relationship Id="rId5" Type="http://schemas.openxmlformats.org/officeDocument/2006/relationships/hyperlink" Target="https://www.kaggle.com/code" TargetMode="External"/><Relationship Id="rId4" Type="http://schemas.openxmlformats.org/officeDocument/2006/relationships/hyperlink" Target="https://www.kaggle.com/datasets"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en.wikipedia.org/wiki/Root-mean-square_devia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000" b="1" dirty="0" smtClean="0">
                <a:solidFill>
                  <a:srgbClr val="7030A0"/>
                </a:solidFill>
              </a:rPr>
              <a:t>HƯỚNG DẪN CÀI ĐẶT PYTHON</a:t>
            </a:r>
            <a:br>
              <a:rPr lang="en-US" sz="6000" b="1" dirty="0" smtClean="0">
                <a:solidFill>
                  <a:srgbClr val="7030A0"/>
                </a:solidFill>
              </a:rPr>
            </a:br>
            <a:r>
              <a:rPr lang="en-US" sz="6000" b="1" dirty="0" smtClean="0">
                <a:solidFill>
                  <a:srgbClr val="7030A0"/>
                </a:solidFill>
              </a:rPr>
              <a:t>VÀ SỬ DỤNG THƯ VIỆN SKLEARN</a:t>
            </a:r>
            <a:endParaRPr lang="vi-VN" sz="6000" b="1" dirty="0">
              <a:solidFill>
                <a:srgbClr val="7030A0"/>
              </a:solidFill>
            </a:endParaRPr>
          </a:p>
        </p:txBody>
      </p:sp>
      <p:sp>
        <p:nvSpPr>
          <p:cNvPr id="3" name="Subtitle 2"/>
          <p:cNvSpPr>
            <a:spLocks noGrp="1"/>
          </p:cNvSpPr>
          <p:nvPr>
            <p:ph type="subTitle" idx="1"/>
          </p:nvPr>
        </p:nvSpPr>
        <p:spPr>
          <a:xfrm>
            <a:off x="2590800" y="3886200"/>
            <a:ext cx="7772400" cy="1752600"/>
          </a:xfrm>
        </p:spPr>
        <p:txBody>
          <a:bodyPr/>
          <a:lstStyle/>
          <a:p>
            <a:r>
              <a:rPr lang="en-US" dirty="0" smtClean="0">
                <a:solidFill>
                  <a:srgbClr val="0000CC"/>
                </a:solidFill>
              </a:rPr>
              <a:t>Trần Văn Long</a:t>
            </a:r>
          </a:p>
          <a:p>
            <a:r>
              <a:rPr lang="en-US" dirty="0" smtClean="0">
                <a:solidFill>
                  <a:srgbClr val="0000CC"/>
                </a:solidFill>
              </a:rPr>
              <a:t>TRƯỜNG ĐẠI HỌC GIAO THÔNG VẬN TẢI</a:t>
            </a:r>
            <a:endParaRPr lang="vi-VN" dirty="0">
              <a:solidFill>
                <a:srgbClr val="0000CC"/>
              </a:solidFill>
            </a:endParaRPr>
          </a:p>
        </p:txBody>
      </p:sp>
      <p:sp>
        <p:nvSpPr>
          <p:cNvPr id="4" name="Date Placeholder 3"/>
          <p:cNvSpPr>
            <a:spLocks noGrp="1"/>
          </p:cNvSpPr>
          <p:nvPr>
            <p:ph type="dt" sz="half" idx="10"/>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NỘI DUNG</a:t>
            </a:r>
          </a:p>
        </p:txBody>
      </p:sp>
      <p:sp>
        <p:nvSpPr>
          <p:cNvPr id="3" name="Content Placeholder 2"/>
          <p:cNvSpPr>
            <a:spLocks noGrp="1"/>
          </p:cNvSpPr>
          <p:nvPr>
            <p:ph idx="1"/>
          </p:nvPr>
        </p:nvSpPr>
        <p:spPr/>
        <p:txBody>
          <a:bodyPr/>
          <a:lstStyle/>
          <a:p>
            <a:r>
              <a:rPr lang="en-US" dirty="0" err="1" smtClean="0"/>
              <a:t>Hướng</a:t>
            </a:r>
            <a:r>
              <a:rPr lang="en-US" dirty="0" smtClean="0"/>
              <a:t> </a:t>
            </a:r>
            <a:r>
              <a:rPr lang="en-US" dirty="0" err="1" smtClean="0"/>
              <a:t>dẫn</a:t>
            </a:r>
            <a:r>
              <a:rPr lang="en-US" dirty="0" smtClean="0"/>
              <a:t> </a:t>
            </a:r>
            <a:r>
              <a:rPr lang="en-US" dirty="0" err="1" smtClean="0"/>
              <a:t>cài</a:t>
            </a:r>
            <a:r>
              <a:rPr lang="en-US" dirty="0" smtClean="0"/>
              <a:t> </a:t>
            </a:r>
            <a:r>
              <a:rPr lang="en-US" dirty="0" err="1" smtClean="0"/>
              <a:t>đặt</a:t>
            </a:r>
            <a:r>
              <a:rPr lang="en-US" dirty="0" smtClean="0"/>
              <a:t> Python</a:t>
            </a:r>
          </a:p>
          <a:p>
            <a:r>
              <a:rPr lang="en-US" dirty="0" err="1" smtClean="0"/>
              <a:t>Hướng</a:t>
            </a:r>
            <a:r>
              <a:rPr lang="en-US" dirty="0" smtClean="0"/>
              <a:t> </a:t>
            </a:r>
            <a:r>
              <a:rPr lang="en-US" dirty="0" err="1" smtClean="0"/>
              <a:t>dẫn</a:t>
            </a:r>
            <a:r>
              <a:rPr lang="en-US" dirty="0" smtClean="0"/>
              <a:t> </a:t>
            </a:r>
            <a:r>
              <a:rPr lang="en-US" dirty="0" err="1" smtClean="0"/>
              <a:t>cài</a:t>
            </a:r>
            <a:r>
              <a:rPr lang="en-US" dirty="0" smtClean="0"/>
              <a:t> </a:t>
            </a:r>
            <a:r>
              <a:rPr lang="en-US" dirty="0" err="1" smtClean="0"/>
              <a:t>đặt</a:t>
            </a:r>
            <a:r>
              <a:rPr lang="en-US" dirty="0" smtClean="0"/>
              <a:t> Anaconda</a:t>
            </a:r>
          </a:p>
          <a:p>
            <a:r>
              <a:rPr lang="en-US" dirty="0" err="1" smtClean="0"/>
              <a:t>Hướng</a:t>
            </a:r>
            <a:r>
              <a:rPr lang="en-US" dirty="0" smtClean="0"/>
              <a:t> </a:t>
            </a:r>
            <a:r>
              <a:rPr lang="en-US" dirty="0" err="1" smtClean="0"/>
              <a:t>dẫn</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jupyter</a:t>
            </a:r>
            <a:r>
              <a:rPr lang="en-US" dirty="0" smtClean="0"/>
              <a:t> lab</a:t>
            </a:r>
          </a:p>
          <a:p>
            <a:r>
              <a:rPr lang="en-US" dirty="0" err="1" smtClean="0"/>
              <a:t>Hướng</a:t>
            </a:r>
            <a:r>
              <a:rPr lang="en-US" dirty="0" smtClean="0"/>
              <a:t> </a:t>
            </a:r>
            <a:r>
              <a:rPr lang="en-US" dirty="0" err="1" smtClean="0"/>
              <a:t>dẫn</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thư</a:t>
            </a:r>
            <a:r>
              <a:rPr lang="en-US" dirty="0" smtClean="0"/>
              <a:t> </a:t>
            </a:r>
            <a:r>
              <a:rPr lang="en-US" dirty="0" err="1" smtClean="0"/>
              <a:t>viện</a:t>
            </a:r>
            <a:r>
              <a:rPr lang="en-US" dirty="0" smtClean="0"/>
              <a:t> </a:t>
            </a:r>
            <a:r>
              <a:rPr lang="en-US" dirty="0" err="1" smtClean="0"/>
              <a:t>sklearn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861898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Hướng</a:t>
            </a:r>
            <a:r>
              <a:rPr lang="en-US" dirty="0" smtClean="0"/>
              <a:t> </a:t>
            </a:r>
            <a:r>
              <a:rPr lang="en-US" dirty="0" err="1" smtClean="0"/>
              <a:t>dẫn</a:t>
            </a:r>
            <a:r>
              <a:rPr lang="en-US" dirty="0" smtClean="0"/>
              <a:t> </a:t>
            </a:r>
            <a:r>
              <a:rPr lang="en-US" dirty="0" err="1" smtClean="0"/>
              <a:t>cài</a:t>
            </a:r>
            <a:r>
              <a:rPr lang="en-US" dirty="0" smtClean="0"/>
              <a:t> </a:t>
            </a:r>
            <a:r>
              <a:rPr lang="en-US" dirty="0" err="1" smtClean="0"/>
              <a:t>đặt</a:t>
            </a:r>
            <a:r>
              <a:rPr lang="en-US" dirty="0" smtClean="0"/>
              <a:t> Python</a:t>
            </a:r>
            <a:endParaRPr lang="en-US" dirty="0"/>
          </a:p>
        </p:txBody>
      </p:sp>
      <p:sp>
        <p:nvSpPr>
          <p:cNvPr id="3" name="Content Placeholder 2"/>
          <p:cNvSpPr>
            <a:spLocks noGrp="1"/>
          </p:cNvSpPr>
          <p:nvPr>
            <p:ph idx="1"/>
          </p:nvPr>
        </p:nvSpPr>
        <p:spPr/>
        <p:txBody>
          <a:bodyPr>
            <a:normAutofit fontScale="92500" lnSpcReduction="10000"/>
          </a:bodyPr>
          <a:lstStyle/>
          <a:p>
            <a:r>
              <a:rPr lang="vi-VN" dirty="0"/>
              <a:t>Sự phát triển nhanh chóng của các nền tảng công nghệ thông tin, kéo theo sự ra đời của nhiều ngôn ngữ lập trình. Trong số đó Python là một trong những ngôn ngữ được đông đảo lập trình viên đánh giá cao và chất lượng cũng như khả năng làm việc</a:t>
            </a:r>
            <a:r>
              <a:rPr lang="vi-VN" dirty="0" smtClean="0"/>
              <a:t>.</a:t>
            </a:r>
            <a:endParaRPr lang="en-US" dirty="0" smtClean="0"/>
          </a:p>
          <a:p>
            <a:r>
              <a:rPr lang="vi-VN" dirty="0"/>
              <a:t>Python là một trong những ngôn ngữ lập trình thiên hướng đối tượng bậc cao. Loại ngôn ngữ này được sử dụng cho quá trình phát triển ứng dụng và các website khác nhau. Ngôn ngữ này được tạo ra bởi Guido van Rossum và đã được ông phát triển nó trong một dự án mở.</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533500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dirty="0"/>
              <a:t>Python là sự lựa chọn hoàn hảo của các chuyên gia hàng đầu cho đến những người mới học lập trình nhờ cấu trúc thanh lịch mà đơn giản. Ngôn ngữ này cũng được đánh giá cao về sự chặt chẽ, mạnh mẽ, nhanh chóng nên đã có mặt ở mọi hệ điều hành</a:t>
            </a:r>
            <a:r>
              <a:rPr lang="vi-VN" dirty="0" smtClean="0"/>
              <a:t>.</a:t>
            </a:r>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21592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vi-VN" dirty="0"/>
              <a:t>Là ngôn ngữ thông dịch cấp cao: Khi sử dụng Python người dùng không cần làm những nhiệm vụ khó khăn như quản lý bộ nhớ, dọn dẹp dữ liệu vô nghĩa. Khi chạy code Python sẽ tự động chuyển đổi code thành dạng ngôn ngữ máy tính có thể hiểu</a:t>
            </a:r>
            <a:r>
              <a:rPr lang="vi-VN" dirty="0" smtClean="0"/>
              <a:t>.</a:t>
            </a:r>
            <a:endParaRPr lang="en-US" dirty="0" smtClean="0"/>
          </a:p>
          <a:p>
            <a:r>
              <a:rPr lang="vi-VN" b="1" dirty="0"/>
              <a:t>Hướng đối tượng:</a:t>
            </a:r>
            <a:r>
              <a:rPr lang="vi-VN" dirty="0"/>
              <a:t> Python giúp giải quyết các vấn đề phức tạp một cách trực quan. Với lập trình hướng đối tượng, bạn có thể phân chia vấn đề phức tạp thành những tập nhỏ hơn bằng phương pháp tạo ra các đối tượng.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43422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vi-VN" b="1" dirty="0"/>
              <a:t>Đơn giản, dễ học: </a:t>
            </a:r>
            <a:r>
              <a:rPr lang="vi-VN" dirty="0"/>
              <a:t>Python sở hữu cú pháp làm việc dễ dàng đơn giản và rõ ràng. Nó dễ đọc và viết hơn các loại ngôn ngữ khác nên quá trình làm việc với Python vô cùng hấp dẫn và thú vị</a:t>
            </a:r>
            <a:r>
              <a:rPr lang="vi-VN" dirty="0" smtClean="0"/>
              <a:t>.</a:t>
            </a:r>
            <a:endParaRPr lang="en-US" dirty="0" smtClean="0"/>
          </a:p>
          <a:p>
            <a:r>
              <a:rPr lang="vi-VN" b="1" dirty="0"/>
              <a:t>Miễn phí, mã nguồn mở: </a:t>
            </a:r>
            <a:r>
              <a:rPr lang="vi-VN" dirty="0"/>
              <a:t>Khi sử dụng Python, bạn hoàn toàn có thể tự do phân phối nó hoặc sử dụng cho các mục đích thương mại bởi đây là ngôn ngữ miễn phí. Nhờ mã nguồn mở nên bạn không những sở hữu được phần mềm mà chương trình được viết bằng Python đều có thể thay đổi được mã nguồn của nó.</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037103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vi-VN" b="1" dirty="0"/>
              <a:t>Có thể mở rộng và có thể nhúng: </a:t>
            </a:r>
            <a:r>
              <a:rPr lang="vi-VN" dirty="0"/>
              <a:t>Những ứng dụng đòi hỏi code phức tạp thì bạn có thể dễ dàng kết hợp Python với các loại ngôn ngữ thông dụng khác. Điều này sẽ đảm bảo cho ứng dụng có những tính năng tốt như: khả năng scripting,… mà những ngôn ngữ lập trình khác không thể làm được</a:t>
            </a:r>
            <a:r>
              <a:rPr lang="vi-VN" dirty="0" smtClean="0"/>
              <a:t>.</a:t>
            </a:r>
            <a:endParaRPr lang="en-US" dirty="0" smtClean="0"/>
          </a:p>
          <a:p>
            <a:r>
              <a:rPr lang="vi-VN" b="1" dirty="0"/>
              <a:t>Thư viện tiêu chuẩn lớn</a:t>
            </a:r>
            <a:r>
              <a:rPr lang="vi-VN" dirty="0"/>
              <a:t>: Python có thư viện tiêu chuẩn với số lượng lớn nên công việc và quá trình học tập của bạn đều sẽ được hỗ trợ triệt để. Đây là các thư viện cho phép ban kiểm tra mà không làm hỏng code hoặc ứng dụng của bạn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861636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https://www.python.org/downloads/windows/</a:t>
            </a:r>
          </a:p>
        </p:txBody>
      </p:sp>
      <p:pic>
        <p:nvPicPr>
          <p:cNvPr id="7" name="Content Placeholder 6"/>
          <p:cNvPicPr>
            <a:picLocks noGrp="1" noChangeAspect="1"/>
          </p:cNvPicPr>
          <p:nvPr>
            <p:ph idx="1"/>
          </p:nvPr>
        </p:nvPicPr>
        <p:blipFill>
          <a:blip r:embed="rId2"/>
          <a:stretch>
            <a:fillRect/>
          </a:stretch>
        </p:blipFill>
        <p:spPr>
          <a:xfrm>
            <a:off x="2680661" y="1600200"/>
            <a:ext cx="7930815" cy="45259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022002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Có</a:t>
            </a:r>
            <a:r>
              <a:rPr lang="en-US" dirty="0" smtClean="0"/>
              <a:t> </a:t>
            </a:r>
            <a:r>
              <a:rPr lang="en-US" dirty="0" err="1" smtClean="0"/>
              <a:t>thể</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mặc</a:t>
            </a:r>
            <a:r>
              <a:rPr lang="en-US" dirty="0" smtClean="0"/>
              <a:t> </a:t>
            </a:r>
            <a:r>
              <a:rPr lang="en-US" dirty="0" err="1" smtClean="0"/>
              <a:t>định</a:t>
            </a:r>
            <a:r>
              <a:rPr lang="en-US" dirty="0" smtClean="0"/>
              <a:t> </a:t>
            </a:r>
            <a:r>
              <a:rPr lang="en-US" dirty="0" err="1" smtClean="0"/>
              <a:t>hoặc</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chọn</a:t>
            </a:r>
            <a:r>
              <a:rPr lang="en-US" dirty="0" smtClean="0"/>
              <a:t> </a:t>
            </a:r>
            <a:r>
              <a:rPr lang="en-US" dirty="0" err="1" smtClean="0"/>
              <a:t>lọc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1026" name="Picture 2" descr="Cách cài đặt Python (Thiết lập môi trườ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5116" y="1901277"/>
            <a:ext cx="6361905" cy="3923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301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Lựa</a:t>
            </a:r>
            <a:r>
              <a:rPr lang="en-US" dirty="0" smtClean="0"/>
              <a:t> </a:t>
            </a:r>
            <a:r>
              <a:rPr lang="en-US" dirty="0" err="1" smtClean="0"/>
              <a:t>chọn</a:t>
            </a:r>
            <a:r>
              <a:rPr lang="en-US" dirty="0" smtClean="0"/>
              <a:t> </a:t>
            </a:r>
            <a:r>
              <a:rPr lang="en-US" dirty="0" err="1" smtClean="0"/>
              <a:t>các</a:t>
            </a:r>
            <a:r>
              <a:rPr lang="en-US" dirty="0" smtClean="0"/>
              <a:t> </a:t>
            </a:r>
            <a:r>
              <a:rPr lang="en-US" dirty="0" err="1" smtClean="0"/>
              <a:t>đặc</a:t>
            </a:r>
            <a:r>
              <a:rPr lang="en-US" dirty="0" smtClean="0"/>
              <a:t> </a:t>
            </a:r>
            <a:r>
              <a:rPr lang="en-US" dirty="0" err="1" smtClean="0"/>
              <a:t>trưng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2050" name="Picture 2" descr="Cách cài đặt Python (Thiết lập môi trườ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4640" y="1910800"/>
            <a:ext cx="6342857" cy="390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51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Chọn</a:t>
            </a:r>
            <a:r>
              <a:rPr lang="en-US" dirty="0" smtClean="0"/>
              <a:t> </a:t>
            </a:r>
            <a:r>
              <a:rPr lang="en-US" dirty="0" err="1" smtClean="0"/>
              <a:t>thư</a:t>
            </a:r>
            <a:r>
              <a:rPr lang="en-US" dirty="0" smtClean="0"/>
              <a:t> </a:t>
            </a:r>
            <a:r>
              <a:rPr lang="en-US" dirty="0" err="1" smtClean="0"/>
              <a:t>mục</a:t>
            </a:r>
            <a:r>
              <a:rPr lang="en-US" dirty="0" smtClean="0"/>
              <a:t> </a:t>
            </a:r>
            <a:r>
              <a:rPr lang="en-US" dirty="0" err="1" smtClean="0"/>
              <a:t>để</a:t>
            </a:r>
            <a:r>
              <a:rPr lang="en-US" dirty="0" smtClean="0"/>
              <a:t> </a:t>
            </a:r>
            <a:r>
              <a:rPr lang="en-US" dirty="0" err="1" smtClean="0"/>
              <a:t>cài</a:t>
            </a:r>
            <a:r>
              <a:rPr lang="en-US" dirty="0" smtClean="0"/>
              <a:t> </a:t>
            </a:r>
            <a:r>
              <a:rPr lang="en-US" dirty="0" err="1" smtClean="0"/>
              <a:t>đặt</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3074" name="Picture 2" descr="Cách cài đặt Python (Thiết lập môi trườ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5116" y="1901277"/>
            <a:ext cx="6361905" cy="3923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975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Sau</a:t>
            </a:r>
            <a:r>
              <a:rPr lang="en-US" dirty="0" smtClean="0"/>
              <a:t> </a:t>
            </a:r>
            <a:r>
              <a:rPr lang="en-US" dirty="0" err="1" smtClean="0"/>
              <a:t>khi</a:t>
            </a:r>
            <a:r>
              <a:rPr lang="en-US" dirty="0" smtClean="0"/>
              <a:t> </a:t>
            </a:r>
            <a:r>
              <a:rPr lang="en-US" dirty="0" err="1" smtClean="0"/>
              <a:t>cài</a:t>
            </a:r>
            <a:r>
              <a:rPr lang="en-US" dirty="0" smtClean="0"/>
              <a:t> </a:t>
            </a:r>
            <a:r>
              <a:rPr lang="en-US" dirty="0" err="1" smtClean="0"/>
              <a:t>đặt</a:t>
            </a:r>
            <a:r>
              <a:rPr lang="en-US" dirty="0" smtClean="0"/>
              <a:t> </a:t>
            </a:r>
            <a:r>
              <a:rPr lang="en-US" dirty="0" err="1" smtClean="0"/>
              <a:t>xong</a:t>
            </a:r>
            <a:r>
              <a:rPr lang="en-US" dirty="0" smtClean="0"/>
              <a:t>. </a:t>
            </a:r>
            <a:r>
              <a:rPr lang="en-US" dirty="0" err="1" smtClean="0"/>
              <a:t>Khởi</a:t>
            </a:r>
            <a:r>
              <a:rPr lang="en-US" dirty="0" smtClean="0"/>
              <a:t> </a:t>
            </a:r>
            <a:r>
              <a:rPr lang="en-US" dirty="0" err="1" smtClean="0"/>
              <a:t>động</a:t>
            </a:r>
            <a:r>
              <a:rPr lang="en-US" dirty="0" smtClean="0"/>
              <a:t> </a:t>
            </a:r>
            <a:r>
              <a:rPr lang="en-US" dirty="0" err="1" smtClean="0"/>
              <a:t>lại</a:t>
            </a:r>
            <a:r>
              <a:rPr lang="en-US" dirty="0" smtClean="0"/>
              <a:t> </a:t>
            </a:r>
            <a:r>
              <a:rPr lang="en-US" dirty="0" err="1" smtClean="0"/>
              <a:t>máy</a:t>
            </a:r>
            <a:r>
              <a:rPr lang="en-US" dirty="0" smtClean="0"/>
              <a:t> </a:t>
            </a:r>
            <a:r>
              <a:rPr lang="en-US" dirty="0" err="1" smtClean="0"/>
              <a:t>tính</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4098" name="Picture 2" descr="Cách cài đặt Python (Thiết lập môi trườ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5116" y="1901277"/>
            <a:ext cx="6361905" cy="3923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959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Mở</a:t>
            </a:r>
            <a:r>
              <a:rPr lang="en-US" dirty="0" smtClean="0"/>
              <a:t> </a:t>
            </a:r>
            <a:r>
              <a:rPr lang="en-US" dirty="0" err="1" smtClean="0"/>
              <a:t>cmd</a:t>
            </a:r>
            <a:r>
              <a:rPr lang="en-US" dirty="0" smtClean="0"/>
              <a:t> </a:t>
            </a:r>
            <a:r>
              <a:rPr lang="en-US" dirty="0" err="1" smtClean="0"/>
              <a:t>hoặc</a:t>
            </a:r>
            <a:r>
              <a:rPr lang="en-US" dirty="0" smtClean="0"/>
              <a:t> Windows </a:t>
            </a:r>
            <a:r>
              <a:rPr lang="en-US" dirty="0" err="1" smtClean="0"/>
              <a:t>powershell</a:t>
            </a:r>
            <a:endParaRPr lang="en-US" dirty="0"/>
          </a:p>
        </p:txBody>
      </p:sp>
      <p:pic>
        <p:nvPicPr>
          <p:cNvPr id="7" name="Content Placeholder 6"/>
          <p:cNvPicPr>
            <a:picLocks noGrp="1" noChangeAspect="1"/>
          </p:cNvPicPr>
          <p:nvPr>
            <p:ph idx="1"/>
          </p:nvPr>
        </p:nvPicPr>
        <p:blipFill>
          <a:blip r:embed="rId2"/>
          <a:stretch>
            <a:fillRect/>
          </a:stretch>
        </p:blipFill>
        <p:spPr>
          <a:xfrm>
            <a:off x="2594738" y="1255104"/>
            <a:ext cx="2739262" cy="5083662"/>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9" name="Picture 8"/>
          <p:cNvPicPr>
            <a:picLocks noChangeAspect="1"/>
          </p:cNvPicPr>
          <p:nvPr/>
        </p:nvPicPr>
        <p:blipFill>
          <a:blip r:embed="rId3"/>
          <a:stretch>
            <a:fillRect/>
          </a:stretch>
        </p:blipFill>
        <p:spPr>
          <a:xfrm>
            <a:off x="7710608" y="1255104"/>
            <a:ext cx="2739781" cy="5083662"/>
          </a:xfrm>
          <a:prstGeom prst="rect">
            <a:avLst/>
          </a:prstGeom>
        </p:spPr>
      </p:pic>
    </p:spTree>
    <p:extLst>
      <p:ext uri="{BB962C8B-B14F-4D97-AF65-F5344CB8AC3E}">
        <p14:creationId xmlns:p14="http://schemas.microsoft.com/office/powerpoint/2010/main" val="2672760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Gõ</a:t>
            </a:r>
            <a:r>
              <a:rPr lang="en-US" dirty="0" smtClean="0"/>
              <a:t> </a:t>
            </a:r>
            <a:r>
              <a:rPr lang="en-US" dirty="0" err="1" smtClean="0"/>
              <a:t>lệnh</a:t>
            </a:r>
            <a:r>
              <a:rPr lang="en-US" dirty="0" smtClean="0"/>
              <a:t> python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5122" name="Picture 2" descr="Cách cài đặt Python (Thiết lập môi trườ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1878" y="2819400"/>
            <a:ext cx="8611021" cy="2861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614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Hướng</a:t>
            </a:r>
            <a:r>
              <a:rPr lang="en-US" dirty="0" smtClean="0"/>
              <a:t> </a:t>
            </a:r>
            <a:r>
              <a:rPr lang="en-US" dirty="0" err="1" smtClean="0"/>
              <a:t>dẫn</a:t>
            </a:r>
            <a:r>
              <a:rPr lang="en-US" dirty="0" smtClean="0"/>
              <a:t> </a:t>
            </a:r>
            <a:r>
              <a:rPr lang="en-US" dirty="0" err="1" smtClean="0"/>
              <a:t>cài</a:t>
            </a:r>
            <a:r>
              <a:rPr lang="en-US" dirty="0" smtClean="0"/>
              <a:t> </a:t>
            </a:r>
            <a:r>
              <a:rPr lang="en-US" dirty="0" err="1" smtClean="0"/>
              <a:t>đặt</a:t>
            </a:r>
            <a:r>
              <a:rPr lang="en-US" dirty="0" smtClean="0"/>
              <a:t> Anaconda</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6146" name="Picture 2" descr="../../_images/nav-default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3764" y="1143000"/>
            <a:ext cx="9790035" cy="5239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84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https://www.anaconda.com/products/individual</a:t>
            </a:r>
          </a:p>
        </p:txBody>
      </p:sp>
      <p:pic>
        <p:nvPicPr>
          <p:cNvPr id="7" name="Content Placeholder 6"/>
          <p:cNvPicPr>
            <a:picLocks noGrp="1" noChangeAspect="1"/>
          </p:cNvPicPr>
          <p:nvPr>
            <p:ph idx="1"/>
          </p:nvPr>
        </p:nvPicPr>
        <p:blipFill>
          <a:blip r:embed="rId2"/>
          <a:stretch>
            <a:fillRect/>
          </a:stretch>
        </p:blipFill>
        <p:spPr>
          <a:xfrm>
            <a:off x="1981200" y="1647459"/>
            <a:ext cx="8050085" cy="45259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887937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2286000" y="468118"/>
            <a:ext cx="8077200" cy="6289490"/>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425110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2286000" y="470063"/>
            <a:ext cx="7543800" cy="5870779"/>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247157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2819399" y="904813"/>
            <a:ext cx="6911965" cy="5343587"/>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810957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2667000" y="780804"/>
            <a:ext cx="6861433" cy="5315195"/>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153115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Trình </a:t>
            </a:r>
            <a:r>
              <a:rPr lang="en-US" dirty="0" err="1" smtClean="0"/>
              <a:t>soạn</a:t>
            </a:r>
            <a:r>
              <a:rPr lang="en-US" dirty="0" smtClean="0"/>
              <a:t> </a:t>
            </a:r>
            <a:r>
              <a:rPr lang="en-US" dirty="0" err="1" smtClean="0"/>
              <a:t>thảo</a:t>
            </a:r>
            <a:r>
              <a:rPr lang="en-US" dirty="0" smtClean="0"/>
              <a:t> code: </a:t>
            </a:r>
            <a:r>
              <a:rPr lang="en-US" dirty="0" err="1" smtClean="0"/>
              <a:t>Spyder</a:t>
            </a:r>
            <a:endParaRPr lang="en-US" dirty="0"/>
          </a:p>
        </p:txBody>
      </p:sp>
      <p:pic>
        <p:nvPicPr>
          <p:cNvPr id="7" name="Content Placeholder 6"/>
          <p:cNvPicPr>
            <a:picLocks noGrp="1" noChangeAspect="1"/>
          </p:cNvPicPr>
          <p:nvPr>
            <p:ph idx="1"/>
          </p:nvPr>
        </p:nvPicPr>
        <p:blipFill>
          <a:blip r:embed="rId2"/>
          <a:stretch>
            <a:fillRect/>
          </a:stretch>
        </p:blipFill>
        <p:spPr>
          <a:xfrm>
            <a:off x="2417704" y="1600200"/>
            <a:ext cx="8456730" cy="45259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269907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dirty="0"/>
              <a:t>Jupyter là gì</a:t>
            </a:r>
            <a:r>
              <a:rPr lang="vi-VN" b="1" dirty="0" smtClean="0"/>
              <a:t>?</a:t>
            </a:r>
            <a:endParaRPr lang="en-US" dirty="0"/>
          </a:p>
        </p:txBody>
      </p:sp>
      <p:sp>
        <p:nvSpPr>
          <p:cNvPr id="3" name="Content Placeholder 2"/>
          <p:cNvSpPr>
            <a:spLocks noGrp="1"/>
          </p:cNvSpPr>
          <p:nvPr>
            <p:ph idx="1"/>
          </p:nvPr>
        </p:nvSpPr>
        <p:spPr/>
        <p:txBody>
          <a:bodyPr>
            <a:normAutofit lnSpcReduction="10000"/>
          </a:bodyPr>
          <a:lstStyle/>
          <a:p>
            <a:r>
              <a:rPr lang="vi-VN" sz="2600" dirty="0" smtClean="0">
                <a:latin typeface="+mj-lt"/>
              </a:rPr>
              <a:t>Jupyter </a:t>
            </a:r>
            <a:r>
              <a:rPr lang="vi-VN" sz="2600" dirty="0">
                <a:latin typeface="+mj-lt"/>
              </a:rPr>
              <a:t>là một nền tảng tính toán khoa học mã nguồn mở, với khả năng nổi bật </a:t>
            </a:r>
            <a:endParaRPr lang="en-US" sz="2600" dirty="0" smtClean="0">
              <a:latin typeface="+mj-lt"/>
            </a:endParaRPr>
          </a:p>
          <a:p>
            <a:pPr lvl="1"/>
            <a:r>
              <a:rPr lang="vi-VN" sz="2200" dirty="0" smtClean="0">
                <a:latin typeface="+mj-lt"/>
              </a:rPr>
              <a:t>cho </a:t>
            </a:r>
            <a:r>
              <a:rPr lang="vi-VN" sz="2200" dirty="0">
                <a:latin typeface="+mj-lt"/>
              </a:rPr>
              <a:t>phép tương tác trực tiếp với từng dòng code (interactive), </a:t>
            </a:r>
            <a:endParaRPr lang="en-US" sz="2200" dirty="0" smtClean="0">
              <a:latin typeface="+mj-lt"/>
            </a:endParaRPr>
          </a:p>
          <a:p>
            <a:pPr lvl="1"/>
            <a:r>
              <a:rPr lang="vi-VN" sz="2200" dirty="0" smtClean="0">
                <a:latin typeface="+mj-lt"/>
              </a:rPr>
              <a:t>hỗ </a:t>
            </a:r>
            <a:r>
              <a:rPr lang="vi-VN" sz="2200" dirty="0">
                <a:latin typeface="+mj-lt"/>
              </a:rPr>
              <a:t>trợ </a:t>
            </a:r>
            <a:r>
              <a:rPr lang="vi-VN" sz="2200" b="1" dirty="0">
                <a:latin typeface="+mj-lt"/>
              </a:rPr>
              <a:t>hơn 40 ngôn ngữ lập trình</a:t>
            </a:r>
            <a:r>
              <a:rPr lang="vi-VN" sz="2200" dirty="0">
                <a:latin typeface="+mj-lt"/>
              </a:rPr>
              <a:t>, </a:t>
            </a:r>
            <a:endParaRPr lang="en-US" sz="2200" dirty="0" smtClean="0">
              <a:latin typeface="+mj-lt"/>
            </a:endParaRPr>
          </a:p>
          <a:p>
            <a:pPr lvl="1"/>
            <a:r>
              <a:rPr lang="vi-VN" sz="2200" dirty="0" smtClean="0">
                <a:latin typeface="+mj-lt"/>
              </a:rPr>
              <a:t>tập </a:t>
            </a:r>
            <a:r>
              <a:rPr lang="vi-VN" sz="2200" dirty="0">
                <a:latin typeface="+mj-lt"/>
              </a:rPr>
              <a:t>trung vào 3 ngôn ngữ là </a:t>
            </a:r>
            <a:r>
              <a:rPr lang="vi-VN" sz="2200" b="1" dirty="0">
                <a:latin typeface="+mj-lt"/>
              </a:rPr>
              <a:t>Ju</a:t>
            </a:r>
            <a:r>
              <a:rPr lang="vi-VN" sz="2200" dirty="0">
                <a:latin typeface="+mj-lt"/>
              </a:rPr>
              <a:t>lia, </a:t>
            </a:r>
            <a:r>
              <a:rPr lang="vi-VN" sz="2200" b="1" dirty="0">
                <a:latin typeface="+mj-lt"/>
              </a:rPr>
              <a:t>Py</a:t>
            </a:r>
            <a:r>
              <a:rPr lang="vi-VN" sz="2200" dirty="0">
                <a:latin typeface="+mj-lt"/>
              </a:rPr>
              <a:t>thon và </a:t>
            </a:r>
            <a:r>
              <a:rPr lang="vi-VN" sz="2200" b="1" dirty="0">
                <a:latin typeface="+mj-lt"/>
              </a:rPr>
              <a:t>R,  </a:t>
            </a:r>
            <a:r>
              <a:rPr lang="vi-VN" sz="2200" dirty="0">
                <a:latin typeface="+mj-lt"/>
              </a:rPr>
              <a:t>cái tên Jupyter bắt nguồn từ cách chơi chữ </a:t>
            </a:r>
            <a:r>
              <a:rPr lang="vi-VN" sz="2200" dirty="0">
                <a:latin typeface="+mj-lt"/>
                <a:hlinkClick r:id="rId2"/>
              </a:rPr>
              <a:t>I Python, You R, We Julia</a:t>
            </a:r>
            <a:r>
              <a:rPr lang="vi-VN" sz="2200" dirty="0">
                <a:latin typeface="+mj-lt"/>
              </a:rPr>
              <a:t>, hay một công thức ngắn gọn Jupyter = Julia + Python + R. </a:t>
            </a:r>
            <a:endParaRPr lang="en-US" sz="2200" dirty="0" smtClean="0">
              <a:latin typeface="+mj-lt"/>
            </a:endParaRPr>
          </a:p>
          <a:p>
            <a:r>
              <a:rPr lang="vi-VN" sz="2600" dirty="0" smtClean="0">
                <a:latin typeface="+mj-lt"/>
              </a:rPr>
              <a:t>Jupyter </a:t>
            </a:r>
            <a:r>
              <a:rPr lang="vi-VN" sz="2600" dirty="0">
                <a:latin typeface="+mj-lt"/>
              </a:rPr>
              <a:t>cũng là một công cụ hoàn toàn miễn phí, được tạo ra với mục đích nhắm đến khoa học dữ liệu và giáo dục, giúp mọi người cùng học lập trình dễ dàng hơn (cụ thể ở đây là Python). </a:t>
            </a:r>
            <a:endParaRPr lang="en-US" sz="2600" dirty="0" smtClean="0">
              <a:latin typeface="+mj-lt"/>
            </a:endParaRPr>
          </a:p>
          <a:p>
            <a:r>
              <a:rPr lang="vi-VN" sz="2600" dirty="0" smtClean="0">
                <a:latin typeface="+mj-lt"/>
              </a:rPr>
              <a:t>Jupyter </a:t>
            </a:r>
            <a:r>
              <a:rPr lang="vi-VN" sz="2600" dirty="0">
                <a:latin typeface="+mj-lt"/>
              </a:rPr>
              <a:t>có tính tương tác nên có thể sử dụng làm môi trường chạy thử và giảng dạy.</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275065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7" name="Content Placeholder 6"/>
          <p:cNvPicPr>
            <a:picLocks noGrp="1" noChangeAspect="1"/>
          </p:cNvPicPr>
          <p:nvPr>
            <p:ph idx="1"/>
          </p:nvPr>
        </p:nvPicPr>
        <p:blipFill>
          <a:blip r:embed="rId2"/>
          <a:stretch>
            <a:fillRect/>
          </a:stretch>
        </p:blipFill>
        <p:spPr>
          <a:xfrm>
            <a:off x="1329265" y="274638"/>
            <a:ext cx="10774293" cy="5745162"/>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9567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Jupyter</a:t>
            </a:r>
            <a:r>
              <a:rPr lang="en-US" dirty="0" smtClean="0"/>
              <a:t> lab</a:t>
            </a: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7" name="Picture 6"/>
          <p:cNvPicPr>
            <a:picLocks noChangeAspect="1"/>
          </p:cNvPicPr>
          <p:nvPr/>
        </p:nvPicPr>
        <p:blipFill>
          <a:blip r:embed="rId2"/>
          <a:stretch>
            <a:fillRect/>
          </a:stretch>
        </p:blipFill>
        <p:spPr>
          <a:xfrm>
            <a:off x="1511299" y="2133600"/>
            <a:ext cx="3886200" cy="2352675"/>
          </a:xfrm>
          <a:prstGeom prst="rect">
            <a:avLst/>
          </a:prstGeom>
        </p:spPr>
      </p:pic>
      <p:pic>
        <p:nvPicPr>
          <p:cNvPr id="8" name="Picture 7"/>
          <p:cNvPicPr>
            <a:picLocks noChangeAspect="1"/>
          </p:cNvPicPr>
          <p:nvPr/>
        </p:nvPicPr>
        <p:blipFill>
          <a:blip r:embed="rId3"/>
          <a:stretch>
            <a:fillRect/>
          </a:stretch>
        </p:blipFill>
        <p:spPr>
          <a:xfrm>
            <a:off x="5618161" y="1828800"/>
            <a:ext cx="6124575" cy="3443392"/>
          </a:xfrm>
          <a:prstGeom prst="rect">
            <a:avLst/>
          </a:prstGeom>
        </p:spPr>
      </p:pic>
    </p:spTree>
    <p:extLst>
      <p:ext uri="{BB962C8B-B14F-4D97-AF65-F5344CB8AC3E}">
        <p14:creationId xmlns:p14="http://schemas.microsoft.com/office/powerpoint/2010/main" val="3963110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SỬ DỤNG GOOGLE COLAB</a:t>
            </a:r>
            <a:endParaRPr lang="en-US" dirty="0"/>
          </a:p>
        </p:txBody>
      </p:sp>
      <p:sp>
        <p:nvSpPr>
          <p:cNvPr id="3" name="Content Placeholder 2"/>
          <p:cNvSpPr>
            <a:spLocks noGrp="1"/>
          </p:cNvSpPr>
          <p:nvPr>
            <p:ph idx="1"/>
          </p:nvPr>
        </p:nvSpPr>
        <p:spPr/>
        <p:txBody>
          <a:bodyPr/>
          <a:lstStyle/>
          <a:p>
            <a:r>
              <a:rPr lang="en-US" dirty="0" smtClean="0"/>
              <a:t>VÀO TRANG WEB:</a:t>
            </a:r>
          </a:p>
          <a:p>
            <a:pPr lvl="1"/>
            <a:endParaRPr lang="en-US" dirty="0"/>
          </a:p>
          <a:p>
            <a:pPr lvl="1"/>
            <a:r>
              <a:rPr lang="en-US" dirty="0">
                <a:hlinkClick r:id="rId2"/>
              </a:rPr>
              <a:t>https://colab.research.google.com</a:t>
            </a:r>
            <a:r>
              <a:rPr lang="en-US" dirty="0" smtClean="0">
                <a:hlinkClick r:id="rId2"/>
              </a:rPr>
              <a:t>/</a:t>
            </a:r>
            <a:endParaRPr lang="en-US" dirty="0" smtClean="0"/>
          </a:p>
          <a:p>
            <a:pPr lvl="1"/>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085420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Tạo</a:t>
            </a:r>
            <a:r>
              <a:rPr lang="en-US" dirty="0" smtClean="0"/>
              <a:t> </a:t>
            </a:r>
            <a:r>
              <a:rPr lang="en-US" dirty="0" err="1" smtClean="0"/>
              <a:t>thư</a:t>
            </a:r>
            <a:r>
              <a:rPr lang="en-US" dirty="0" smtClean="0"/>
              <a:t> </a:t>
            </a:r>
            <a:r>
              <a:rPr lang="en-US" dirty="0" err="1" smtClean="0"/>
              <a:t>mục</a:t>
            </a:r>
            <a:r>
              <a:rPr lang="en-US" dirty="0" smtClean="0"/>
              <a:t> NHAPMON</a:t>
            </a:r>
          </a:p>
          <a:p>
            <a:r>
              <a:rPr lang="en-US" dirty="0" err="1" smtClean="0"/>
              <a:t>Trong</a:t>
            </a:r>
            <a:r>
              <a:rPr lang="en-US" dirty="0" smtClean="0"/>
              <a:t> </a:t>
            </a:r>
            <a:r>
              <a:rPr lang="en-US" dirty="0" err="1" smtClean="0"/>
              <a:t>thư</a:t>
            </a:r>
            <a:r>
              <a:rPr lang="en-US" dirty="0" smtClean="0"/>
              <a:t> </a:t>
            </a:r>
            <a:r>
              <a:rPr lang="en-US" dirty="0" err="1" smtClean="0"/>
              <a:t>mục</a:t>
            </a:r>
            <a:r>
              <a:rPr lang="en-US" dirty="0" smtClean="0"/>
              <a:t> NHAPMON </a:t>
            </a:r>
            <a:r>
              <a:rPr lang="en-US" dirty="0" err="1" smtClean="0"/>
              <a:t>tao</a:t>
            </a:r>
            <a:r>
              <a:rPr lang="en-US" dirty="0" smtClean="0"/>
              <a:t> </a:t>
            </a:r>
            <a:r>
              <a:rPr lang="en-US" dirty="0" err="1" smtClean="0"/>
              <a:t>thư</a:t>
            </a:r>
            <a:r>
              <a:rPr lang="en-US" dirty="0" smtClean="0"/>
              <a:t> </a:t>
            </a:r>
            <a:r>
              <a:rPr lang="en-US" dirty="0" err="1" smtClean="0"/>
              <a:t>mục</a:t>
            </a:r>
            <a:r>
              <a:rPr lang="en-US" dirty="0" smtClean="0"/>
              <a:t> datasets</a:t>
            </a:r>
          </a:p>
          <a:p>
            <a:r>
              <a:rPr lang="en-US" dirty="0" smtClean="0"/>
              <a:t>Copy file Iris.csv </a:t>
            </a:r>
            <a:r>
              <a:rPr lang="en-US" dirty="0" err="1" smtClean="0"/>
              <a:t>vào</a:t>
            </a:r>
            <a:r>
              <a:rPr lang="en-US" dirty="0" smtClean="0"/>
              <a:t> </a:t>
            </a:r>
            <a:r>
              <a:rPr lang="en-US" dirty="0" err="1" smtClean="0"/>
              <a:t>thư</a:t>
            </a:r>
            <a:r>
              <a:rPr lang="en-US" dirty="0" smtClean="0"/>
              <a:t> </a:t>
            </a:r>
            <a:r>
              <a:rPr lang="en-US" dirty="0" err="1" smtClean="0"/>
              <a:t>mục</a:t>
            </a:r>
            <a:r>
              <a:rPr lang="en-US" dirty="0" smtClean="0"/>
              <a:t> datasets</a:t>
            </a:r>
          </a:p>
          <a:p>
            <a:endParaRPr lang="en-US" dirty="0"/>
          </a:p>
          <a:p>
            <a:r>
              <a:rPr lang="en-US" dirty="0" smtClean="0"/>
              <a:t>TRUY CẬP DỮ LIỆU TRONG GOOGLE DRIVE</a:t>
            </a:r>
          </a:p>
          <a:p>
            <a:pPr lvl="1"/>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992457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TÌM HIỂU THƯ VIỆN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NUMPY</a:t>
            </a:r>
          </a:p>
          <a:p>
            <a:pPr lvl="1"/>
            <a:r>
              <a:rPr lang="en-US" dirty="0"/>
              <a:t>https://www.tutorialspoint.com/numpy/</a:t>
            </a:r>
            <a:endParaRPr lang="en-US" dirty="0" smtClean="0"/>
          </a:p>
          <a:p>
            <a:r>
              <a:rPr lang="en-US" dirty="0" smtClean="0"/>
              <a:t>PANDAS</a:t>
            </a:r>
          </a:p>
          <a:p>
            <a:pPr lvl="1"/>
            <a:r>
              <a:rPr lang="en-US" dirty="0"/>
              <a:t>https://www.tutorialspoint.com/python_pandas/</a:t>
            </a:r>
            <a:endParaRPr lang="en-US" dirty="0" smtClean="0"/>
          </a:p>
          <a:p>
            <a:r>
              <a:rPr lang="en-US" dirty="0" smtClean="0"/>
              <a:t>SKLEARN</a:t>
            </a:r>
          </a:p>
          <a:p>
            <a:pPr lvl="1"/>
            <a:r>
              <a:rPr lang="en-US" dirty="0"/>
              <a:t>https://www.tutorialspoint.com/scikit_learn/index.htm</a:t>
            </a:r>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786141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TẠO FILE JUPYTER: NUMPY_BAI1</a:t>
            </a:r>
          </a:p>
          <a:p>
            <a:r>
              <a:rPr lang="en-US" dirty="0" err="1" smtClean="0"/>
              <a:t>Chuyển</a:t>
            </a:r>
            <a:r>
              <a:rPr lang="en-US" dirty="0" smtClean="0"/>
              <a:t> </a:t>
            </a:r>
            <a:r>
              <a:rPr lang="en-US" dirty="0" err="1" smtClean="0"/>
              <a:t>vào</a:t>
            </a:r>
            <a:r>
              <a:rPr lang="en-US" dirty="0" smtClean="0"/>
              <a:t> </a:t>
            </a:r>
            <a:r>
              <a:rPr lang="en-US" dirty="0" err="1" smtClean="0"/>
              <a:t>thư</a:t>
            </a:r>
            <a:r>
              <a:rPr lang="en-US" dirty="0" smtClean="0"/>
              <a:t> </a:t>
            </a:r>
            <a:r>
              <a:rPr lang="en-US" dirty="0" err="1" smtClean="0"/>
              <a:t>mục</a:t>
            </a:r>
            <a:r>
              <a:rPr lang="en-US" dirty="0" smtClean="0"/>
              <a:t> NHAPMON</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404593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Giới</a:t>
            </a:r>
            <a:r>
              <a:rPr lang="en-US" dirty="0" smtClean="0"/>
              <a:t> </a:t>
            </a:r>
            <a:r>
              <a:rPr lang="en-US" dirty="0" err="1" smtClean="0"/>
              <a:t>thiệu</a:t>
            </a:r>
            <a:r>
              <a:rPr lang="en-US" dirty="0" smtClean="0"/>
              <a:t> </a:t>
            </a:r>
            <a:r>
              <a:rPr lang="en-US" dirty="0" err="1" smtClean="0"/>
              <a:t>thư</a:t>
            </a:r>
            <a:r>
              <a:rPr lang="en-US" dirty="0" smtClean="0"/>
              <a:t> </a:t>
            </a:r>
            <a:r>
              <a:rPr lang="en-US" dirty="0" err="1" smtClean="0"/>
              <a:t>viện</a:t>
            </a:r>
            <a:r>
              <a:rPr lang="en-US" dirty="0" smtClean="0"/>
              <a:t> </a:t>
            </a:r>
            <a:r>
              <a:rPr lang="en-US" dirty="0" err="1" smtClean="0"/>
              <a:t>sklearn</a:t>
            </a:r>
            <a:endParaRPr lang="en-US" dirty="0"/>
          </a:p>
        </p:txBody>
      </p:sp>
      <p:sp>
        <p:nvSpPr>
          <p:cNvPr id="3" name="Content Placeholder 2"/>
          <p:cNvSpPr>
            <a:spLocks noGrp="1"/>
          </p:cNvSpPr>
          <p:nvPr>
            <p:ph idx="1"/>
          </p:nvPr>
        </p:nvSpPr>
        <p:spPr/>
        <p:txBody>
          <a:bodyPr>
            <a:normAutofit lnSpcReduction="10000"/>
          </a:bodyPr>
          <a:lstStyle/>
          <a:p>
            <a:r>
              <a:rPr lang="vi-VN" dirty="0"/>
              <a:t>Scikit-learn (Sklearn) là thư viện mạnh mẽ nhất dành cho các thuật toán học máy được viết trên ngôn ngữ Python. Thư viện cung cấp một tập các công cụ xử lý các bài toán machine learning và statistical modeling gồm</a:t>
            </a:r>
            <a:r>
              <a:rPr lang="vi-VN" dirty="0" smtClean="0"/>
              <a:t>:</a:t>
            </a:r>
            <a:endParaRPr lang="en-US" dirty="0" smtClean="0"/>
          </a:p>
          <a:p>
            <a:pPr lvl="1"/>
            <a:r>
              <a:rPr lang="en-US" dirty="0" smtClean="0"/>
              <a:t>Classification (</a:t>
            </a:r>
            <a:r>
              <a:rPr lang="en-US" dirty="0" err="1" smtClean="0"/>
              <a:t>Phân</a:t>
            </a:r>
            <a:r>
              <a:rPr lang="en-US" dirty="0" smtClean="0"/>
              <a:t> </a:t>
            </a:r>
            <a:r>
              <a:rPr lang="en-US" dirty="0" err="1" smtClean="0"/>
              <a:t>loại</a:t>
            </a:r>
            <a:r>
              <a:rPr lang="en-US" dirty="0" smtClean="0"/>
              <a:t>)</a:t>
            </a:r>
          </a:p>
          <a:p>
            <a:pPr lvl="1"/>
            <a:r>
              <a:rPr lang="en-US" dirty="0" smtClean="0"/>
              <a:t>Regression (</a:t>
            </a:r>
            <a:r>
              <a:rPr lang="en-US" dirty="0" err="1" smtClean="0"/>
              <a:t>Hồi</a:t>
            </a:r>
            <a:r>
              <a:rPr lang="en-US" dirty="0" smtClean="0"/>
              <a:t> </a:t>
            </a:r>
            <a:r>
              <a:rPr lang="en-US" dirty="0" err="1" smtClean="0"/>
              <a:t>quy</a:t>
            </a:r>
            <a:r>
              <a:rPr lang="en-US" dirty="0" smtClean="0"/>
              <a:t>)</a:t>
            </a:r>
          </a:p>
          <a:p>
            <a:pPr lvl="1"/>
            <a:r>
              <a:rPr lang="en-US" dirty="0" smtClean="0"/>
              <a:t>Clustering (</a:t>
            </a:r>
            <a:r>
              <a:rPr lang="en-US" dirty="0" err="1" smtClean="0"/>
              <a:t>Phân</a:t>
            </a:r>
            <a:r>
              <a:rPr lang="en-US" dirty="0" smtClean="0"/>
              <a:t> </a:t>
            </a:r>
            <a:r>
              <a:rPr lang="en-US" dirty="0" err="1" smtClean="0"/>
              <a:t>cụm</a:t>
            </a:r>
            <a:r>
              <a:rPr lang="en-US" dirty="0" smtClean="0"/>
              <a:t>)</a:t>
            </a:r>
          </a:p>
          <a:p>
            <a:pPr lvl="1"/>
            <a:r>
              <a:rPr lang="en-US" dirty="0" smtClean="0"/>
              <a:t>Dimensionality Reduction (</a:t>
            </a:r>
            <a:r>
              <a:rPr lang="en-US" dirty="0" err="1" smtClean="0"/>
              <a:t>Giảm</a:t>
            </a:r>
            <a:r>
              <a:rPr lang="en-US" dirty="0" smtClean="0"/>
              <a:t> </a:t>
            </a:r>
            <a:r>
              <a:rPr lang="en-US" dirty="0" err="1" smtClean="0"/>
              <a:t>số</a:t>
            </a:r>
            <a:r>
              <a:rPr lang="en-US" dirty="0" smtClean="0"/>
              <a:t> </a:t>
            </a:r>
            <a:r>
              <a:rPr lang="en-US" dirty="0" err="1" smtClean="0"/>
              <a:t>chiều</a:t>
            </a:r>
            <a:r>
              <a:rPr lang="en-US" dirty="0" smtClean="0"/>
              <a:t>)</a:t>
            </a:r>
            <a:endParaRPr lang="en-US" dirty="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852021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Thư</a:t>
            </a:r>
            <a:r>
              <a:rPr lang="en-US" dirty="0" smtClean="0"/>
              <a:t> </a:t>
            </a:r>
            <a:r>
              <a:rPr lang="en-US" dirty="0" err="1" smtClean="0"/>
              <a:t>viện</a:t>
            </a:r>
            <a:r>
              <a:rPr lang="en-US" dirty="0" smtClean="0"/>
              <a:t>: </a:t>
            </a:r>
            <a:r>
              <a:rPr lang="en-US" dirty="0" err="1" smtClean="0"/>
              <a:t>Numpy</a:t>
            </a:r>
            <a:r>
              <a:rPr lang="en-US" dirty="0" smtClean="0"/>
              <a:t>, Pandas, </a:t>
            </a:r>
            <a:r>
              <a:rPr lang="en-US" dirty="0" err="1" smtClean="0"/>
              <a:t>Matplotlib</a:t>
            </a:r>
            <a:endParaRPr lang="en-US" dirty="0"/>
          </a:p>
        </p:txBody>
      </p:sp>
      <p:sp>
        <p:nvSpPr>
          <p:cNvPr id="3" name="Content Placeholder 2"/>
          <p:cNvSpPr>
            <a:spLocks noGrp="1"/>
          </p:cNvSpPr>
          <p:nvPr>
            <p:ph idx="1"/>
          </p:nvPr>
        </p:nvSpPr>
        <p:spPr/>
        <p:txBody>
          <a:bodyPr/>
          <a:lstStyle/>
          <a:p>
            <a:r>
              <a:rPr lang="vi-VN" dirty="0">
                <a:hlinkClick r:id="rId2"/>
              </a:rPr>
              <a:t>Numpy</a:t>
            </a:r>
            <a:r>
              <a:rPr lang="vi-VN" dirty="0"/>
              <a:t>: Gói thư viện xử lý dãy số và ma trận nhiều chiều</a:t>
            </a:r>
          </a:p>
          <a:p>
            <a:r>
              <a:rPr lang="vi-VN" dirty="0">
                <a:hlinkClick r:id="rId3"/>
              </a:rPr>
              <a:t>Pandas</a:t>
            </a:r>
            <a:r>
              <a:rPr lang="vi-VN" dirty="0"/>
              <a:t>: Xử lý, phân tích dữ liệu dưới dạng bảng</a:t>
            </a:r>
          </a:p>
          <a:p>
            <a:r>
              <a:rPr lang="vi-VN" dirty="0">
                <a:hlinkClick r:id="rId4"/>
              </a:rPr>
              <a:t>Matplotlib</a:t>
            </a:r>
            <a:r>
              <a:rPr lang="vi-VN" dirty="0"/>
              <a:t>: Biểu diễn dữ liệu dưới dạng đồ thị 2 chiều, 3 chiều  </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956075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thư</a:t>
            </a:r>
            <a:r>
              <a:rPr lang="en-US" dirty="0" smtClean="0"/>
              <a:t> </a:t>
            </a:r>
            <a:r>
              <a:rPr lang="en-US" dirty="0" err="1" smtClean="0"/>
              <a:t>viện</a:t>
            </a:r>
            <a:endParaRPr lang="en-US" dirty="0"/>
          </a:p>
        </p:txBody>
      </p:sp>
      <p:sp>
        <p:nvSpPr>
          <p:cNvPr id="3" name="Content Placeholder 2"/>
          <p:cNvSpPr>
            <a:spLocks noGrp="1"/>
          </p:cNvSpPr>
          <p:nvPr>
            <p:ph idx="1"/>
          </p:nvPr>
        </p:nvSpPr>
        <p:spPr/>
        <p:txBody>
          <a:bodyPr/>
          <a:lstStyle/>
          <a:p>
            <a:r>
              <a:rPr lang="en-US" dirty="0"/>
              <a:t>i</a:t>
            </a:r>
            <a:r>
              <a:rPr lang="en-US" dirty="0" smtClean="0"/>
              <a:t>mport </a:t>
            </a:r>
            <a:r>
              <a:rPr lang="en-US" dirty="0" err="1" smtClean="0"/>
              <a:t>numpy</a:t>
            </a:r>
            <a:r>
              <a:rPr lang="en-US" dirty="0" smtClean="0"/>
              <a:t> as np</a:t>
            </a:r>
          </a:p>
          <a:p>
            <a:r>
              <a:rPr lang="en-US" dirty="0"/>
              <a:t>i</a:t>
            </a:r>
            <a:r>
              <a:rPr lang="en-US" dirty="0" smtClean="0"/>
              <a:t>mport pandas as </a:t>
            </a:r>
            <a:r>
              <a:rPr lang="en-US" dirty="0" err="1" smtClean="0"/>
              <a:t>pd</a:t>
            </a:r>
            <a:endParaRPr lang="en-US" dirty="0" smtClean="0"/>
          </a:p>
          <a:p>
            <a:r>
              <a:rPr lang="en-US" dirty="0"/>
              <a:t>i</a:t>
            </a:r>
            <a:r>
              <a:rPr lang="en-US" dirty="0" smtClean="0"/>
              <a:t>mport </a:t>
            </a:r>
            <a:r>
              <a:rPr lang="en-US" dirty="0" err="1" smtClean="0"/>
              <a:t>matplotlib.pyplot</a:t>
            </a:r>
            <a:r>
              <a:rPr lang="en-US" dirty="0" smtClean="0"/>
              <a:t> as </a:t>
            </a:r>
            <a:r>
              <a:rPr lang="en-US" dirty="0" err="1" smtClean="0"/>
              <a:t>plt</a:t>
            </a:r>
            <a:endParaRPr lang="en-US" dirty="0" smtClean="0"/>
          </a:p>
          <a:p>
            <a:r>
              <a:rPr lang="en-US" dirty="0"/>
              <a:t>i</a:t>
            </a:r>
            <a:r>
              <a:rPr lang="en-US" dirty="0" smtClean="0"/>
              <a:t>mport </a:t>
            </a:r>
            <a:r>
              <a:rPr lang="en-US" dirty="0" err="1" smtClean="0"/>
              <a:t>sklearn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981014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CC"/>
                </a:solidFill>
                <a:latin typeface="Times New Roman" panose="02020603050405020304" pitchFamily="18" charset="0"/>
                <a:cs typeface="Times New Roman" panose="02020603050405020304" pitchFamily="18" charset="0"/>
              </a:rPr>
              <a:t>https://www.kaggle.com/</a:t>
            </a:r>
          </a:p>
        </p:txBody>
      </p:sp>
      <p:sp>
        <p:nvSpPr>
          <p:cNvPr id="3" name="Content Placeholder 2"/>
          <p:cNvSpPr>
            <a:spLocks noGrp="1"/>
          </p:cNvSpPr>
          <p:nvPr>
            <p:ph idx="1"/>
          </p:nvPr>
        </p:nvSpPr>
        <p:spPr/>
        <p:txBody>
          <a:bodyPr/>
          <a:lstStyle/>
          <a:p>
            <a:r>
              <a:rPr lang="en-US" dirty="0" err="1" smtClean="0"/>
              <a:t>Cuộc</a:t>
            </a:r>
            <a:r>
              <a:rPr lang="en-US" dirty="0" smtClean="0"/>
              <a:t> </a:t>
            </a:r>
            <a:r>
              <a:rPr lang="en-US" dirty="0" err="1" smtClean="0"/>
              <a:t>thi</a:t>
            </a:r>
            <a:r>
              <a:rPr lang="en-US" dirty="0" smtClean="0"/>
              <a:t>: </a:t>
            </a:r>
            <a:r>
              <a:rPr lang="en-US" dirty="0" smtClean="0">
                <a:hlinkClick r:id="rId2"/>
              </a:rPr>
              <a:t>https</a:t>
            </a:r>
            <a:r>
              <a:rPr lang="en-US" dirty="0">
                <a:hlinkClick r:id="rId2"/>
              </a:rPr>
              <a:t>://</a:t>
            </a:r>
            <a:r>
              <a:rPr lang="en-US" dirty="0" smtClean="0">
                <a:hlinkClick r:id="rId2"/>
              </a:rPr>
              <a:t>www.kaggle.com/competitions</a:t>
            </a:r>
            <a:endParaRPr lang="en-US" dirty="0" smtClean="0"/>
          </a:p>
          <a:p>
            <a:r>
              <a:rPr lang="en-US" dirty="0" smtClean="0"/>
              <a:t>Học </a:t>
            </a:r>
            <a:r>
              <a:rPr lang="en-US" dirty="0" err="1" smtClean="0"/>
              <a:t>tập</a:t>
            </a:r>
            <a:r>
              <a:rPr lang="en-US" dirty="0"/>
              <a:t>: </a:t>
            </a:r>
            <a:r>
              <a:rPr lang="en-US" dirty="0">
                <a:hlinkClick r:id="rId3"/>
              </a:rPr>
              <a:t>https://</a:t>
            </a:r>
            <a:r>
              <a:rPr lang="en-US" dirty="0" smtClean="0">
                <a:hlinkClick r:id="rId3"/>
              </a:rPr>
              <a:t>www.kaggle.com/learn</a:t>
            </a:r>
            <a:endParaRPr lang="en-US" dirty="0"/>
          </a:p>
          <a:p>
            <a:r>
              <a:rPr lang="en-US" dirty="0" err="1" smtClean="0"/>
              <a:t>Dữ</a:t>
            </a:r>
            <a:r>
              <a:rPr lang="en-US" dirty="0" smtClean="0"/>
              <a:t> </a:t>
            </a:r>
            <a:r>
              <a:rPr lang="en-US" dirty="0" err="1" smtClean="0"/>
              <a:t>liệu</a:t>
            </a:r>
            <a:r>
              <a:rPr lang="en-US" dirty="0" smtClean="0"/>
              <a:t>: </a:t>
            </a:r>
            <a:r>
              <a:rPr lang="en-US" dirty="0" smtClean="0">
                <a:hlinkClick r:id="rId4"/>
              </a:rPr>
              <a:t>https</a:t>
            </a:r>
            <a:r>
              <a:rPr lang="en-US" dirty="0">
                <a:hlinkClick r:id="rId4"/>
              </a:rPr>
              <a:t>://</a:t>
            </a:r>
            <a:r>
              <a:rPr lang="en-US" dirty="0" smtClean="0">
                <a:hlinkClick r:id="rId4"/>
              </a:rPr>
              <a:t>www.kaggle.com/datasets</a:t>
            </a:r>
            <a:endParaRPr lang="en-US" dirty="0" smtClean="0"/>
          </a:p>
          <a:p>
            <a:r>
              <a:rPr lang="en-US" dirty="0"/>
              <a:t>Code: </a:t>
            </a:r>
            <a:r>
              <a:rPr lang="en-US" dirty="0">
                <a:hlinkClick r:id="rId5"/>
              </a:rPr>
              <a:t>https://</a:t>
            </a:r>
            <a:r>
              <a:rPr lang="en-US" dirty="0" smtClean="0">
                <a:hlinkClick r:id="rId5"/>
              </a:rPr>
              <a:t>www.kaggle.com/code</a:t>
            </a:r>
            <a:endParaRPr lang="en-US" dirty="0" smtClean="0"/>
          </a:p>
          <a:p>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53909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House Prices - Advanced Regression </a:t>
            </a:r>
            <a:r>
              <a:rPr lang="en-US" b="1" dirty="0" smtClean="0"/>
              <a:t>Techniques</a:t>
            </a:r>
            <a:endParaRPr lang="en-US" dirty="0"/>
          </a:p>
        </p:txBody>
      </p:sp>
      <p:pic>
        <p:nvPicPr>
          <p:cNvPr id="7" name="Content Placeholder 6"/>
          <p:cNvPicPr>
            <a:picLocks noGrp="1" noChangeAspect="1"/>
          </p:cNvPicPr>
          <p:nvPr>
            <p:ph idx="1"/>
          </p:nvPr>
        </p:nvPicPr>
        <p:blipFill>
          <a:blip r:embed="rId2"/>
          <a:stretch>
            <a:fillRect/>
          </a:stretch>
        </p:blipFill>
        <p:spPr>
          <a:xfrm>
            <a:off x="2242406" y="1417638"/>
            <a:ext cx="8806594" cy="4951292"/>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799317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Mô</a:t>
            </a:r>
            <a:r>
              <a:rPr lang="en-US" dirty="0" smtClean="0"/>
              <a:t> </a:t>
            </a:r>
            <a:r>
              <a:rPr lang="en-US" dirty="0" err="1" smtClean="0"/>
              <a:t>tả</a:t>
            </a:r>
            <a:r>
              <a:rPr lang="en-US" dirty="0" smtClean="0"/>
              <a:t> </a:t>
            </a:r>
            <a:r>
              <a:rPr lang="en-US" dirty="0" err="1" smtClean="0"/>
              <a:t>bài</a:t>
            </a:r>
            <a:r>
              <a:rPr lang="en-US" dirty="0" smtClean="0"/>
              <a:t> </a:t>
            </a:r>
            <a:r>
              <a:rPr lang="en-US" dirty="0" err="1" smtClean="0"/>
              <a:t>toán</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dirty="0" smtClean="0">
                <a:solidFill>
                  <a:srgbClr val="0000CC"/>
                </a:solidFill>
              </a:rPr>
              <a:t>Goal: </a:t>
            </a:r>
            <a:r>
              <a:rPr lang="en-US" dirty="0" smtClean="0"/>
              <a:t>It </a:t>
            </a:r>
            <a:r>
              <a:rPr lang="en-US" dirty="0"/>
              <a:t>is your job to predict the sales price for each house. For each Id in the test set, you must predict the value of the </a:t>
            </a:r>
            <a:r>
              <a:rPr lang="en-US" dirty="0" err="1"/>
              <a:t>SalePrice</a:t>
            </a:r>
            <a:r>
              <a:rPr lang="en-US" dirty="0"/>
              <a:t> variable. </a:t>
            </a:r>
          </a:p>
          <a:p>
            <a:pPr fontAlgn="base"/>
            <a:r>
              <a:rPr lang="en-US" dirty="0" smtClean="0">
                <a:solidFill>
                  <a:srgbClr val="0000CC"/>
                </a:solidFill>
              </a:rPr>
              <a:t>Metric: </a:t>
            </a:r>
            <a:r>
              <a:rPr lang="en-US" dirty="0" smtClean="0"/>
              <a:t>Submissions </a:t>
            </a:r>
            <a:r>
              <a:rPr lang="en-US" dirty="0"/>
              <a:t>are evaluated on </a:t>
            </a:r>
            <a:r>
              <a:rPr lang="en-US" dirty="0">
                <a:hlinkClick r:id="rId2"/>
              </a:rPr>
              <a:t>Root-Mean-Squared-Error (RMSE)</a:t>
            </a:r>
            <a:r>
              <a:rPr lang="en-US" dirty="0"/>
              <a:t> between the logarithm of the predicted value and the logarithm of the observed sales price. (Taking logs means that errors in predicting expensive houses and cheap houses will affect the result equally</a:t>
            </a:r>
            <a:r>
              <a:rPr lang="en-US" dirty="0" smtClean="0"/>
              <a:t>.)</a:t>
            </a:r>
          </a:p>
          <a:p>
            <a:pPr fontAlgn="base"/>
            <a:r>
              <a:rPr lang="en-US" dirty="0">
                <a:solidFill>
                  <a:srgbClr val="0000CC"/>
                </a:solidFill>
              </a:rPr>
              <a:t>Submission File </a:t>
            </a:r>
            <a:r>
              <a:rPr lang="en-US" dirty="0" smtClean="0">
                <a:solidFill>
                  <a:srgbClr val="0000CC"/>
                </a:solidFill>
              </a:rPr>
              <a:t>Format: </a:t>
            </a:r>
          </a:p>
          <a:p>
            <a:pPr lvl="2" fontAlgn="base"/>
            <a:r>
              <a:rPr lang="fr-FR" dirty="0" smtClean="0"/>
              <a:t>Id, </a:t>
            </a:r>
            <a:r>
              <a:rPr lang="fr-FR" dirty="0" err="1" smtClean="0"/>
              <a:t>SalePrice</a:t>
            </a:r>
            <a:endParaRPr lang="fr-FR" dirty="0"/>
          </a:p>
          <a:p>
            <a:pPr lvl="2" fontAlgn="base"/>
            <a:r>
              <a:rPr lang="fr-FR" dirty="0"/>
              <a:t>1461</a:t>
            </a:r>
            <a:r>
              <a:rPr lang="fr-FR" dirty="0" smtClean="0"/>
              <a:t>, 169000.1</a:t>
            </a:r>
            <a:endParaRPr lang="fr-FR" dirty="0"/>
          </a:p>
          <a:p>
            <a:pPr lvl="2" fontAlgn="base"/>
            <a:r>
              <a:rPr lang="fr-FR" dirty="0"/>
              <a:t>1462</a:t>
            </a:r>
            <a:r>
              <a:rPr lang="fr-FR" dirty="0" smtClean="0"/>
              <a:t>, 187724.1233</a:t>
            </a:r>
            <a:endParaRPr lang="fr-FR" dirty="0"/>
          </a:p>
          <a:p>
            <a:pPr lvl="2" fontAlgn="base"/>
            <a:r>
              <a:rPr lang="fr-FR" dirty="0" smtClean="0"/>
              <a:t>1463 ,</a:t>
            </a:r>
            <a:r>
              <a:rPr lang="fr-FR" dirty="0"/>
              <a:t>175221</a:t>
            </a:r>
          </a:p>
          <a:p>
            <a:pPr lvl="2" fontAlgn="base"/>
            <a:r>
              <a:rPr lang="fr-FR" dirty="0"/>
              <a:t>etc.</a:t>
            </a:r>
            <a:endParaRPr lang="en-US" dirty="0"/>
          </a:p>
          <a:p>
            <a:pPr fontAlgn="base"/>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8" name="Rectangle 2"/>
          <p:cNvSpPr>
            <a:spLocks noChangeArrowheads="1"/>
          </p:cNvSpPr>
          <p:nvPr/>
        </p:nvSpPr>
        <p:spPr bwMode="auto">
          <a:xfrm>
            <a:off x="0" y="0"/>
            <a:ext cx="12192000" cy="457200"/>
          </a:xfrm>
          <a:prstGeom prst="rect">
            <a:avLst/>
          </a:prstGeom>
          <a:solidFill>
            <a:srgbClr val="F4F4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chemeClr val="tx1"/>
                </a:solidFill>
                <a:effectLst/>
                <a:latin typeface="Roboto Mono"/>
              </a:rPr>
              <a:t>Id,SalePrice</a:t>
            </a:r>
            <a:br>
              <a:rPr kumimoji="0" lang="en-US" altLang="en-US" sz="1000" b="0" i="0" u="none" strike="noStrike" cap="none" normalizeH="0" baseline="0" smtClean="0">
                <a:ln>
                  <a:noFill/>
                </a:ln>
                <a:solidFill>
                  <a:schemeClr val="tx1"/>
                </a:solidFill>
                <a:effectLst/>
                <a:latin typeface="Roboto Mono"/>
              </a:rPr>
            </a:br>
            <a:r>
              <a:rPr kumimoji="0" lang="en-US" altLang="en-US" sz="1000" b="0" i="0" u="none" strike="noStrike" cap="none" normalizeH="0" baseline="0" smtClean="0">
                <a:ln>
                  <a:noFill/>
                </a:ln>
                <a:solidFill>
                  <a:schemeClr val="tx1"/>
                </a:solidFill>
                <a:effectLst/>
                <a:latin typeface="Roboto Mono"/>
              </a:rPr>
              <a:t>1461,169000.1</a:t>
            </a:r>
            <a:br>
              <a:rPr kumimoji="0" lang="en-US" altLang="en-US" sz="1000" b="0" i="0" u="none" strike="noStrike" cap="none" normalizeH="0" baseline="0" smtClean="0">
                <a:ln>
                  <a:noFill/>
                </a:ln>
                <a:solidFill>
                  <a:schemeClr val="tx1"/>
                </a:solidFill>
                <a:effectLst/>
                <a:latin typeface="Roboto Mono"/>
              </a:rPr>
            </a:br>
            <a:r>
              <a:rPr kumimoji="0" lang="en-US" altLang="en-US" sz="1000" b="0" i="0" u="none" strike="noStrike" cap="none" normalizeH="0" baseline="0" smtClean="0">
                <a:ln>
                  <a:noFill/>
                </a:ln>
                <a:solidFill>
                  <a:schemeClr val="tx1"/>
                </a:solidFill>
                <a:effectLst/>
                <a:latin typeface="Roboto Mono"/>
              </a:rPr>
              <a:t>1462,187724.1233</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2295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Datasets</a:t>
            </a:r>
          </a:p>
          <a:p>
            <a:pPr lvl="1"/>
            <a:r>
              <a:rPr lang="en-US" dirty="0" err="1" smtClean="0"/>
              <a:t>Mô</a:t>
            </a:r>
            <a:r>
              <a:rPr lang="en-US" dirty="0" smtClean="0"/>
              <a:t> </a:t>
            </a:r>
            <a:r>
              <a:rPr lang="en-US" dirty="0" err="1" smtClean="0"/>
              <a:t>tả</a:t>
            </a:r>
            <a:r>
              <a:rPr lang="en-US" dirty="0" smtClean="0"/>
              <a:t> </a:t>
            </a:r>
            <a:r>
              <a:rPr lang="en-US" dirty="0" err="1" smtClean="0"/>
              <a:t>dữ</a:t>
            </a:r>
            <a:r>
              <a:rPr lang="en-US" dirty="0" smtClean="0"/>
              <a:t> </a:t>
            </a:r>
            <a:r>
              <a:rPr lang="en-US" dirty="0" err="1" smtClean="0"/>
              <a:t>liệu</a:t>
            </a:r>
            <a:r>
              <a:rPr lang="en-US" dirty="0" smtClean="0"/>
              <a:t>: data_description.txt</a:t>
            </a:r>
          </a:p>
          <a:p>
            <a:pPr lvl="1"/>
            <a:r>
              <a:rPr lang="en-US" dirty="0" err="1" smtClean="0"/>
              <a:t>Dữ</a:t>
            </a:r>
            <a:r>
              <a:rPr lang="en-US" dirty="0" smtClean="0"/>
              <a:t> </a:t>
            </a:r>
            <a:r>
              <a:rPr lang="en-US" dirty="0" err="1" smtClean="0"/>
              <a:t>liệu</a:t>
            </a:r>
            <a:r>
              <a:rPr lang="en-US" dirty="0" smtClean="0"/>
              <a:t> </a:t>
            </a:r>
            <a:r>
              <a:rPr lang="en-US" dirty="0" err="1" smtClean="0"/>
              <a:t>huấn</a:t>
            </a:r>
            <a:r>
              <a:rPr lang="en-US" dirty="0" smtClean="0"/>
              <a:t> </a:t>
            </a:r>
            <a:r>
              <a:rPr lang="en-US" dirty="0" err="1" smtClean="0"/>
              <a:t>luyện</a:t>
            </a:r>
            <a:r>
              <a:rPr lang="en-US" dirty="0" smtClean="0"/>
              <a:t>: </a:t>
            </a:r>
            <a:r>
              <a:rPr lang="en-US" dirty="0"/>
              <a:t>train.csv - the training set</a:t>
            </a:r>
          </a:p>
          <a:p>
            <a:pPr lvl="1"/>
            <a:r>
              <a:rPr lang="en-US" dirty="0" err="1" smtClean="0"/>
              <a:t>Dữ</a:t>
            </a:r>
            <a:r>
              <a:rPr lang="en-US" dirty="0" smtClean="0"/>
              <a:t> </a:t>
            </a:r>
            <a:r>
              <a:rPr lang="en-US" dirty="0" err="1" smtClean="0"/>
              <a:t>liệu</a:t>
            </a:r>
            <a:r>
              <a:rPr lang="en-US" dirty="0" smtClean="0"/>
              <a:t> </a:t>
            </a:r>
            <a:r>
              <a:rPr lang="en-US" dirty="0" err="1" smtClean="0"/>
              <a:t>kiểm</a:t>
            </a:r>
            <a:r>
              <a:rPr lang="en-US" dirty="0" smtClean="0"/>
              <a:t> </a:t>
            </a:r>
            <a:r>
              <a:rPr lang="en-US" dirty="0" err="1" smtClean="0"/>
              <a:t>tra</a:t>
            </a:r>
            <a:r>
              <a:rPr lang="en-US" dirty="0" smtClean="0"/>
              <a:t>: </a:t>
            </a:r>
            <a:r>
              <a:rPr lang="en-US" dirty="0"/>
              <a:t>test.csv - the test set</a:t>
            </a:r>
          </a:p>
          <a:p>
            <a:pPr lvl="1"/>
            <a:endParaRPr lang="en-US" dirty="0"/>
          </a:p>
          <a:p>
            <a:r>
              <a:rPr lang="en-US" dirty="0" smtClean="0"/>
              <a:t>File </a:t>
            </a:r>
            <a:r>
              <a:rPr lang="en-US" dirty="0" err="1" smtClean="0"/>
              <a:t>mô</a:t>
            </a:r>
            <a:r>
              <a:rPr lang="en-US" dirty="0" smtClean="0"/>
              <a:t> </a:t>
            </a:r>
            <a:r>
              <a:rPr lang="en-US" dirty="0" err="1" smtClean="0"/>
              <a:t>tả</a:t>
            </a:r>
            <a:r>
              <a:rPr lang="en-US" dirty="0" smtClean="0"/>
              <a:t> </a:t>
            </a:r>
            <a:r>
              <a:rPr lang="en-US" dirty="0" err="1" smtClean="0"/>
              <a:t>kết</a:t>
            </a:r>
            <a:r>
              <a:rPr lang="en-US" dirty="0" smtClean="0"/>
              <a:t> </a:t>
            </a:r>
            <a:r>
              <a:rPr lang="en-US" dirty="0" err="1" smtClean="0"/>
              <a:t>quả</a:t>
            </a:r>
            <a:r>
              <a:rPr lang="en-US" dirty="0" smtClean="0"/>
              <a:t>:</a:t>
            </a:r>
          </a:p>
          <a:p>
            <a:pPr lvl="1"/>
            <a:r>
              <a:rPr lang="en-US" dirty="0"/>
              <a:t>sample_submission.csv</a:t>
            </a:r>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407018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Xử</a:t>
            </a:r>
            <a:r>
              <a:rPr lang="en-US" dirty="0" smtClean="0"/>
              <a:t> </a:t>
            </a:r>
            <a:r>
              <a:rPr lang="en-US" dirty="0" err="1" smtClean="0"/>
              <a:t>lý</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làm</a:t>
            </a:r>
            <a:r>
              <a:rPr lang="en-US" dirty="0" smtClean="0"/>
              <a:t> </a:t>
            </a:r>
            <a:r>
              <a:rPr lang="en-US" dirty="0" err="1" smtClean="0"/>
              <a:t>sạch</a:t>
            </a:r>
            <a:r>
              <a:rPr lang="en-US" dirty="0" smtClean="0"/>
              <a:t> </a:t>
            </a:r>
            <a:r>
              <a:rPr lang="en-US" dirty="0" err="1" smtClean="0"/>
              <a:t>dữ</a:t>
            </a:r>
            <a:r>
              <a:rPr lang="en-US" dirty="0" smtClean="0"/>
              <a:t> </a:t>
            </a:r>
            <a:r>
              <a:rPr lang="en-US" dirty="0" err="1" smtClean="0"/>
              <a:t>liệu</a:t>
            </a:r>
            <a:endParaRPr lang="en-US" dirty="0"/>
          </a:p>
        </p:txBody>
      </p:sp>
      <p:sp>
        <p:nvSpPr>
          <p:cNvPr id="3" name="Content Placeholder 2"/>
          <p:cNvSpPr>
            <a:spLocks noGrp="1"/>
          </p:cNvSpPr>
          <p:nvPr>
            <p:ph idx="1"/>
          </p:nvPr>
        </p:nvSpPr>
        <p:spPr/>
        <p:txBody>
          <a:bodyPr/>
          <a:lstStyle/>
          <a:p>
            <a:r>
              <a:rPr lang="en-US" dirty="0" err="1" smtClean="0"/>
              <a:t>Chọn</a:t>
            </a:r>
            <a:r>
              <a:rPr lang="en-US" dirty="0" smtClean="0"/>
              <a:t> </a:t>
            </a:r>
            <a:r>
              <a:rPr lang="en-US" dirty="0" err="1" smtClean="0"/>
              <a:t>một</a:t>
            </a:r>
            <a:r>
              <a:rPr lang="en-US" dirty="0" smtClean="0"/>
              <a:t> </a:t>
            </a:r>
            <a:r>
              <a:rPr lang="en-US" dirty="0" err="1" smtClean="0"/>
              <a:t>số</a:t>
            </a:r>
            <a:r>
              <a:rPr lang="en-US" dirty="0" smtClean="0"/>
              <a:t> </a:t>
            </a:r>
            <a:r>
              <a:rPr lang="en-US" dirty="0" err="1" smtClean="0"/>
              <a:t>thuộc</a:t>
            </a:r>
            <a:r>
              <a:rPr lang="en-US" dirty="0" smtClean="0"/>
              <a:t> </a:t>
            </a:r>
            <a:r>
              <a:rPr lang="en-US" dirty="0" err="1" smtClean="0"/>
              <a:t>tính</a:t>
            </a:r>
            <a:endParaRPr lang="en-US" dirty="0" smtClean="0"/>
          </a:p>
          <a:p>
            <a:r>
              <a:rPr lang="en-US" dirty="0" err="1" smtClean="0"/>
              <a:t>Thêm</a:t>
            </a:r>
            <a:r>
              <a:rPr lang="en-US" dirty="0" smtClean="0"/>
              <a:t> </a:t>
            </a:r>
            <a:r>
              <a:rPr lang="en-US" dirty="0" err="1" smtClean="0"/>
              <a:t>bớt</a:t>
            </a:r>
            <a:r>
              <a:rPr lang="en-US" dirty="0" smtClean="0"/>
              <a:t> </a:t>
            </a:r>
            <a:r>
              <a:rPr lang="en-US" dirty="0" err="1" smtClean="0"/>
              <a:t>một</a:t>
            </a:r>
            <a:r>
              <a:rPr lang="en-US" dirty="0" smtClean="0"/>
              <a:t> </a:t>
            </a:r>
            <a:r>
              <a:rPr lang="en-US" dirty="0" err="1" smtClean="0"/>
              <a:t>số</a:t>
            </a:r>
            <a:r>
              <a:rPr lang="en-US" dirty="0" smtClean="0"/>
              <a:t> </a:t>
            </a:r>
            <a:r>
              <a:rPr lang="en-US" dirty="0" err="1" smtClean="0"/>
              <a:t>thuộc</a:t>
            </a:r>
            <a:r>
              <a:rPr lang="en-US" dirty="0" smtClean="0"/>
              <a:t> </a:t>
            </a:r>
            <a:r>
              <a:rPr lang="en-US" dirty="0" err="1" smtClean="0"/>
              <a:t>tính</a:t>
            </a:r>
            <a:endParaRPr lang="en-US" dirty="0" smtClean="0"/>
          </a:p>
          <a:p>
            <a:r>
              <a:rPr lang="en-US" dirty="0" err="1" smtClean="0"/>
              <a:t>Loại</a:t>
            </a:r>
            <a:r>
              <a:rPr lang="en-US" dirty="0" smtClean="0"/>
              <a:t> </a:t>
            </a:r>
            <a:r>
              <a:rPr lang="en-US" dirty="0" err="1" smtClean="0"/>
              <a:t>bỏ</a:t>
            </a:r>
            <a:r>
              <a:rPr lang="en-US" dirty="0" smtClean="0"/>
              <a:t>, </a:t>
            </a:r>
            <a:r>
              <a:rPr lang="en-US" dirty="0" err="1" smtClean="0"/>
              <a:t>điền</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bị</a:t>
            </a:r>
            <a:r>
              <a:rPr lang="en-US" dirty="0" smtClean="0"/>
              <a:t> </a:t>
            </a:r>
            <a:r>
              <a:rPr lang="en-US" dirty="0" err="1" smtClean="0"/>
              <a:t>mất</a:t>
            </a:r>
            <a:endParaRPr lang="en-US" dirty="0" smtClean="0"/>
          </a:p>
          <a:p>
            <a:r>
              <a:rPr lang="en-US" dirty="0" err="1" smtClean="0"/>
              <a:t>Chuẩn</a:t>
            </a:r>
            <a:r>
              <a:rPr lang="en-US" dirty="0" smtClean="0"/>
              <a:t> </a:t>
            </a:r>
            <a:r>
              <a:rPr lang="en-US" dirty="0" err="1" smtClean="0"/>
              <a:t>hóa</a:t>
            </a:r>
            <a:r>
              <a:rPr lang="en-US" dirty="0" smtClean="0"/>
              <a:t> </a:t>
            </a:r>
            <a:r>
              <a:rPr lang="en-US" dirty="0" err="1" smtClean="0"/>
              <a:t>dữ</a:t>
            </a:r>
            <a:r>
              <a:rPr lang="en-US" dirty="0" smtClean="0"/>
              <a:t> </a:t>
            </a:r>
            <a:r>
              <a:rPr lang="en-US" dirty="0" err="1" smtClean="0"/>
              <a:t>liệu</a:t>
            </a:r>
            <a:endParaRPr lang="en-US" dirty="0" smtClean="0"/>
          </a:p>
          <a:p>
            <a:r>
              <a:rPr lang="en-US" dirty="0" err="1" smtClean="0"/>
              <a:t>Trực</a:t>
            </a:r>
            <a:r>
              <a:rPr lang="en-US" dirty="0" smtClean="0"/>
              <a:t> </a:t>
            </a:r>
            <a:r>
              <a:rPr lang="en-US" dirty="0" err="1" smtClean="0"/>
              <a:t>quan</a:t>
            </a:r>
            <a:r>
              <a:rPr lang="en-US" dirty="0" smtClean="0"/>
              <a:t> </a:t>
            </a:r>
            <a:r>
              <a:rPr lang="en-US" dirty="0" err="1" smtClean="0"/>
              <a:t>hóa</a:t>
            </a:r>
            <a:r>
              <a:rPr lang="en-US" dirty="0" smtClean="0"/>
              <a:t> </a:t>
            </a:r>
            <a:r>
              <a:rPr lang="en-US" dirty="0" err="1" smtClean="0"/>
              <a:t>dữ</a:t>
            </a:r>
            <a:r>
              <a:rPr lang="en-US" dirty="0" smtClean="0"/>
              <a:t> </a:t>
            </a:r>
            <a:r>
              <a:rPr lang="en-US" dirty="0" err="1" smtClean="0"/>
              <a:t>liệu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27746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Xây dựng </a:t>
            </a:r>
            <a:r>
              <a:rPr lang="en-US" dirty="0" err="1" smtClean="0"/>
              <a:t>mô</a:t>
            </a:r>
            <a:r>
              <a:rPr lang="en-US" dirty="0" smtClean="0"/>
              <a:t> </a:t>
            </a:r>
            <a:r>
              <a:rPr lang="en-US" dirty="0" err="1" smtClean="0"/>
              <a:t>hình</a:t>
            </a:r>
            <a:r>
              <a:rPr lang="en-US" dirty="0" smtClean="0"/>
              <a:t> </a:t>
            </a:r>
            <a:r>
              <a:rPr lang="en-US" dirty="0" err="1" smtClean="0"/>
              <a:t>phân</a:t>
            </a:r>
            <a:r>
              <a:rPr lang="en-US" dirty="0" smtClean="0"/>
              <a:t> </a:t>
            </a:r>
            <a:r>
              <a:rPr lang="en-US" dirty="0" err="1" smtClean="0"/>
              <a:t>tích</a:t>
            </a:r>
            <a:endParaRPr lang="en-US" dirty="0"/>
          </a:p>
        </p:txBody>
      </p:sp>
      <p:sp>
        <p:nvSpPr>
          <p:cNvPr id="3" name="Content Placeholder 2"/>
          <p:cNvSpPr>
            <a:spLocks noGrp="1"/>
          </p:cNvSpPr>
          <p:nvPr>
            <p:ph idx="1"/>
          </p:nvPr>
        </p:nvSpPr>
        <p:spPr/>
        <p:txBody>
          <a:bodyPr/>
          <a:lstStyle/>
          <a:p>
            <a:r>
              <a:rPr lang="en-US" dirty="0" err="1" smtClean="0"/>
              <a:t>Bài</a:t>
            </a:r>
            <a:r>
              <a:rPr lang="en-US" dirty="0" smtClean="0"/>
              <a:t> </a:t>
            </a:r>
            <a:r>
              <a:rPr lang="en-US" dirty="0" err="1" smtClean="0"/>
              <a:t>toán</a:t>
            </a:r>
            <a:r>
              <a:rPr lang="en-US" dirty="0" smtClean="0"/>
              <a:t> </a:t>
            </a:r>
            <a:r>
              <a:rPr lang="en-US" dirty="0" err="1" smtClean="0"/>
              <a:t>hồi</a:t>
            </a:r>
            <a:r>
              <a:rPr lang="en-US" dirty="0" smtClean="0"/>
              <a:t> </a:t>
            </a:r>
            <a:r>
              <a:rPr lang="en-US" dirty="0" err="1" smtClean="0"/>
              <a:t>quy</a:t>
            </a:r>
            <a:r>
              <a:rPr lang="en-US" dirty="0" smtClean="0"/>
              <a:t> (</a:t>
            </a:r>
            <a:r>
              <a:rPr lang="en-US" dirty="0" err="1" smtClean="0"/>
              <a:t>chọn</a:t>
            </a:r>
            <a:r>
              <a:rPr lang="en-US" dirty="0" smtClean="0"/>
              <a:t> </a:t>
            </a:r>
            <a:r>
              <a:rPr lang="en-US" dirty="0" err="1" smtClean="0"/>
              <a:t>một</a:t>
            </a:r>
            <a:r>
              <a:rPr lang="en-US" dirty="0" smtClean="0"/>
              <a:t> </a:t>
            </a:r>
            <a:r>
              <a:rPr lang="en-US" dirty="0" err="1" smtClean="0"/>
              <a:t>mô</a:t>
            </a:r>
            <a:r>
              <a:rPr lang="en-US" dirty="0" smtClean="0"/>
              <a:t> </a:t>
            </a:r>
            <a:r>
              <a:rPr lang="en-US" dirty="0" err="1" smtClean="0"/>
              <a:t>hình</a:t>
            </a:r>
            <a:r>
              <a:rPr lang="en-US" dirty="0" smtClean="0"/>
              <a:t>)</a:t>
            </a:r>
          </a:p>
          <a:p>
            <a:pPr lvl="1"/>
            <a:r>
              <a:rPr lang="en-US" dirty="0" err="1" smtClean="0"/>
              <a:t>Hồi</a:t>
            </a:r>
            <a:r>
              <a:rPr lang="en-US" dirty="0" smtClean="0"/>
              <a:t> </a:t>
            </a:r>
            <a:r>
              <a:rPr lang="en-US" dirty="0" err="1" smtClean="0"/>
              <a:t>quy</a:t>
            </a:r>
            <a:r>
              <a:rPr lang="en-US" dirty="0" smtClean="0"/>
              <a:t> </a:t>
            </a:r>
            <a:r>
              <a:rPr lang="en-US" dirty="0" err="1" smtClean="0"/>
              <a:t>tuyến</a:t>
            </a:r>
            <a:r>
              <a:rPr lang="en-US" dirty="0" smtClean="0"/>
              <a:t> </a:t>
            </a:r>
            <a:r>
              <a:rPr lang="en-US" dirty="0" err="1" smtClean="0"/>
              <a:t>tính</a:t>
            </a:r>
            <a:endParaRPr lang="en-US" dirty="0" smtClean="0"/>
          </a:p>
          <a:p>
            <a:pPr lvl="1"/>
            <a:r>
              <a:rPr lang="en-US" dirty="0" err="1" smtClean="0"/>
              <a:t>Hồi</a:t>
            </a:r>
            <a:r>
              <a:rPr lang="en-US" dirty="0" smtClean="0"/>
              <a:t> </a:t>
            </a:r>
            <a:r>
              <a:rPr lang="en-US" dirty="0" err="1" smtClean="0"/>
              <a:t>quy</a:t>
            </a:r>
            <a:r>
              <a:rPr lang="en-US" dirty="0" smtClean="0"/>
              <a:t> Neural Network</a:t>
            </a:r>
          </a:p>
          <a:p>
            <a:pPr lvl="1"/>
            <a:r>
              <a:rPr lang="en-US" dirty="0" err="1" smtClean="0"/>
              <a:t>Hồi</a:t>
            </a:r>
            <a:r>
              <a:rPr lang="en-US" dirty="0" smtClean="0"/>
              <a:t> </a:t>
            </a:r>
            <a:r>
              <a:rPr lang="en-US" dirty="0" err="1" smtClean="0"/>
              <a:t>quy</a:t>
            </a:r>
            <a:r>
              <a:rPr lang="en-US" dirty="0" smtClean="0"/>
              <a:t> k </a:t>
            </a:r>
            <a:r>
              <a:rPr lang="en-US" dirty="0" err="1" smtClean="0"/>
              <a:t>láng</a:t>
            </a:r>
            <a:r>
              <a:rPr lang="en-US" dirty="0" smtClean="0"/>
              <a:t> </a:t>
            </a:r>
            <a:r>
              <a:rPr lang="en-US" dirty="0" err="1" smtClean="0"/>
              <a:t>giềng</a:t>
            </a:r>
            <a:endParaRPr lang="en-US" dirty="0" smtClean="0"/>
          </a:p>
          <a:p>
            <a:pPr lvl="1"/>
            <a:r>
              <a:rPr lang="en-US" dirty="0" err="1" smtClean="0"/>
              <a:t>Cây</a:t>
            </a:r>
            <a:r>
              <a:rPr lang="en-US" dirty="0" smtClean="0"/>
              <a:t> </a:t>
            </a:r>
            <a:r>
              <a:rPr lang="en-US" dirty="0" err="1" smtClean="0"/>
              <a:t>hồi</a:t>
            </a:r>
            <a:r>
              <a:rPr lang="en-US" dirty="0" smtClean="0"/>
              <a:t> </a:t>
            </a:r>
            <a:r>
              <a:rPr lang="en-US" dirty="0" err="1" smtClean="0"/>
              <a:t>quy</a:t>
            </a:r>
            <a:r>
              <a:rPr lang="en-US" dirty="0" smtClean="0"/>
              <a:t> </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219538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Viết</a:t>
            </a:r>
            <a:r>
              <a:rPr lang="en-US" dirty="0" smtClean="0"/>
              <a:t> chương trình </a:t>
            </a:r>
            <a:r>
              <a:rPr lang="en-US" dirty="0" err="1" smtClean="0"/>
              <a:t>trên</a:t>
            </a:r>
            <a:r>
              <a:rPr lang="en-US" dirty="0" smtClean="0"/>
              <a:t> python </a:t>
            </a:r>
            <a:br>
              <a:rPr lang="en-US" dirty="0" smtClean="0"/>
            </a:br>
            <a:r>
              <a:rPr lang="en-US" dirty="0" err="1" smtClean="0"/>
              <a:t>Sử</a:t>
            </a:r>
            <a:r>
              <a:rPr lang="en-US" dirty="0" smtClean="0"/>
              <a:t> </a:t>
            </a:r>
            <a:r>
              <a:rPr lang="en-US" dirty="0" err="1" smtClean="0"/>
              <a:t>dụng</a:t>
            </a:r>
            <a:r>
              <a:rPr lang="en-US" dirty="0" smtClean="0"/>
              <a:t> </a:t>
            </a:r>
            <a:r>
              <a:rPr lang="en-US" dirty="0" err="1" smtClean="0"/>
              <a:t>thư</a:t>
            </a:r>
            <a:r>
              <a:rPr lang="en-US" dirty="0" smtClean="0"/>
              <a:t> </a:t>
            </a:r>
            <a:r>
              <a:rPr lang="en-US" dirty="0" err="1" smtClean="0"/>
              <a:t>viện</a:t>
            </a:r>
            <a:r>
              <a:rPr lang="en-US" dirty="0" smtClean="0"/>
              <a:t> </a:t>
            </a:r>
            <a:r>
              <a:rPr lang="en-US" dirty="0" err="1" smtClean="0"/>
              <a:t>sklearn</a:t>
            </a:r>
            <a:endParaRPr lang="en-US" dirty="0"/>
          </a:p>
        </p:txBody>
      </p:sp>
      <p:sp>
        <p:nvSpPr>
          <p:cNvPr id="3" name="Content Placeholder 2"/>
          <p:cNvSpPr>
            <a:spLocks noGrp="1"/>
          </p:cNvSpPr>
          <p:nvPr>
            <p:ph idx="1"/>
          </p:nvPr>
        </p:nvSpPr>
        <p:spPr/>
        <p:txBody>
          <a:bodyPr/>
          <a:lstStyle/>
          <a:p>
            <a:r>
              <a:rPr lang="en-US" dirty="0" err="1" smtClean="0"/>
              <a:t>Viết</a:t>
            </a:r>
            <a:r>
              <a:rPr lang="en-US" dirty="0" smtClean="0"/>
              <a:t> chương trình </a:t>
            </a:r>
            <a:r>
              <a:rPr lang="en-US" dirty="0" err="1" smtClean="0"/>
              <a:t>trên</a:t>
            </a:r>
            <a:r>
              <a:rPr lang="en-US" dirty="0" smtClean="0"/>
              <a:t> </a:t>
            </a:r>
            <a:r>
              <a:rPr lang="en-US" dirty="0" err="1" smtClean="0"/>
              <a:t>jupyter</a:t>
            </a:r>
            <a:r>
              <a:rPr lang="en-US" dirty="0" smtClean="0"/>
              <a:t> lab</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575299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Phân</a:t>
            </a:r>
            <a:r>
              <a:rPr lang="en-US" dirty="0" smtClean="0"/>
              <a:t> </a:t>
            </a:r>
            <a:r>
              <a:rPr lang="en-US" dirty="0" err="1" smtClean="0"/>
              <a:t>tích</a:t>
            </a:r>
            <a:r>
              <a:rPr lang="en-US" dirty="0" smtClean="0"/>
              <a:t> </a:t>
            </a:r>
            <a:r>
              <a:rPr lang="en-US" dirty="0" err="1" smtClean="0"/>
              <a:t>kết</a:t>
            </a:r>
            <a:r>
              <a:rPr lang="en-US" dirty="0" smtClean="0"/>
              <a:t> </a:t>
            </a:r>
            <a:r>
              <a:rPr lang="en-US" dirty="0" err="1" smtClean="0"/>
              <a:t>quả</a:t>
            </a:r>
            <a:endParaRPr lang="en-US" dirty="0"/>
          </a:p>
        </p:txBody>
      </p:sp>
      <p:sp>
        <p:nvSpPr>
          <p:cNvPr id="3" name="Content Placeholder 2"/>
          <p:cNvSpPr>
            <a:spLocks noGrp="1"/>
          </p:cNvSpPr>
          <p:nvPr>
            <p:ph idx="1"/>
          </p:nvPr>
        </p:nvSpPr>
        <p:spPr/>
        <p:txBody>
          <a:bodyPr/>
          <a:lstStyle/>
          <a:p>
            <a:r>
              <a:rPr lang="en-US" dirty="0" err="1" smtClean="0"/>
              <a:t>Xác</a:t>
            </a:r>
            <a:r>
              <a:rPr lang="en-US" dirty="0" smtClean="0"/>
              <a:t> </a:t>
            </a:r>
            <a:r>
              <a:rPr lang="en-US" dirty="0" err="1" smtClean="0"/>
              <a:t>định</a:t>
            </a:r>
            <a:r>
              <a:rPr lang="en-US" dirty="0" smtClean="0"/>
              <a:t> </a:t>
            </a:r>
            <a:r>
              <a:rPr lang="en-US" dirty="0" err="1" smtClean="0"/>
              <a:t>các</a:t>
            </a:r>
            <a:r>
              <a:rPr lang="en-US" dirty="0" smtClean="0"/>
              <a:t> </a:t>
            </a:r>
            <a:r>
              <a:rPr lang="en-US" dirty="0" err="1" smtClean="0"/>
              <a:t>tham</a:t>
            </a:r>
            <a:r>
              <a:rPr lang="en-US" dirty="0" smtClean="0"/>
              <a:t> </a:t>
            </a:r>
            <a:r>
              <a:rPr lang="en-US" dirty="0" err="1" smtClean="0"/>
              <a:t>số</a:t>
            </a:r>
            <a:r>
              <a:rPr lang="en-US" dirty="0" smtClean="0"/>
              <a:t> </a:t>
            </a:r>
            <a:r>
              <a:rPr lang="en-US" dirty="0" err="1" smtClean="0"/>
              <a:t>mô</a:t>
            </a:r>
            <a:r>
              <a:rPr lang="en-US" dirty="0" smtClean="0"/>
              <a:t> </a:t>
            </a:r>
            <a:r>
              <a:rPr lang="en-US" dirty="0" err="1" smtClean="0"/>
              <a:t>hình</a:t>
            </a:r>
            <a:endParaRPr lang="en-US" dirty="0" smtClean="0"/>
          </a:p>
          <a:p>
            <a:r>
              <a:rPr lang="en-US" dirty="0" err="1" smtClean="0"/>
              <a:t>Đánh</a:t>
            </a:r>
            <a:r>
              <a:rPr lang="en-US" dirty="0" smtClean="0"/>
              <a:t> </a:t>
            </a:r>
            <a:r>
              <a:rPr lang="en-US" dirty="0" err="1" smtClean="0"/>
              <a:t>giá</a:t>
            </a:r>
            <a:r>
              <a:rPr lang="en-US" dirty="0" smtClean="0"/>
              <a:t> </a:t>
            </a:r>
            <a:r>
              <a:rPr lang="en-US" dirty="0" err="1" smtClean="0"/>
              <a:t>sai</a:t>
            </a:r>
            <a:r>
              <a:rPr lang="en-US" dirty="0" smtClean="0"/>
              <a:t> </a:t>
            </a:r>
            <a:r>
              <a:rPr lang="en-US" dirty="0" err="1" smtClean="0"/>
              <a:t>số</a:t>
            </a:r>
            <a:r>
              <a:rPr lang="en-US" dirty="0" smtClean="0"/>
              <a:t> </a:t>
            </a:r>
            <a:r>
              <a:rPr lang="en-US" dirty="0" err="1" smtClean="0"/>
              <a:t>huấn</a:t>
            </a:r>
            <a:r>
              <a:rPr lang="en-US" dirty="0" smtClean="0"/>
              <a:t> </a:t>
            </a:r>
            <a:r>
              <a:rPr lang="en-US" dirty="0" err="1" smtClean="0"/>
              <a:t>luyện</a:t>
            </a:r>
            <a:endParaRPr lang="en-US" dirty="0" smtClean="0"/>
          </a:p>
          <a:p>
            <a:r>
              <a:rPr lang="en-US" dirty="0" err="1" smtClean="0"/>
              <a:t>Đánh</a:t>
            </a:r>
            <a:r>
              <a:rPr lang="en-US" dirty="0" smtClean="0"/>
              <a:t> </a:t>
            </a:r>
            <a:r>
              <a:rPr lang="en-US" dirty="0" err="1" smtClean="0"/>
              <a:t>giá</a:t>
            </a:r>
            <a:r>
              <a:rPr lang="en-US" dirty="0" smtClean="0"/>
              <a:t> </a:t>
            </a:r>
            <a:r>
              <a:rPr lang="en-US" dirty="0" err="1" smtClean="0"/>
              <a:t>sai</a:t>
            </a:r>
            <a:r>
              <a:rPr lang="en-US" dirty="0" smtClean="0"/>
              <a:t> </a:t>
            </a:r>
            <a:r>
              <a:rPr lang="en-US" dirty="0" err="1" smtClean="0"/>
              <a:t>số</a:t>
            </a:r>
            <a:r>
              <a:rPr lang="en-US" dirty="0" smtClean="0"/>
              <a:t> </a:t>
            </a:r>
            <a:r>
              <a:rPr lang="en-US" dirty="0" err="1" smtClean="0"/>
              <a:t>kiểm</a:t>
            </a:r>
            <a:r>
              <a:rPr lang="en-US" dirty="0" smtClean="0"/>
              <a:t> </a:t>
            </a:r>
            <a:r>
              <a:rPr lang="en-US" dirty="0" err="1" smtClean="0"/>
              <a:t>tra</a:t>
            </a:r>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20387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Trình </a:t>
            </a:r>
            <a:r>
              <a:rPr lang="en-US" dirty="0" err="1" smtClean="0"/>
              <a:t>bày</a:t>
            </a:r>
            <a:r>
              <a:rPr lang="en-US" dirty="0" smtClean="0"/>
              <a:t> </a:t>
            </a:r>
            <a:r>
              <a:rPr lang="en-US" dirty="0" err="1" smtClean="0"/>
              <a:t>kết</a:t>
            </a:r>
            <a:r>
              <a:rPr lang="en-US" dirty="0" smtClean="0"/>
              <a:t> </a:t>
            </a:r>
            <a:r>
              <a:rPr lang="en-US" dirty="0" err="1" smtClean="0"/>
              <a:t>quả</a:t>
            </a:r>
            <a:endParaRPr lang="en-US" dirty="0"/>
          </a:p>
        </p:txBody>
      </p:sp>
      <p:sp>
        <p:nvSpPr>
          <p:cNvPr id="3" name="Content Placeholder 2"/>
          <p:cNvSpPr>
            <a:spLocks noGrp="1"/>
          </p:cNvSpPr>
          <p:nvPr>
            <p:ph idx="1"/>
          </p:nvPr>
        </p:nvSpPr>
        <p:spPr/>
        <p:txBody>
          <a:bodyPr/>
          <a:lstStyle/>
          <a:p>
            <a:r>
              <a:rPr lang="en-US" dirty="0" err="1" smtClean="0"/>
              <a:t>Viết</a:t>
            </a:r>
            <a:r>
              <a:rPr lang="en-US" dirty="0" smtClean="0"/>
              <a:t> </a:t>
            </a:r>
            <a:r>
              <a:rPr lang="en-US" dirty="0" err="1" smtClean="0"/>
              <a:t>báo</a:t>
            </a:r>
            <a:r>
              <a:rPr lang="en-US" dirty="0" smtClean="0"/>
              <a:t> </a:t>
            </a:r>
            <a:r>
              <a:rPr lang="en-US" dirty="0" err="1" smtClean="0"/>
              <a:t>cáo</a:t>
            </a:r>
            <a:r>
              <a:rPr lang="en-US" dirty="0" smtClean="0"/>
              <a:t> </a:t>
            </a:r>
            <a:r>
              <a:rPr lang="en-US" dirty="0" err="1" smtClean="0"/>
              <a:t>tổng</a:t>
            </a:r>
            <a:r>
              <a:rPr lang="en-US" dirty="0" smtClean="0"/>
              <a:t> </a:t>
            </a:r>
            <a:r>
              <a:rPr lang="en-US" dirty="0" err="1" smtClean="0"/>
              <a:t>kết</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713020232"/>
      </p:ext>
    </p:extLst>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1145</TotalTime>
  <Words>796</Words>
  <Application>Microsoft Office PowerPoint</Application>
  <PresentationFormat>Widescreen</PresentationFormat>
  <Paragraphs>157</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Roboto Mono</vt:lpstr>
      <vt:lpstr>Times New Roman</vt:lpstr>
      <vt:lpstr>Office Theme</vt:lpstr>
      <vt:lpstr>HƯỚNG DẪN CÀI ĐẶT PYTHON VÀ SỬ DỤNG THƯ VIỆN SKLEARN</vt:lpstr>
      <vt:lpstr>NỘI DUNG</vt:lpstr>
      <vt:lpstr>Hướng dẫn cài đặt Python</vt:lpstr>
      <vt:lpstr>PowerPoint Presentation</vt:lpstr>
      <vt:lpstr>PowerPoint Presentation</vt:lpstr>
      <vt:lpstr>PowerPoint Presentation</vt:lpstr>
      <vt:lpstr>PowerPoint Presentation</vt:lpstr>
      <vt:lpstr>https://www.python.org/downloads/windows/</vt:lpstr>
      <vt:lpstr>Có thể cài đặt mặc định hoặc cài đặt chọn lọc</vt:lpstr>
      <vt:lpstr>Lựa chọn các đặc trưng</vt:lpstr>
      <vt:lpstr>Chọn thư mục để cài đặt</vt:lpstr>
      <vt:lpstr>Sau khi cài đặt xong. Khởi động lại máy tính</vt:lpstr>
      <vt:lpstr>Mở cmd hoặc Windows powershell</vt:lpstr>
      <vt:lpstr>Gõ lệnh python</vt:lpstr>
      <vt:lpstr>Hướng dẫn cài đặt Anaconda</vt:lpstr>
      <vt:lpstr>https://www.anaconda.com/products/individual</vt:lpstr>
      <vt:lpstr>PowerPoint Presentation</vt:lpstr>
      <vt:lpstr>PowerPoint Presentation</vt:lpstr>
      <vt:lpstr>PowerPoint Presentation</vt:lpstr>
      <vt:lpstr>PowerPoint Presentation</vt:lpstr>
      <vt:lpstr>Trình soạn thảo code: Spyder</vt:lpstr>
      <vt:lpstr>Jupyter là gì?</vt:lpstr>
      <vt:lpstr>PowerPoint Presentation</vt:lpstr>
      <vt:lpstr>Jupyter lab</vt:lpstr>
      <vt:lpstr>SỬ DỤNG GOOGLE COLAB</vt:lpstr>
      <vt:lpstr>PowerPoint Presentation</vt:lpstr>
      <vt:lpstr>TÌM HIỂU THƯ VIỆN</vt:lpstr>
      <vt:lpstr>PowerPoint Presentation</vt:lpstr>
      <vt:lpstr>Giới thiệu thư viện sklearn</vt:lpstr>
      <vt:lpstr>Thư viện: Numpy, Pandas, Matplotlib</vt:lpstr>
      <vt:lpstr>Sử dụng các thư viện</vt:lpstr>
      <vt:lpstr>https://www.kaggle.com/</vt:lpstr>
      <vt:lpstr>House Prices - Advanced Regression Techniques</vt:lpstr>
      <vt:lpstr>Mô tả bài toán</vt:lpstr>
      <vt:lpstr>DỮ LIỆU</vt:lpstr>
      <vt:lpstr>Xử lý dữ liệu, làm sạch dữ liệu</vt:lpstr>
      <vt:lpstr>Xây dựng mô hình phân tích</vt:lpstr>
      <vt:lpstr>Viết chương trình trên python  Sử dụng thư viện sklearn</vt:lpstr>
      <vt:lpstr>Phân tích kết quả</vt:lpstr>
      <vt:lpstr>Trình bày kết quả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Mathematics CIVE 2602.2</dc:title>
  <dc:creator>TranLong</dc:creator>
  <cp:lastModifiedBy>Admin</cp:lastModifiedBy>
  <cp:revision>168</cp:revision>
  <dcterms:created xsi:type="dcterms:W3CDTF">2006-08-16T00:00:00Z</dcterms:created>
  <dcterms:modified xsi:type="dcterms:W3CDTF">2025-10-07T01:20:02Z</dcterms:modified>
</cp:coreProperties>
</file>