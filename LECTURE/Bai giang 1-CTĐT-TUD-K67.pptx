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98" r:id="rId3"/>
    <p:sldId id="299" r:id="rId4"/>
    <p:sldId id="300" r:id="rId5"/>
    <p:sldId id="336" r:id="rId6"/>
    <p:sldId id="337" r:id="rId7"/>
    <p:sldId id="338" r:id="rId8"/>
    <p:sldId id="339" r:id="rId9"/>
    <p:sldId id="340" r:id="rId10"/>
    <p:sldId id="341" r:id="rId11"/>
    <p:sldId id="301" r:id="rId12"/>
    <p:sldId id="334" r:id="rId13"/>
    <p:sldId id="335" r:id="rId14"/>
    <p:sldId id="302" r:id="rId15"/>
    <p:sldId id="333" r:id="rId16"/>
    <p:sldId id="332" r:id="rId17"/>
    <p:sldId id="331" r:id="rId18"/>
    <p:sldId id="303" r:id="rId19"/>
    <p:sldId id="304" r:id="rId20"/>
    <p:sldId id="305" r:id="rId21"/>
    <p:sldId id="306" r:id="rId22"/>
    <p:sldId id="307" r:id="rId23"/>
    <p:sldId id="308" r:id="rId24"/>
    <p:sldId id="309" r:id="rId25"/>
    <p:sldId id="310" r:id="rId26"/>
    <p:sldId id="311" r:id="rId27"/>
    <p:sldId id="312" r:id="rId28"/>
    <p:sldId id="313" r:id="rId29"/>
    <p:sldId id="314" r:id="rId30"/>
    <p:sldId id="315" r:id="rId31"/>
    <p:sldId id="316" r:id="rId32"/>
    <p:sldId id="32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691"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F:\NAM%20HOC%202021-2022\Nganh%20Toan%20ung%20dung\XDCTND99KHCB_14_7_21GUIPDT\Chuongtrinhdaotao_TTUD_28_6_202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F:\NAM%20HOC%202021-2022\Nganh%20Toan%20ung%20dung\XDCTND99KHCB_14_7_21GUIPDT\Chuongtrinhdaotao_TTUD_28_6_2021.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KHỐI KIẾN THỨC</a:t>
            </a:r>
          </a:p>
        </c:rich>
      </c:tx>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0D03-4873-9DA8-C9CDF411E8EA}"/>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0D03-4873-9DA8-C9CDF411E8EA}"/>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0D03-4873-9DA8-C9CDF411E8EA}"/>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15:layout/>
              </c:ext>
            </c:extLst>
          </c:dLbls>
          <c:cat>
            <c:strRef>
              <c:f>Tongket!$F$15:$F$17</c:f>
              <c:strCache>
                <c:ptCount val="3"/>
                <c:pt idx="0">
                  <c:v>ĐC</c:v>
                </c:pt>
                <c:pt idx="1">
                  <c:v>CS</c:v>
                </c:pt>
                <c:pt idx="2">
                  <c:v>CN</c:v>
                </c:pt>
              </c:strCache>
            </c:strRef>
          </c:cat>
          <c:val>
            <c:numRef>
              <c:f>Tongket!$G$15:$G$17</c:f>
              <c:numCache>
                <c:formatCode>0.00%</c:formatCode>
                <c:ptCount val="3"/>
                <c:pt idx="0">
                  <c:v>0.39285714285714285</c:v>
                </c:pt>
                <c:pt idx="1">
                  <c:v>0.32857142857142857</c:v>
                </c:pt>
                <c:pt idx="2">
                  <c:v>0.27857142857142858</c:v>
                </c:pt>
              </c:numCache>
            </c:numRef>
          </c:val>
          <c:extLst>
            <c:ext xmlns:c16="http://schemas.microsoft.com/office/drawing/2014/chart" uri="{C3380CC4-5D6E-409C-BE32-E72D297353CC}">
              <c16:uniqueId val="{00000006-0D03-4873-9DA8-C9CDF411E8EA}"/>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overlay val="0"/>
      <c:spPr>
        <a:solidFill>
          <a:schemeClr val="lt1">
            <a:lumMod val="95000"/>
            <a:alpha val="39000"/>
          </a:schemeClr>
        </a:solid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MÔN</a:t>
            </a:r>
            <a:r>
              <a:rPr lang="en-US" baseline="0"/>
              <a:t> HỌC</a:t>
            </a:r>
            <a:endParaRPr lang="en-US"/>
          </a:p>
        </c:rich>
      </c:tx>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2B78-4543-8E04-81E18AE92AC7}"/>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2B78-4543-8E04-81E18AE92AC7}"/>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2B78-4543-8E04-81E18AE92AC7}"/>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2B78-4543-8E04-81E18AE92AC7}"/>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15:layout/>
              </c:ext>
            </c:extLst>
          </c:dLbls>
          <c:cat>
            <c:strRef>
              <c:f>Sheet7!$Q$13:$Q$16</c:f>
              <c:strCache>
                <c:ptCount val="4"/>
                <c:pt idx="0">
                  <c:v>KHCB</c:v>
                </c:pt>
                <c:pt idx="1">
                  <c:v>TOAN</c:v>
                </c:pt>
                <c:pt idx="2">
                  <c:v>TIN</c:v>
                </c:pt>
                <c:pt idx="3">
                  <c:v>CN</c:v>
                </c:pt>
              </c:strCache>
            </c:strRef>
          </c:cat>
          <c:val>
            <c:numRef>
              <c:f>Sheet7!$R$13:$R$16</c:f>
              <c:numCache>
                <c:formatCode>0.00%</c:formatCode>
                <c:ptCount val="4"/>
                <c:pt idx="0">
                  <c:v>0.24285714285714285</c:v>
                </c:pt>
                <c:pt idx="1">
                  <c:v>0.35714285714285715</c:v>
                </c:pt>
                <c:pt idx="2">
                  <c:v>0.27142857142857141</c:v>
                </c:pt>
                <c:pt idx="3">
                  <c:v>0.12857142857142856</c:v>
                </c:pt>
              </c:numCache>
            </c:numRef>
          </c:val>
          <c:extLst>
            <c:ext xmlns:c16="http://schemas.microsoft.com/office/drawing/2014/chart" uri="{C3380CC4-5D6E-409C-BE32-E72D297353CC}">
              <c16:uniqueId val="{00000008-2B78-4543-8E04-81E18AE92AC7}"/>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egendEntry>
        <c:idx val="0"/>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legendEntry>
      <c:legendEntry>
        <c:idx val="3"/>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legendEntry>
      <c:layout>
        <c:manualLayout>
          <c:xMode val="edge"/>
          <c:yMode val="edge"/>
          <c:x val="0.84361130994989275"/>
          <c:y val="0.40105166568971073"/>
          <c:w val="0.1434016770630944"/>
          <c:h val="0.23711108553030594"/>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48CE1B-89DF-4451-914C-8EAA83904CE5}" type="datetimeFigureOut">
              <a:rPr lang="vi-VN" smtClean="0"/>
              <a:pPr/>
              <a:t>06/09/2026</a:t>
            </a:fld>
            <a:endParaRPr lang="vi-V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F09D81-1F8F-4D0C-92B0-DA0D3EC8E914}" type="slidenum">
              <a:rPr lang="vi-VN" smtClean="0"/>
              <a:pPr/>
              <a:t>‹#›</a:t>
            </a:fld>
            <a:endParaRPr lang="vi-VN"/>
          </a:p>
        </p:txBody>
      </p:sp>
    </p:spTree>
    <p:extLst>
      <p:ext uri="{BB962C8B-B14F-4D97-AF65-F5344CB8AC3E}">
        <p14:creationId xmlns:p14="http://schemas.microsoft.com/office/powerpoint/2010/main" val="342385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2441" y="2057401"/>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2536841" y="3806631"/>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1571641" y="6356351"/>
            <a:ext cx="2844800" cy="365125"/>
          </a:xfrm>
        </p:spPr>
        <p:txBody>
          <a:bodyPr/>
          <a:lstStyle/>
          <a:p>
            <a:endParaRPr lang="en-US" dirty="0"/>
          </a:p>
        </p:txBody>
      </p:sp>
      <p:sp>
        <p:nvSpPr>
          <p:cNvPr id="5" name="Footer Placeholder 4"/>
          <p:cNvSpPr>
            <a:spLocks noGrp="1"/>
          </p:cNvSpPr>
          <p:nvPr>
            <p:ph type="ftr" sz="quarter" idx="11"/>
          </p:nvPr>
        </p:nvSpPr>
        <p:spPr>
          <a:xfrm>
            <a:off x="4734331" y="6356351"/>
            <a:ext cx="3860800" cy="365125"/>
          </a:xfrm>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9266" y="274638"/>
            <a:ext cx="10634134" cy="1143000"/>
          </a:xfrm>
        </p:spPr>
        <p:txBody>
          <a:bodyPr/>
          <a:lstStyle/>
          <a:p>
            <a:r>
              <a:rPr lang="en-US" smtClean="0"/>
              <a:t>Click to edit Master title style</a:t>
            </a:r>
            <a:endParaRPr lang="en-US"/>
          </a:p>
        </p:txBody>
      </p:sp>
      <p:sp>
        <p:nvSpPr>
          <p:cNvPr id="3" name="Content Placeholder 2"/>
          <p:cNvSpPr>
            <a:spLocks noGrp="1"/>
          </p:cNvSpPr>
          <p:nvPr>
            <p:ph idx="1"/>
          </p:nvPr>
        </p:nvSpPr>
        <p:spPr>
          <a:xfrm>
            <a:off x="1329266" y="1600201"/>
            <a:ext cx="10634133"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4337049" y="6356351"/>
            <a:ext cx="3860800" cy="365125"/>
          </a:xfrm>
        </p:spPr>
        <p:txBody>
          <a:bodyPr/>
          <a:lstStyle/>
          <a:p>
            <a:endParaRPr lang="en-US" dirty="0"/>
          </a:p>
        </p:txBody>
      </p:sp>
      <p:sp>
        <p:nvSpPr>
          <p:cNvPr id="6" name="Slide Number Placeholder 5"/>
          <p:cNvSpPr>
            <a:spLocks noGrp="1"/>
          </p:cNvSpPr>
          <p:nvPr>
            <p:ph type="sldNum" sz="quarter" idx="12"/>
          </p:nvPr>
        </p:nvSpPr>
        <p:spPr>
          <a:xfrm>
            <a:off x="9080499" y="6356351"/>
            <a:ext cx="2844800" cy="365125"/>
          </a:xfrm>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Rectangle 10"/>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5470" y="549276"/>
            <a:ext cx="842433" cy="63182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l="3535" t="3275" r="4104" b="4198"/>
          <a:stretch/>
        </p:blipFill>
        <p:spPr>
          <a:xfrm rot="16200000">
            <a:off x="305108" y="5527576"/>
            <a:ext cx="1403155" cy="749692"/>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Rectangle 6"/>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5470" y="549276"/>
            <a:ext cx="842433" cy="631825"/>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3535" t="3275" r="4104" b="4198"/>
          <a:stretch/>
        </p:blipFill>
        <p:spPr>
          <a:xfrm rot="16200000">
            <a:off x="305108" y="5527576"/>
            <a:ext cx="1403155" cy="749692"/>
          </a:xfrm>
          <a:prstGeom prst="rect">
            <a:avLst/>
          </a:prstGeom>
        </p:spPr>
      </p:pic>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Rectangle 4"/>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Rectangle 5"/>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3F4466-4275-4567-A820-1B91279C7BDE}" type="datetime1">
              <a:rPr lang="en-US" smtClean="0"/>
              <a:pPr/>
              <a:t>6/9/2026</a:t>
            </a:fld>
            <a:endParaRPr lang="en-US"/>
          </a:p>
        </p:txBody>
      </p:sp>
      <p:sp>
        <p:nvSpPr>
          <p:cNvPr id="5" name="Footer Placeholder 4"/>
          <p:cNvSpPr>
            <a:spLocks noGrp="1"/>
          </p:cNvSpPr>
          <p:nvPr>
            <p:ph type="ftr" sz="quarter" idx="11"/>
          </p:nvPr>
        </p:nvSpPr>
        <p:spPr/>
        <p:txBody>
          <a:bodyPr/>
          <a:lstStyle/>
          <a:p>
            <a:r>
              <a:rPr lang="en-US" smtClean="0"/>
              <a:t>CIVE 2602.2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A5A56F-200E-4368-A691-1AE2D27A4578}" type="datetime1">
              <a:rPr lang="en-US" smtClean="0"/>
              <a:pPr/>
              <a:t>6/9/2026</a:t>
            </a:fld>
            <a:endParaRPr lang="en-US"/>
          </a:p>
        </p:txBody>
      </p:sp>
      <p:sp>
        <p:nvSpPr>
          <p:cNvPr id="5" name="Footer Placeholder 4"/>
          <p:cNvSpPr>
            <a:spLocks noGrp="1"/>
          </p:cNvSpPr>
          <p:nvPr>
            <p:ph type="ftr" sz="quarter" idx="11"/>
          </p:nvPr>
        </p:nvSpPr>
        <p:spPr/>
        <p:txBody>
          <a:bodyPr/>
          <a:lstStyle/>
          <a:p>
            <a:r>
              <a:rPr lang="en-US" smtClean="0"/>
              <a:t>CIVE 2602.2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27759" y="274638"/>
            <a:ext cx="10835641"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127759" y="1600201"/>
            <a:ext cx="10835641"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157000" y="6356351"/>
            <a:ext cx="229739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848A39-50DC-42FB-A368-12ED3EE12084}" type="datetime1">
              <a:rPr lang="en-US" smtClean="0"/>
              <a:pPr/>
              <a:t>6/9/2026</a:t>
            </a:fld>
            <a:endParaRPr lang="en-US"/>
          </a:p>
        </p:txBody>
      </p:sp>
      <p:sp>
        <p:nvSpPr>
          <p:cNvPr id="5" name="Footer Placeholder 4"/>
          <p:cNvSpPr>
            <a:spLocks noGrp="1"/>
          </p:cNvSpPr>
          <p:nvPr>
            <p:ph type="ftr" sz="quarter" idx="3"/>
          </p:nvPr>
        </p:nvSpPr>
        <p:spPr>
          <a:xfrm>
            <a:off x="4343400" y="636597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CIVE 2602.2</a:t>
            </a:r>
            <a:endParaRPr lang="en-US"/>
          </a:p>
        </p:txBody>
      </p:sp>
      <p:sp>
        <p:nvSpPr>
          <p:cNvPr id="6" name="Slide Number Placeholder 5"/>
          <p:cNvSpPr>
            <a:spLocks noGrp="1"/>
          </p:cNvSpPr>
          <p:nvPr>
            <p:ph type="sldNum" sz="quarter" idx="4"/>
          </p:nvPr>
        </p:nvSpPr>
        <p:spPr>
          <a:xfrm>
            <a:off x="90932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Rectangle 6"/>
          <p:cNvSpPr/>
          <p:nvPr userDrawn="1"/>
        </p:nvSpPr>
        <p:spPr>
          <a:xfrm>
            <a:off x="1" y="0"/>
            <a:ext cx="26799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1" y="368300"/>
            <a:ext cx="268000" cy="203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1" y="1181100"/>
            <a:ext cx="268000" cy="2032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0070C0"/>
              </a:solidFill>
            </a:endParaRPr>
          </a:p>
        </p:txBody>
      </p:sp>
      <p:sp>
        <p:nvSpPr>
          <p:cNvPr id="10" name="Rectangle 9"/>
          <p:cNvSpPr/>
          <p:nvPr userDrawn="1"/>
        </p:nvSpPr>
        <p:spPr>
          <a:xfrm>
            <a:off x="1" y="774700"/>
            <a:ext cx="268000" cy="2032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990600"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2" name="Picture 1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305483" y="549275"/>
            <a:ext cx="608917" cy="631825"/>
          </a:xfrm>
          <a:prstGeom prst="rect">
            <a:avLst/>
          </a:prstGeom>
        </p:spPr>
      </p:pic>
      <p:pic>
        <p:nvPicPr>
          <p:cNvPr id="14" name="Picture 13"/>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269781" y="5635318"/>
            <a:ext cx="719040" cy="722600"/>
          </a:xfrm>
          <a:prstGeom prst="rect">
            <a:avLst/>
          </a:prstGeom>
        </p:spPr>
      </p:pic>
      <p:sp>
        <p:nvSpPr>
          <p:cNvPr id="13" name="TextBox 12"/>
          <p:cNvSpPr txBox="1"/>
          <p:nvPr userDrawn="1"/>
        </p:nvSpPr>
        <p:spPr>
          <a:xfrm rot="16200000">
            <a:off x="-1563892" y="3136612"/>
            <a:ext cx="4347665" cy="584775"/>
          </a:xfrm>
          <a:prstGeom prst="rect">
            <a:avLst/>
          </a:prstGeom>
          <a:noFill/>
        </p:spPr>
        <p:txBody>
          <a:bodyPr wrap="none" rtlCol="0">
            <a:spAutoFit/>
          </a:bodyPr>
          <a:lstStyle/>
          <a:p>
            <a:r>
              <a:rPr lang="en-US" sz="3200" b="1" dirty="0" smtClean="0">
                <a:solidFill>
                  <a:srgbClr val="000099"/>
                </a:solidFill>
                <a:latin typeface="Times New Roman" panose="02020603050405020304" pitchFamily="18" charset="0"/>
                <a:cs typeface="Times New Roman" panose="02020603050405020304" pitchFamily="18" charset="0"/>
              </a:rPr>
              <a:t>S</a:t>
            </a:r>
            <a:r>
              <a:rPr lang="en-US" sz="2400" b="0" dirty="0" smtClean="0">
                <a:solidFill>
                  <a:srgbClr val="002060"/>
                </a:solidFill>
                <a:latin typeface="Times New Roman" panose="02020603050405020304" pitchFamily="18" charset="0"/>
                <a:cs typeface="Times New Roman" panose="02020603050405020304" pitchFamily="18" charset="0"/>
              </a:rPr>
              <a:t>chool</a:t>
            </a:r>
            <a:r>
              <a:rPr lang="en-US" sz="2400" b="0" baseline="0" dirty="0" smtClean="0">
                <a:solidFill>
                  <a:srgbClr val="002060"/>
                </a:solidFill>
                <a:latin typeface="Times New Roman" panose="02020603050405020304" pitchFamily="18" charset="0"/>
                <a:cs typeface="Times New Roman" panose="02020603050405020304" pitchFamily="18" charset="0"/>
              </a:rPr>
              <a:t> of </a:t>
            </a:r>
            <a:r>
              <a:rPr lang="en-US" sz="3200" b="1" baseline="0" dirty="0" smtClean="0">
                <a:solidFill>
                  <a:srgbClr val="FFC000"/>
                </a:solidFill>
                <a:latin typeface="Times New Roman" panose="02020603050405020304" pitchFamily="18" charset="0"/>
                <a:cs typeface="Times New Roman" panose="02020603050405020304" pitchFamily="18" charset="0"/>
              </a:rPr>
              <a:t>A</a:t>
            </a:r>
            <a:r>
              <a:rPr lang="en-US" sz="2400" b="0" baseline="0" dirty="0" smtClean="0">
                <a:solidFill>
                  <a:srgbClr val="002060"/>
                </a:solidFill>
                <a:latin typeface="Times New Roman" panose="02020603050405020304" pitchFamily="18" charset="0"/>
                <a:cs typeface="Times New Roman" panose="02020603050405020304" pitchFamily="18" charset="0"/>
              </a:rPr>
              <a:t>pplied </a:t>
            </a:r>
            <a:r>
              <a:rPr lang="en-US" sz="3200" b="1" baseline="0" dirty="0" smtClean="0">
                <a:solidFill>
                  <a:schemeClr val="bg1">
                    <a:lumMod val="65000"/>
                  </a:schemeClr>
                </a:solidFill>
                <a:latin typeface="Times New Roman" panose="02020603050405020304" pitchFamily="18" charset="0"/>
                <a:cs typeface="Times New Roman" panose="02020603050405020304" pitchFamily="18" charset="0"/>
              </a:rPr>
              <a:t>M</a:t>
            </a:r>
            <a:r>
              <a:rPr lang="en-US" sz="2400" b="0" baseline="0" dirty="0" smtClean="0">
                <a:solidFill>
                  <a:srgbClr val="002060"/>
                </a:solidFill>
                <a:latin typeface="Times New Roman" panose="02020603050405020304" pitchFamily="18" charset="0"/>
                <a:cs typeface="Times New Roman" panose="02020603050405020304" pitchFamily="18" charset="0"/>
              </a:rPr>
              <a:t>athematics</a:t>
            </a:r>
            <a:endParaRPr lang="en-US" sz="2400" b="0" dirty="0">
              <a:solidFill>
                <a:srgbClr val="002060"/>
              </a:solidFill>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2441" y="2057401"/>
            <a:ext cx="10363200" cy="1066799"/>
          </a:xfrm>
        </p:spPr>
        <p:txBody>
          <a:bodyPr>
            <a:normAutofit fontScale="90000"/>
          </a:bodyPr>
          <a:lstStyle/>
          <a:p>
            <a:r>
              <a:rPr lang="en-US" sz="6000" b="1" dirty="0" err="1" smtClean="0">
                <a:solidFill>
                  <a:srgbClr val="7030A0"/>
                </a:solidFill>
              </a:rPr>
              <a:t>Chương</a:t>
            </a:r>
            <a:r>
              <a:rPr lang="en-US" sz="6000" b="1" dirty="0" smtClean="0">
                <a:solidFill>
                  <a:srgbClr val="7030A0"/>
                </a:solidFill>
              </a:rPr>
              <a:t> 1: </a:t>
            </a:r>
            <a:br>
              <a:rPr lang="en-US" sz="6000" b="1" dirty="0" smtClean="0">
                <a:solidFill>
                  <a:srgbClr val="7030A0"/>
                </a:solidFill>
              </a:rPr>
            </a:br>
            <a:r>
              <a:rPr lang="en-US" sz="6000" b="1" dirty="0" err="1" smtClean="0">
                <a:solidFill>
                  <a:srgbClr val="0000CC"/>
                </a:solidFill>
              </a:rPr>
              <a:t>Giới</a:t>
            </a:r>
            <a:r>
              <a:rPr lang="en-US" sz="6000" b="1" dirty="0" smtClean="0">
                <a:solidFill>
                  <a:srgbClr val="0000CC"/>
                </a:solidFill>
              </a:rPr>
              <a:t> </a:t>
            </a:r>
            <a:r>
              <a:rPr lang="en-US" sz="6000" b="1" dirty="0" err="1">
                <a:solidFill>
                  <a:srgbClr val="0000CC"/>
                </a:solidFill>
              </a:rPr>
              <a:t>thiệu</a:t>
            </a:r>
            <a:r>
              <a:rPr lang="en-US" sz="6000" b="1" dirty="0">
                <a:solidFill>
                  <a:srgbClr val="0000CC"/>
                </a:solidFill>
              </a:rPr>
              <a:t> chương trình </a:t>
            </a:r>
            <a:r>
              <a:rPr lang="en-US" sz="6000" b="1" dirty="0" err="1">
                <a:solidFill>
                  <a:srgbClr val="0000CC"/>
                </a:solidFill>
              </a:rPr>
              <a:t>đào</a:t>
            </a:r>
            <a:r>
              <a:rPr lang="en-US" sz="6000" b="1" dirty="0">
                <a:solidFill>
                  <a:srgbClr val="0000CC"/>
                </a:solidFill>
              </a:rPr>
              <a:t> </a:t>
            </a:r>
            <a:r>
              <a:rPr lang="en-US" sz="6000" b="1" dirty="0" err="1" smtClean="0">
                <a:solidFill>
                  <a:srgbClr val="0000CC"/>
                </a:solidFill>
              </a:rPr>
              <a:t>tạo</a:t>
            </a:r>
            <a:r>
              <a:rPr lang="en-US" sz="6000" b="1" dirty="0" smtClean="0">
                <a:solidFill>
                  <a:srgbClr val="0000CC"/>
                </a:solidFill>
              </a:rPr>
              <a:t/>
            </a:r>
            <a:br>
              <a:rPr lang="en-US" sz="6000" b="1" dirty="0" smtClean="0">
                <a:solidFill>
                  <a:srgbClr val="0000CC"/>
                </a:solidFill>
              </a:rPr>
            </a:br>
            <a:r>
              <a:rPr lang="en-US" sz="6000" b="1" dirty="0" err="1" smtClean="0">
                <a:solidFill>
                  <a:srgbClr val="0000CC"/>
                </a:solidFill>
              </a:rPr>
              <a:t>Ngành</a:t>
            </a:r>
            <a:r>
              <a:rPr lang="en-US" sz="6000" b="1" dirty="0" smtClean="0">
                <a:solidFill>
                  <a:srgbClr val="0000CC"/>
                </a:solidFill>
              </a:rPr>
              <a:t> </a:t>
            </a:r>
            <a:r>
              <a:rPr lang="en-US" sz="6000" b="1" dirty="0" err="1" smtClean="0">
                <a:solidFill>
                  <a:srgbClr val="0000CC"/>
                </a:solidFill>
              </a:rPr>
              <a:t>Toán</a:t>
            </a:r>
            <a:r>
              <a:rPr lang="en-US" sz="6000" b="1" dirty="0" smtClean="0">
                <a:solidFill>
                  <a:srgbClr val="0000CC"/>
                </a:solidFill>
              </a:rPr>
              <a:t> </a:t>
            </a:r>
            <a:r>
              <a:rPr lang="en-US" sz="6000" b="1" dirty="0" err="1" smtClean="0">
                <a:solidFill>
                  <a:srgbClr val="0000CC"/>
                </a:solidFill>
              </a:rPr>
              <a:t>ứng</a:t>
            </a:r>
            <a:r>
              <a:rPr lang="en-US" sz="6000" b="1" dirty="0" smtClean="0">
                <a:solidFill>
                  <a:srgbClr val="0000CC"/>
                </a:solidFill>
              </a:rPr>
              <a:t> </a:t>
            </a:r>
            <a:r>
              <a:rPr lang="en-US" sz="6000" b="1" dirty="0" err="1" smtClean="0">
                <a:solidFill>
                  <a:srgbClr val="0000CC"/>
                </a:solidFill>
              </a:rPr>
              <a:t>dụng</a:t>
            </a:r>
            <a:endParaRPr lang="vi-VN" sz="6000" b="1" dirty="0">
              <a:solidFill>
                <a:srgbClr val="0000CC"/>
              </a:solidFill>
            </a:endParaRPr>
          </a:p>
        </p:txBody>
      </p:sp>
      <p:sp>
        <p:nvSpPr>
          <p:cNvPr id="3" name="Subtitle 2"/>
          <p:cNvSpPr>
            <a:spLocks noGrp="1"/>
          </p:cNvSpPr>
          <p:nvPr>
            <p:ph type="subTitle" idx="1"/>
          </p:nvPr>
        </p:nvSpPr>
        <p:spPr>
          <a:xfrm>
            <a:off x="2590800" y="3886200"/>
            <a:ext cx="7772400" cy="1752600"/>
          </a:xfrm>
        </p:spPr>
        <p:txBody>
          <a:bodyPr/>
          <a:lstStyle/>
          <a:p>
            <a:r>
              <a:rPr lang="en-US" dirty="0" smtClean="0">
                <a:solidFill>
                  <a:srgbClr val="0000CC"/>
                </a:solidFill>
              </a:rPr>
              <a:t>Trần Văn Long</a:t>
            </a:r>
          </a:p>
          <a:p>
            <a:r>
              <a:rPr lang="en-US" dirty="0" smtClean="0">
                <a:solidFill>
                  <a:srgbClr val="0000CC"/>
                </a:solidFill>
              </a:rPr>
              <a:t>TRƯỜNG ĐẠI HỌC GIAO THÔNG VẬN TẢI</a:t>
            </a:r>
            <a:endParaRPr lang="vi-VN" dirty="0">
              <a:solidFill>
                <a:srgbClr val="0000CC"/>
              </a:solidFill>
            </a:endParaRPr>
          </a:p>
        </p:txBody>
      </p:sp>
      <p:sp>
        <p:nvSpPr>
          <p:cNvPr id="4" name="Date Placeholder 3"/>
          <p:cNvSpPr>
            <a:spLocks noGrp="1"/>
          </p:cNvSpPr>
          <p:nvPr>
            <p:ph type="dt" sz="half" idx="10"/>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NỘI DUNG</a:t>
            </a:r>
          </a:p>
        </p:txBody>
      </p:sp>
      <p:sp>
        <p:nvSpPr>
          <p:cNvPr id="3" name="Content Placeholder 2"/>
          <p:cNvSpPr>
            <a:spLocks noGrp="1"/>
          </p:cNvSpPr>
          <p:nvPr>
            <p:ph idx="1"/>
          </p:nvPr>
        </p:nvSpPr>
        <p:spPr/>
        <p:txBody>
          <a:bodyPr>
            <a:normAutofit/>
          </a:bodyPr>
          <a:lstStyle/>
          <a:p>
            <a:r>
              <a:rPr lang="en-US" sz="4000" dirty="0" err="1"/>
              <a:t>Tổng</a:t>
            </a:r>
            <a:r>
              <a:rPr lang="en-US" sz="4000" dirty="0"/>
              <a:t> </a:t>
            </a:r>
            <a:r>
              <a:rPr lang="en-US" sz="4000" dirty="0" err="1"/>
              <a:t>quan</a:t>
            </a:r>
            <a:r>
              <a:rPr lang="en-US" sz="4000" dirty="0"/>
              <a:t> chương trình đào </a:t>
            </a:r>
            <a:r>
              <a:rPr lang="en-US" sz="4000" dirty="0" smtClean="0"/>
              <a:t>tạo</a:t>
            </a:r>
          </a:p>
          <a:p>
            <a:r>
              <a:rPr lang="en-US" sz="4000" dirty="0" err="1"/>
              <a:t>Nội</a:t>
            </a:r>
            <a:r>
              <a:rPr lang="en-US" sz="4000" dirty="0"/>
              <a:t> dung </a:t>
            </a:r>
            <a:r>
              <a:rPr lang="en-US" sz="4000" dirty="0" err="1"/>
              <a:t>khung</a:t>
            </a:r>
            <a:r>
              <a:rPr lang="en-US" sz="4000" dirty="0"/>
              <a:t> chương trình đào </a:t>
            </a:r>
            <a:r>
              <a:rPr lang="en-US" sz="4000" dirty="0" smtClean="0"/>
              <a:t>tạo</a:t>
            </a:r>
          </a:p>
          <a:p>
            <a:r>
              <a:rPr lang="en-US" sz="4000" dirty="0" err="1"/>
              <a:t>Chuẩn</a:t>
            </a:r>
            <a:r>
              <a:rPr lang="en-US" sz="4000" dirty="0"/>
              <a:t> </a:t>
            </a:r>
            <a:r>
              <a:rPr lang="en-US" sz="4000" dirty="0" err="1"/>
              <a:t>đầu</a:t>
            </a:r>
            <a:r>
              <a:rPr lang="en-US" sz="4000" dirty="0"/>
              <a:t> </a:t>
            </a:r>
            <a:r>
              <a:rPr lang="en-US" sz="4000" dirty="0" err="1"/>
              <a:t>ra</a:t>
            </a:r>
            <a:r>
              <a:rPr lang="en-US" sz="4000" dirty="0"/>
              <a:t> </a:t>
            </a:r>
            <a:r>
              <a:rPr lang="en-US" sz="4000" dirty="0" err="1"/>
              <a:t>ngành</a:t>
            </a:r>
            <a:r>
              <a:rPr lang="en-US" sz="4000" dirty="0"/>
              <a:t> </a:t>
            </a:r>
            <a:r>
              <a:rPr lang="en-US" sz="4000" dirty="0" err="1"/>
              <a:t>toán</a:t>
            </a:r>
            <a:r>
              <a:rPr lang="en-US" sz="4000" dirty="0"/>
              <a:t> </a:t>
            </a:r>
            <a:r>
              <a:rPr lang="en-US" sz="4000" dirty="0" err="1"/>
              <a:t>ứng</a:t>
            </a:r>
            <a:r>
              <a:rPr lang="en-US" sz="4000" dirty="0"/>
              <a:t> </a:t>
            </a:r>
            <a:r>
              <a:rPr lang="en-US" sz="4000" dirty="0" err="1"/>
              <a:t>dụng</a:t>
            </a:r>
            <a:endParaRPr lang="en-US" sz="4000"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3861898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a:t>
            </a:r>
            <a:r>
              <a:rPr lang="en-US" dirty="0" err="1"/>
              <a:t>Tổng</a:t>
            </a:r>
            <a:r>
              <a:rPr lang="en-US" dirty="0"/>
              <a:t> </a:t>
            </a:r>
            <a:r>
              <a:rPr lang="en-US" dirty="0" err="1"/>
              <a:t>quan</a:t>
            </a:r>
            <a:r>
              <a:rPr lang="en-US" dirty="0"/>
              <a:t> chương trình đào tạo</a:t>
            </a:r>
          </a:p>
        </p:txBody>
      </p:sp>
      <p:sp>
        <p:nvSpPr>
          <p:cNvPr id="3" name="Content Placeholder 2"/>
          <p:cNvSpPr>
            <a:spLocks noGrp="1"/>
          </p:cNvSpPr>
          <p:nvPr>
            <p:ph idx="1"/>
          </p:nvPr>
        </p:nvSpPr>
        <p:spPr/>
        <p:txBody>
          <a:bodyPr/>
          <a:lstStyle/>
          <a:p>
            <a:r>
              <a:rPr lang="en-US" dirty="0" smtClean="0"/>
              <a:t>NGÀNH: </a:t>
            </a:r>
            <a:r>
              <a:rPr lang="en-US" b="1" dirty="0" smtClean="0"/>
              <a:t>TOÁN ỨNG DỤNG</a:t>
            </a:r>
          </a:p>
          <a:p>
            <a:r>
              <a:rPr lang="en-US" dirty="0" smtClean="0"/>
              <a:t>CHUYÊN NGÀNH: </a:t>
            </a:r>
            <a:r>
              <a:rPr lang="en-US" b="1" dirty="0" smtClean="0"/>
              <a:t>TOÁN TIN ỨNG DỤNG</a:t>
            </a:r>
          </a:p>
          <a:p>
            <a:r>
              <a:rPr lang="en-US" dirty="0" smtClean="0"/>
              <a:t>MÃ NGÀNH: </a:t>
            </a:r>
            <a:r>
              <a:rPr lang="vi-VN" b="1" dirty="0" smtClean="0"/>
              <a:t>7.46.01.12</a:t>
            </a:r>
            <a:endParaRPr lang="en-US" b="1" dirty="0" smtClean="0"/>
          </a:p>
          <a:p>
            <a:r>
              <a:rPr lang="en-US" dirty="0" smtClean="0"/>
              <a:t>TRÌNH ĐỘ ĐẠI HỌC: </a:t>
            </a:r>
            <a:r>
              <a:rPr lang="vi-VN" b="1" dirty="0"/>
              <a:t>Đại học chính </a:t>
            </a:r>
            <a:r>
              <a:rPr lang="vi-VN" b="1" dirty="0" smtClean="0"/>
              <a:t>quy</a:t>
            </a:r>
            <a:endParaRPr lang="en-US" b="1" dirty="0" smtClean="0"/>
          </a:p>
          <a:p>
            <a:r>
              <a:rPr lang="en-US" dirty="0" smtClean="0"/>
              <a:t>THỜI GIAN ĐÀO TẠO</a:t>
            </a:r>
            <a:r>
              <a:rPr lang="en-US" b="1" dirty="0" smtClean="0"/>
              <a:t>: 4 </a:t>
            </a:r>
            <a:r>
              <a:rPr lang="en-US" b="1" dirty="0" err="1" smtClean="0"/>
              <a:t>năm</a:t>
            </a:r>
            <a:endParaRPr lang="en-US" b="1"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2533500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t>Mục tiêu chương trình đào tạo</a:t>
            </a:r>
            <a:endParaRPr lang="en-US" dirty="0"/>
          </a:p>
        </p:txBody>
      </p:sp>
      <p:sp>
        <p:nvSpPr>
          <p:cNvPr id="3" name="Content Placeholder 2"/>
          <p:cNvSpPr>
            <a:spLocks noGrp="1"/>
          </p:cNvSpPr>
          <p:nvPr>
            <p:ph idx="1"/>
          </p:nvPr>
        </p:nvSpPr>
        <p:spPr/>
        <p:txBody>
          <a:bodyPr/>
          <a:lstStyle/>
          <a:p>
            <a:r>
              <a:rPr lang="vi-VN" dirty="0"/>
              <a:t>Chương trình đào tạo đại học ngành Toán ứng dụng nhằm đào tạo các cử nhân có </a:t>
            </a:r>
            <a:endParaRPr lang="en-US" dirty="0" smtClean="0"/>
          </a:p>
          <a:p>
            <a:pPr lvl="1"/>
            <a:r>
              <a:rPr lang="vi-VN" dirty="0" smtClean="0"/>
              <a:t>năng </a:t>
            </a:r>
            <a:r>
              <a:rPr lang="vi-VN" dirty="0"/>
              <a:t>lực chuyên môn, </a:t>
            </a:r>
            <a:endParaRPr lang="en-US" dirty="0" smtClean="0"/>
          </a:p>
          <a:p>
            <a:pPr lvl="1"/>
            <a:r>
              <a:rPr lang="vi-VN" dirty="0" smtClean="0"/>
              <a:t>phẩm </a:t>
            </a:r>
            <a:r>
              <a:rPr lang="vi-VN" dirty="0"/>
              <a:t>chất chính trị vững vàng, </a:t>
            </a:r>
            <a:endParaRPr lang="en-US" dirty="0" smtClean="0"/>
          </a:p>
          <a:p>
            <a:pPr lvl="1"/>
            <a:r>
              <a:rPr lang="vi-VN" dirty="0" smtClean="0"/>
              <a:t>đạo </a:t>
            </a:r>
            <a:r>
              <a:rPr lang="vi-VN" dirty="0"/>
              <a:t>đức và sức khỏe tốt, </a:t>
            </a:r>
            <a:endParaRPr lang="en-US" dirty="0" smtClean="0"/>
          </a:p>
          <a:p>
            <a:pPr lvl="1"/>
            <a:r>
              <a:rPr lang="vi-VN" dirty="0" smtClean="0"/>
              <a:t>có </a:t>
            </a:r>
            <a:r>
              <a:rPr lang="vi-VN" dirty="0"/>
              <a:t>tri thức và năng lực hoạt động nghề nghiệp với trình độ chuyên môn, </a:t>
            </a:r>
            <a:endParaRPr lang="en-US" dirty="0" smtClean="0"/>
          </a:p>
          <a:p>
            <a:pPr lvl="1"/>
            <a:r>
              <a:rPr lang="vi-VN" dirty="0" smtClean="0"/>
              <a:t>phù </a:t>
            </a:r>
            <a:r>
              <a:rPr lang="vi-VN" dirty="0"/>
              <a:t>hợp với yêu cầu xã hội và hội nhập quốc tế. </a:t>
            </a:r>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321592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MỤC TIÊU CỤ THỂ</a:t>
            </a:r>
            <a:endParaRPr lang="en-US" dirty="0"/>
          </a:p>
        </p:txBody>
      </p:sp>
      <p:sp>
        <p:nvSpPr>
          <p:cNvPr id="3" name="Content Placeholder 2"/>
          <p:cNvSpPr>
            <a:spLocks noGrp="1"/>
          </p:cNvSpPr>
          <p:nvPr>
            <p:ph idx="1"/>
          </p:nvPr>
        </p:nvSpPr>
        <p:spPr/>
        <p:txBody>
          <a:bodyPr/>
          <a:lstStyle/>
          <a:p>
            <a:pPr lvl="0"/>
            <a:r>
              <a:rPr lang="en-US" dirty="0"/>
              <a:t>MT1: </a:t>
            </a:r>
            <a:r>
              <a:rPr lang="en-US" dirty="0" err="1"/>
              <a:t>Có</a:t>
            </a:r>
            <a:r>
              <a:rPr lang="en-US" dirty="0"/>
              <a:t> </a:t>
            </a:r>
            <a:r>
              <a:rPr lang="en-US" dirty="0" err="1"/>
              <a:t>kiến</a:t>
            </a:r>
            <a:r>
              <a:rPr lang="en-US" dirty="0"/>
              <a:t> </a:t>
            </a:r>
            <a:r>
              <a:rPr lang="en-US" dirty="0" err="1"/>
              <a:t>thức</a:t>
            </a:r>
            <a:r>
              <a:rPr lang="en-US" dirty="0"/>
              <a:t> </a:t>
            </a:r>
            <a:r>
              <a:rPr lang="en-US" dirty="0" err="1"/>
              <a:t>cơ</a:t>
            </a:r>
            <a:r>
              <a:rPr lang="en-US" dirty="0"/>
              <a:t> </a:t>
            </a:r>
            <a:r>
              <a:rPr lang="en-US" dirty="0" err="1"/>
              <a:t>bản</a:t>
            </a:r>
            <a:r>
              <a:rPr lang="en-US" dirty="0"/>
              <a:t> </a:t>
            </a:r>
            <a:r>
              <a:rPr lang="en-US" dirty="0" err="1"/>
              <a:t>và</a:t>
            </a:r>
            <a:r>
              <a:rPr lang="en-US" dirty="0"/>
              <a:t> </a:t>
            </a:r>
            <a:r>
              <a:rPr lang="en-US" dirty="0" err="1"/>
              <a:t>chuyên</a:t>
            </a:r>
            <a:r>
              <a:rPr lang="en-US" dirty="0"/>
              <a:t> </a:t>
            </a:r>
            <a:r>
              <a:rPr lang="en-US" dirty="0" err="1"/>
              <a:t>sâu</a:t>
            </a:r>
            <a:r>
              <a:rPr lang="en-US" dirty="0"/>
              <a:t> </a:t>
            </a:r>
            <a:r>
              <a:rPr lang="en-US" dirty="0" err="1"/>
              <a:t>về</a:t>
            </a:r>
            <a:r>
              <a:rPr lang="en-US" dirty="0"/>
              <a:t> Toán học, </a:t>
            </a:r>
            <a:r>
              <a:rPr lang="en-US" dirty="0" err="1"/>
              <a:t>bao</a:t>
            </a:r>
            <a:r>
              <a:rPr lang="en-US" dirty="0"/>
              <a:t> </a:t>
            </a:r>
            <a:r>
              <a:rPr lang="en-US" dirty="0" err="1"/>
              <a:t>gồm</a:t>
            </a:r>
            <a:r>
              <a:rPr lang="en-US" dirty="0"/>
              <a:t>: </a:t>
            </a:r>
            <a:r>
              <a:rPr lang="en-US" dirty="0" err="1"/>
              <a:t>Giải</a:t>
            </a:r>
            <a:r>
              <a:rPr lang="en-US" dirty="0"/>
              <a:t> </a:t>
            </a:r>
            <a:r>
              <a:rPr lang="en-US" dirty="0" err="1"/>
              <a:t>tích</a:t>
            </a:r>
            <a:r>
              <a:rPr lang="en-US" dirty="0"/>
              <a:t>, </a:t>
            </a:r>
            <a:r>
              <a:rPr lang="en-US" dirty="0" err="1"/>
              <a:t>Đại</a:t>
            </a:r>
            <a:r>
              <a:rPr lang="en-US" dirty="0"/>
              <a:t> </a:t>
            </a:r>
            <a:r>
              <a:rPr lang="en-US" dirty="0" err="1"/>
              <a:t>số</a:t>
            </a:r>
            <a:r>
              <a:rPr lang="en-US" dirty="0"/>
              <a:t>, </a:t>
            </a:r>
            <a:r>
              <a:rPr lang="en-US" dirty="0" err="1"/>
              <a:t>Xác</a:t>
            </a:r>
            <a:r>
              <a:rPr lang="en-US" dirty="0"/>
              <a:t> </a:t>
            </a:r>
            <a:r>
              <a:rPr lang="en-US" dirty="0" err="1"/>
              <a:t>suất</a:t>
            </a:r>
            <a:r>
              <a:rPr lang="en-US" dirty="0"/>
              <a:t> - </a:t>
            </a:r>
            <a:r>
              <a:rPr lang="en-US" dirty="0" err="1"/>
              <a:t>Thống</a:t>
            </a:r>
            <a:r>
              <a:rPr lang="en-US" dirty="0"/>
              <a:t> </a:t>
            </a:r>
            <a:r>
              <a:rPr lang="en-US" dirty="0" err="1"/>
              <a:t>kê</a:t>
            </a:r>
            <a:r>
              <a:rPr lang="en-US" dirty="0"/>
              <a:t>, </a:t>
            </a:r>
            <a:r>
              <a:rPr lang="en-US" dirty="0" err="1"/>
              <a:t>Tối</a:t>
            </a:r>
            <a:r>
              <a:rPr lang="en-US" dirty="0"/>
              <a:t> </a:t>
            </a:r>
            <a:r>
              <a:rPr lang="en-US" dirty="0" err="1"/>
              <a:t>ưu</a:t>
            </a:r>
            <a:r>
              <a:rPr lang="en-US" dirty="0"/>
              <a:t> </a:t>
            </a:r>
            <a:r>
              <a:rPr lang="en-US" dirty="0" err="1"/>
              <a:t>và</a:t>
            </a:r>
            <a:r>
              <a:rPr lang="en-US" dirty="0"/>
              <a:t> Toán </a:t>
            </a:r>
            <a:r>
              <a:rPr lang="en-US" dirty="0" err="1"/>
              <a:t>ứng</a:t>
            </a:r>
            <a:r>
              <a:rPr lang="en-US" dirty="0"/>
              <a:t> </a:t>
            </a:r>
            <a:r>
              <a:rPr lang="en-US" dirty="0" err="1"/>
              <a:t>dụng</a:t>
            </a:r>
            <a:r>
              <a:rPr lang="en-US" dirty="0"/>
              <a:t>; c</a:t>
            </a:r>
            <a:r>
              <a:rPr lang="vi-VN" dirty="0"/>
              <a:t>ó kiến thức cơ bản về khoa học tự nhiên, đáp ứng cho việc tiếp thu các kiến thức giáo dục chuyên nghiệp và khả năng học tập ở trình độ cao hơn. </a:t>
            </a:r>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465207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MỤC TIÊU CỤ THỂ</a:t>
            </a:r>
            <a:endParaRPr lang="en-US" dirty="0"/>
          </a:p>
        </p:txBody>
      </p:sp>
      <p:sp>
        <p:nvSpPr>
          <p:cNvPr id="3" name="Content Placeholder 2"/>
          <p:cNvSpPr>
            <a:spLocks noGrp="1"/>
          </p:cNvSpPr>
          <p:nvPr>
            <p:ph idx="1"/>
          </p:nvPr>
        </p:nvSpPr>
        <p:spPr/>
        <p:txBody>
          <a:bodyPr/>
          <a:lstStyle/>
          <a:p>
            <a:pPr lvl="0"/>
            <a:r>
              <a:rPr lang="en-US" dirty="0"/>
              <a:t>MT2: </a:t>
            </a:r>
            <a:r>
              <a:rPr lang="vi-VN" dirty="0"/>
              <a:t>Có các kiến thức cơ sở và kiến thức ngành: suy diễn thống kê, phân tích dự báo, và kinh tế-tài chính; các kỹ thuật, ngôn ngữ, công cụ lập trình; trí tuệ nhân tạo kỹ thuật phân tích thiết kế hệ thống thông tin, thiết kế xây dựng cơ sở dữ liệu.  </a:t>
            </a:r>
            <a:r>
              <a:rPr lang="en-US" dirty="0" smtClean="0"/>
              <a:t>G</a:t>
            </a:r>
            <a:r>
              <a:rPr lang="vi-VN" dirty="0" smtClean="0"/>
              <a:t>iúp </a:t>
            </a:r>
            <a:r>
              <a:rPr lang="vi-VN" dirty="0"/>
              <a:t>đủ năng lực phát hiện, giải quyết các vấn đề trong thực tế bằng kết hợp toán học và công nghệ thông tin.</a:t>
            </a:r>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513447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MỤC TIÊU CỤ THỂ</a:t>
            </a:r>
            <a:endParaRPr lang="en-US" dirty="0"/>
          </a:p>
        </p:txBody>
      </p:sp>
      <p:sp>
        <p:nvSpPr>
          <p:cNvPr id="3" name="Content Placeholder 2"/>
          <p:cNvSpPr>
            <a:spLocks noGrp="1"/>
          </p:cNvSpPr>
          <p:nvPr>
            <p:ph idx="1"/>
          </p:nvPr>
        </p:nvSpPr>
        <p:spPr/>
        <p:txBody>
          <a:bodyPr/>
          <a:lstStyle/>
          <a:p>
            <a:pPr lvl="0"/>
            <a:r>
              <a:rPr lang="en-US" dirty="0"/>
              <a:t>MT3:</a:t>
            </a:r>
            <a:r>
              <a:rPr lang="vi-VN" dirty="0"/>
              <a:t> Có kỹ năng cá nhân, nghề nghiệp, giao tiếp, làm việc nhóm đủ để làm việc trong môi trường làm việc liên ngành, đa văn hóa, đa quốc gia.</a:t>
            </a:r>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2168779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MỤC TIÊU CỤ THỂ</a:t>
            </a:r>
            <a:endParaRPr lang="en-US" dirty="0"/>
          </a:p>
        </p:txBody>
      </p:sp>
      <p:sp>
        <p:nvSpPr>
          <p:cNvPr id="3" name="Content Placeholder 2"/>
          <p:cNvSpPr>
            <a:spLocks noGrp="1"/>
          </p:cNvSpPr>
          <p:nvPr>
            <p:ph idx="1"/>
          </p:nvPr>
        </p:nvSpPr>
        <p:spPr/>
        <p:txBody>
          <a:bodyPr/>
          <a:lstStyle/>
          <a:p>
            <a:pPr lvl="0"/>
            <a:r>
              <a:rPr lang="en-US" dirty="0"/>
              <a:t>MT4:</a:t>
            </a:r>
            <a:r>
              <a:rPr lang="vi-VN" dirty="0"/>
              <a:t> Có hiểu biết về kinh tế, chính trị; có các kiến thức cơ bản trong lĩnh vực khoa học xã hội và nhân văn phù hợp với chuyên ngành được đào tạo để đóng góp hữu hiệu vào sự phát triển bền vững của xã hội, cộng đồng.</a:t>
            </a:r>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048916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VỊ TRÍ VIỆC LÀM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r>
              <a:rPr lang="vi-VN" dirty="0"/>
              <a:t>Sinh viên sau khi tốt nghiệp ra trường sẽ nhận Bằng “Cử nhân Toán ứng dụng”, có thể làm việc trong các ngành nghề, lĩnh vực: </a:t>
            </a:r>
            <a:endParaRPr lang="en-US" dirty="0" smtClean="0"/>
          </a:p>
          <a:p>
            <a:pPr lvl="1"/>
            <a:r>
              <a:rPr lang="vi-VN" dirty="0"/>
              <a:t>Các tập đoàn sản xuất các thiết bị thông minh. Các công ty phần mềm, máy tính, truyền thông. Tổng cục thống kê, các sở khoa học công nghệ.</a:t>
            </a:r>
            <a:endParaRPr lang="en-US" b="1" dirty="0"/>
          </a:p>
          <a:p>
            <a:pPr lvl="1"/>
            <a:r>
              <a:rPr lang="vi-VN" dirty="0"/>
              <a:t>Lập trình, phân tích thiết kế, xây dựng, tích hợp hệ thống tại các công ty phần mềm. </a:t>
            </a:r>
            <a:endParaRPr lang="en-US" b="1" dirty="0"/>
          </a:p>
          <a:p>
            <a:pPr lvl="1"/>
            <a:r>
              <a:rPr lang="vi-VN" dirty="0"/>
              <a:t>Quản trị các hệ thống thông tin hoặc quản trị mạng tại các cơ quan, doanh nghiệp về tài chính, ngân hàng, bảo hiểm.</a:t>
            </a:r>
            <a:endParaRPr lang="en-US" b="1" dirty="0"/>
          </a:p>
          <a:p>
            <a:pPr lvl="1"/>
            <a:r>
              <a:rPr lang="vi-VN" dirty="0"/>
              <a:t>Tham gia giảng dạy ở các trường đào tạo về toán tin ứng dụng</a:t>
            </a:r>
            <a:r>
              <a:rPr lang="vi-VN" dirty="0" smtClean="0"/>
              <a:t>.</a:t>
            </a:r>
            <a:endParaRPr lang="en-US" b="1"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194727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KHẢ NĂNG HỌC TẬP, NÂNG CAO TRÌNH ĐỘ</a:t>
            </a:r>
            <a:endParaRPr lang="en-US" dirty="0"/>
          </a:p>
        </p:txBody>
      </p:sp>
      <p:sp>
        <p:nvSpPr>
          <p:cNvPr id="3" name="Content Placeholder 2"/>
          <p:cNvSpPr>
            <a:spLocks noGrp="1"/>
          </p:cNvSpPr>
          <p:nvPr>
            <p:ph idx="1"/>
          </p:nvPr>
        </p:nvSpPr>
        <p:spPr/>
        <p:txBody>
          <a:bodyPr>
            <a:normAutofit lnSpcReduction="10000"/>
          </a:bodyPr>
          <a:lstStyle/>
          <a:p>
            <a:r>
              <a:rPr lang="vi-VN" dirty="0"/>
              <a:t>Có năng lực học tập suốt đời, đảm bảo kiến thức về chuyên môn và nghiệp vụ để học tập lên bậc Thạc sĩ, Tiến sĩ thuộc các chuyên ngành lĩnh vực Thống kê toán học, khoa học dữ liệu, khoa học máy tính và một số lĩnh vực nghiên cứu của Toán</a:t>
            </a:r>
            <a:r>
              <a:rPr lang="vi-VN" dirty="0" smtClean="0"/>
              <a:t>.</a:t>
            </a:r>
            <a:endParaRPr lang="en-US" dirty="0" smtClean="0"/>
          </a:p>
          <a:p>
            <a:r>
              <a:rPr lang="vi-VN" dirty="0"/>
              <a:t>Có thể tiếp tục học bằng đại học thứ 2 của các ngành kinh tế, kỹ thuật trong trường hoặc ngoài trường</a:t>
            </a:r>
            <a:r>
              <a:rPr lang="vi-VN" dirty="0" smtClean="0"/>
              <a:t>.</a:t>
            </a:r>
            <a:endParaRPr lang="en-US" dirty="0" smtClean="0"/>
          </a:p>
          <a:p>
            <a:r>
              <a:rPr lang="vi-VN" dirty="0"/>
              <a:t>Đủ kiến thức tương đương để có thể được chấp nhận theo học các chương trình sau đại học ở nước ngoài.</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4091644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a:t>
            </a:r>
            <a:r>
              <a:rPr lang="en-US" dirty="0" err="1"/>
              <a:t>Nội</a:t>
            </a:r>
            <a:r>
              <a:rPr lang="en-US" dirty="0"/>
              <a:t> dung </a:t>
            </a:r>
            <a:r>
              <a:rPr lang="en-US" dirty="0" err="1"/>
              <a:t>khung</a:t>
            </a:r>
            <a:r>
              <a:rPr lang="en-US" dirty="0"/>
              <a:t> chương trình đào tạo</a:t>
            </a:r>
          </a:p>
        </p:txBody>
      </p:sp>
      <p:sp>
        <p:nvSpPr>
          <p:cNvPr id="3" name="Content Placeholder 2"/>
          <p:cNvSpPr>
            <a:spLocks noGrp="1"/>
          </p:cNvSpPr>
          <p:nvPr>
            <p:ph idx="1"/>
          </p:nvPr>
        </p:nvSpPr>
        <p:spPr/>
        <p:txBody>
          <a:bodyPr>
            <a:normAutofit fontScale="92500" lnSpcReduction="20000"/>
          </a:bodyPr>
          <a:lstStyle/>
          <a:p>
            <a:r>
              <a:rPr lang="en-US" dirty="0" err="1" smtClean="0"/>
              <a:t>Khối</a:t>
            </a:r>
            <a:r>
              <a:rPr lang="en-US" dirty="0" smtClean="0"/>
              <a:t> </a:t>
            </a:r>
            <a:r>
              <a:rPr lang="en-US" dirty="0" err="1" smtClean="0"/>
              <a:t>kiến</a:t>
            </a:r>
            <a:r>
              <a:rPr lang="en-US" dirty="0" smtClean="0"/>
              <a:t> </a:t>
            </a:r>
            <a:r>
              <a:rPr lang="en-US" dirty="0" err="1" smtClean="0"/>
              <a:t>thức</a:t>
            </a:r>
            <a:r>
              <a:rPr lang="en-US" dirty="0" smtClean="0"/>
              <a:t> </a:t>
            </a:r>
            <a:r>
              <a:rPr lang="en-US" dirty="0" err="1" smtClean="0"/>
              <a:t>cơ</a:t>
            </a:r>
            <a:r>
              <a:rPr lang="en-US" dirty="0" smtClean="0"/>
              <a:t> </a:t>
            </a:r>
            <a:r>
              <a:rPr lang="en-US" dirty="0" err="1" smtClean="0"/>
              <a:t>sở</a:t>
            </a:r>
            <a:endParaRPr lang="en-US" dirty="0" smtClean="0"/>
          </a:p>
          <a:p>
            <a:r>
              <a:rPr lang="en-US" dirty="0" err="1" smtClean="0"/>
              <a:t>Khối</a:t>
            </a:r>
            <a:r>
              <a:rPr lang="en-US" dirty="0" smtClean="0"/>
              <a:t> </a:t>
            </a:r>
            <a:r>
              <a:rPr lang="en-US" dirty="0" err="1" smtClean="0"/>
              <a:t>kiến</a:t>
            </a:r>
            <a:r>
              <a:rPr lang="en-US" dirty="0" smtClean="0"/>
              <a:t> </a:t>
            </a:r>
            <a:r>
              <a:rPr lang="en-US" dirty="0" err="1" smtClean="0"/>
              <a:t>thức</a:t>
            </a:r>
            <a:r>
              <a:rPr lang="en-US" dirty="0" smtClean="0"/>
              <a:t> </a:t>
            </a:r>
            <a:r>
              <a:rPr lang="en-US" dirty="0" err="1" smtClean="0"/>
              <a:t>đại</a:t>
            </a:r>
            <a:r>
              <a:rPr lang="en-US" dirty="0" smtClean="0"/>
              <a:t> </a:t>
            </a:r>
            <a:r>
              <a:rPr lang="en-US" dirty="0" err="1" smtClean="0"/>
              <a:t>cương</a:t>
            </a:r>
            <a:endParaRPr lang="en-US" dirty="0" smtClean="0"/>
          </a:p>
          <a:p>
            <a:r>
              <a:rPr lang="en-US" dirty="0" err="1" smtClean="0"/>
              <a:t>Khối</a:t>
            </a:r>
            <a:r>
              <a:rPr lang="en-US" dirty="0" smtClean="0"/>
              <a:t> </a:t>
            </a:r>
            <a:r>
              <a:rPr lang="en-US" dirty="0" err="1" smtClean="0"/>
              <a:t>kiến</a:t>
            </a:r>
            <a:r>
              <a:rPr lang="en-US" dirty="0" smtClean="0"/>
              <a:t> </a:t>
            </a:r>
            <a:r>
              <a:rPr lang="en-US" dirty="0" err="1" smtClean="0"/>
              <a:t>thức</a:t>
            </a:r>
            <a:r>
              <a:rPr lang="en-US" dirty="0" smtClean="0"/>
              <a:t> </a:t>
            </a:r>
            <a:r>
              <a:rPr lang="en-US" dirty="0" err="1" smtClean="0"/>
              <a:t>chuyên</a:t>
            </a:r>
            <a:r>
              <a:rPr lang="en-US" dirty="0" smtClean="0"/>
              <a:t> </a:t>
            </a:r>
            <a:r>
              <a:rPr lang="en-US" dirty="0" err="1" smtClean="0"/>
              <a:t>ngành</a:t>
            </a:r>
            <a:endParaRPr lang="en-US" dirty="0" smtClean="0"/>
          </a:p>
          <a:p>
            <a:pPr lvl="1"/>
            <a:r>
              <a:rPr lang="en-US" dirty="0" err="1" smtClean="0"/>
              <a:t>Lý</a:t>
            </a:r>
            <a:r>
              <a:rPr lang="en-US" dirty="0" smtClean="0"/>
              <a:t> </a:t>
            </a:r>
            <a:r>
              <a:rPr lang="en-US" dirty="0" err="1" smtClean="0"/>
              <a:t>thuyết</a:t>
            </a:r>
            <a:endParaRPr lang="en-US" dirty="0" smtClean="0"/>
          </a:p>
          <a:p>
            <a:pPr lvl="1"/>
            <a:r>
              <a:rPr lang="en-US" dirty="0" err="1" smtClean="0"/>
              <a:t>Bài</a:t>
            </a:r>
            <a:r>
              <a:rPr lang="en-US" dirty="0" smtClean="0"/>
              <a:t> </a:t>
            </a:r>
            <a:r>
              <a:rPr lang="en-US" dirty="0" err="1" smtClean="0"/>
              <a:t>tập</a:t>
            </a:r>
            <a:endParaRPr lang="en-US" dirty="0" smtClean="0"/>
          </a:p>
          <a:p>
            <a:pPr lvl="1"/>
            <a:r>
              <a:rPr lang="en-US" dirty="0" err="1" smtClean="0"/>
              <a:t>Thực</a:t>
            </a:r>
            <a:r>
              <a:rPr lang="en-US" dirty="0" smtClean="0"/>
              <a:t> </a:t>
            </a:r>
            <a:r>
              <a:rPr lang="en-US" dirty="0" err="1" smtClean="0"/>
              <a:t>hành</a:t>
            </a:r>
            <a:endParaRPr lang="en-US" dirty="0" smtClean="0"/>
          </a:p>
          <a:p>
            <a:pPr lvl="1"/>
            <a:r>
              <a:rPr lang="en-US" dirty="0" err="1" smtClean="0"/>
              <a:t>Bài</a:t>
            </a:r>
            <a:r>
              <a:rPr lang="en-US" dirty="0" smtClean="0"/>
              <a:t> </a:t>
            </a:r>
            <a:r>
              <a:rPr lang="en-US" dirty="0" err="1" smtClean="0"/>
              <a:t>tập</a:t>
            </a:r>
            <a:r>
              <a:rPr lang="en-US" dirty="0" smtClean="0"/>
              <a:t> </a:t>
            </a:r>
            <a:r>
              <a:rPr lang="en-US" dirty="0" err="1" smtClean="0"/>
              <a:t>lớn</a:t>
            </a:r>
            <a:endParaRPr lang="en-US" dirty="0" smtClean="0"/>
          </a:p>
          <a:p>
            <a:pPr lvl="1"/>
            <a:r>
              <a:rPr lang="en-US" dirty="0" err="1" smtClean="0"/>
              <a:t>Báo</a:t>
            </a:r>
            <a:r>
              <a:rPr lang="en-US" dirty="0" smtClean="0"/>
              <a:t> </a:t>
            </a:r>
            <a:r>
              <a:rPr lang="en-US" dirty="0" err="1" smtClean="0"/>
              <a:t>cáo</a:t>
            </a:r>
            <a:r>
              <a:rPr lang="en-US" dirty="0" smtClean="0"/>
              <a:t> </a:t>
            </a:r>
            <a:r>
              <a:rPr lang="en-US" dirty="0" err="1" smtClean="0"/>
              <a:t>chuyên</a:t>
            </a:r>
            <a:r>
              <a:rPr lang="en-US" dirty="0" smtClean="0"/>
              <a:t> </a:t>
            </a:r>
            <a:r>
              <a:rPr lang="en-US" dirty="0" err="1" smtClean="0"/>
              <a:t>đề</a:t>
            </a:r>
            <a:endParaRPr lang="en-US" dirty="0" smtClean="0"/>
          </a:p>
          <a:p>
            <a:pPr lvl="1"/>
            <a:r>
              <a:rPr lang="en-US" dirty="0" err="1" smtClean="0"/>
              <a:t>Báo</a:t>
            </a:r>
            <a:r>
              <a:rPr lang="en-US" dirty="0" smtClean="0"/>
              <a:t> </a:t>
            </a:r>
            <a:r>
              <a:rPr lang="en-US" dirty="0" err="1" smtClean="0"/>
              <a:t>cáo</a:t>
            </a:r>
            <a:r>
              <a:rPr lang="en-US" dirty="0" smtClean="0"/>
              <a:t> </a:t>
            </a:r>
            <a:r>
              <a:rPr lang="en-US" dirty="0" err="1" smtClean="0"/>
              <a:t>thực</a:t>
            </a:r>
            <a:r>
              <a:rPr lang="en-US" dirty="0" smtClean="0"/>
              <a:t> </a:t>
            </a:r>
            <a:r>
              <a:rPr lang="en-US" dirty="0" err="1" smtClean="0"/>
              <a:t>tập</a:t>
            </a:r>
            <a:r>
              <a:rPr lang="en-US" dirty="0" smtClean="0"/>
              <a:t> </a:t>
            </a:r>
            <a:r>
              <a:rPr lang="en-US" dirty="0" err="1" smtClean="0"/>
              <a:t>chuyên</a:t>
            </a:r>
            <a:r>
              <a:rPr lang="en-US" dirty="0" smtClean="0"/>
              <a:t> </a:t>
            </a:r>
            <a:r>
              <a:rPr lang="en-US" dirty="0" err="1" smtClean="0"/>
              <a:t>môn</a:t>
            </a:r>
            <a:r>
              <a:rPr lang="en-US" dirty="0" smtClean="0"/>
              <a:t>, </a:t>
            </a:r>
            <a:r>
              <a:rPr lang="en-US" dirty="0" err="1" smtClean="0"/>
              <a:t>thực</a:t>
            </a:r>
            <a:r>
              <a:rPr lang="en-US" dirty="0" smtClean="0"/>
              <a:t> </a:t>
            </a:r>
            <a:r>
              <a:rPr lang="en-US" dirty="0" err="1" smtClean="0"/>
              <a:t>tập</a:t>
            </a:r>
            <a:r>
              <a:rPr lang="en-US" dirty="0" smtClean="0"/>
              <a:t> </a:t>
            </a:r>
            <a:r>
              <a:rPr lang="en-US" dirty="0" err="1" smtClean="0"/>
              <a:t>tốt</a:t>
            </a:r>
            <a:r>
              <a:rPr lang="en-US" dirty="0" smtClean="0"/>
              <a:t> </a:t>
            </a:r>
            <a:r>
              <a:rPr lang="en-US" dirty="0" err="1" smtClean="0"/>
              <a:t>nghiệp</a:t>
            </a:r>
            <a:endParaRPr lang="en-US" dirty="0" smtClean="0"/>
          </a:p>
          <a:p>
            <a:pPr lvl="1"/>
            <a:r>
              <a:rPr lang="en-US" dirty="0" err="1" smtClean="0"/>
              <a:t>Đồ</a:t>
            </a:r>
            <a:r>
              <a:rPr lang="en-US" dirty="0" smtClean="0"/>
              <a:t> </a:t>
            </a:r>
            <a:r>
              <a:rPr lang="en-US" dirty="0" err="1" smtClean="0"/>
              <a:t>án</a:t>
            </a:r>
            <a:r>
              <a:rPr lang="en-US" dirty="0" smtClean="0"/>
              <a:t> </a:t>
            </a:r>
            <a:r>
              <a:rPr lang="en-US" dirty="0" err="1" smtClean="0"/>
              <a:t>tốt</a:t>
            </a:r>
            <a:r>
              <a:rPr lang="en-US" dirty="0" smtClean="0"/>
              <a:t> </a:t>
            </a:r>
            <a:r>
              <a:rPr lang="en-US" dirty="0" err="1" smtClean="0"/>
              <a:t>nghiệp</a:t>
            </a:r>
            <a:endParaRPr lang="en-US" dirty="0"/>
          </a:p>
          <a:p>
            <a:endParaRPr lang="en-US" dirty="0" smtClean="0"/>
          </a:p>
          <a:p>
            <a:endParaRPr lang="en-US" dirty="0"/>
          </a:p>
          <a:p>
            <a:endParaRPr lang="en-US" dirty="0" smtClean="0"/>
          </a:p>
          <a:p>
            <a:pPr lvl="1"/>
            <a:endParaRPr lang="en-US" dirty="0"/>
          </a:p>
          <a:p>
            <a:endParaRPr lang="en-US" dirty="0" smtClean="0"/>
          </a:p>
          <a:p>
            <a:endParaRPr lang="en-US" dirty="0"/>
          </a:p>
          <a:p>
            <a:endParaRPr lang="en-US" dirty="0" smtClean="0"/>
          </a:p>
          <a:p>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24342291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KHỐI KIẾN THỨC</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89448253"/>
              </p:ext>
            </p:extLst>
          </p:nvPr>
        </p:nvGraphicFramePr>
        <p:xfrm>
          <a:off x="5486400" y="1431925"/>
          <a:ext cx="5156201" cy="45259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593502995"/>
              </p:ext>
            </p:extLst>
          </p:nvPr>
        </p:nvGraphicFramePr>
        <p:xfrm>
          <a:off x="1329266" y="1905000"/>
          <a:ext cx="3471334" cy="2406015"/>
        </p:xfrm>
        <a:graphic>
          <a:graphicData uri="http://schemas.openxmlformats.org/drawingml/2006/table">
            <a:tbl>
              <a:tblPr>
                <a:tableStyleId>{5C22544A-7EE6-4342-B048-85BDC9FD1C3A}</a:tableStyleId>
              </a:tblPr>
              <a:tblGrid>
                <a:gridCol w="2175934">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514350">
                <a:tc>
                  <a:txBody>
                    <a:bodyPr/>
                    <a:lstStyle/>
                    <a:p>
                      <a:pPr algn="l" fontAlgn="ctr"/>
                      <a:r>
                        <a:rPr lang="en-US" sz="2800" b="1" u="none" strike="noStrike" dirty="0" smtClean="0">
                          <a:effectLst/>
                        </a:rPr>
                        <a:t>ĐẠI</a:t>
                      </a:r>
                      <a:r>
                        <a:rPr lang="en-US" sz="2800" b="1" u="none" strike="noStrike" baseline="0" dirty="0" smtClean="0">
                          <a:effectLst/>
                        </a:rPr>
                        <a:t> CƯƠNG</a:t>
                      </a:r>
                      <a:endParaRPr lang="en-US" sz="28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2800" b="1" u="none" strike="noStrike" dirty="0" smtClean="0">
                          <a:effectLst/>
                        </a:rPr>
                        <a:t>55</a:t>
                      </a:r>
                      <a:endParaRPr lang="en-US" sz="2800" b="1"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0000"/>
                  </a:ext>
                </a:extLst>
              </a:tr>
              <a:tr h="514350">
                <a:tc>
                  <a:txBody>
                    <a:bodyPr/>
                    <a:lstStyle/>
                    <a:p>
                      <a:pPr algn="l" fontAlgn="ctr"/>
                      <a:r>
                        <a:rPr lang="en-US" sz="2800" b="1" i="0" u="none" strike="noStrike" dirty="0" smtClean="0">
                          <a:solidFill>
                            <a:schemeClr val="dk1"/>
                          </a:solidFill>
                          <a:effectLst/>
                          <a:latin typeface="+mn-lt"/>
                        </a:rPr>
                        <a:t>CƠ</a:t>
                      </a:r>
                      <a:r>
                        <a:rPr lang="en-US" sz="2800" b="1" i="0" u="none" strike="noStrike" baseline="0" dirty="0" smtClean="0">
                          <a:solidFill>
                            <a:schemeClr val="dk1"/>
                          </a:solidFill>
                          <a:effectLst/>
                          <a:latin typeface="+mn-lt"/>
                        </a:rPr>
                        <a:t> SỞ</a:t>
                      </a:r>
                      <a:endParaRPr lang="en-US" sz="28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2800" b="1" u="none" strike="noStrike" dirty="0">
                          <a:effectLst/>
                        </a:rPr>
                        <a:t>46</a:t>
                      </a:r>
                      <a:endParaRPr lang="en-US" sz="2800" b="1"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0001"/>
                  </a:ext>
                </a:extLst>
              </a:tr>
              <a:tr h="514350">
                <a:tc>
                  <a:txBody>
                    <a:bodyPr/>
                    <a:lstStyle/>
                    <a:p>
                      <a:pPr algn="l" fontAlgn="ctr"/>
                      <a:r>
                        <a:rPr lang="en-US" sz="2800" b="1" i="0" u="none" strike="noStrike" dirty="0" smtClean="0">
                          <a:solidFill>
                            <a:schemeClr val="dk1"/>
                          </a:solidFill>
                          <a:effectLst/>
                          <a:latin typeface="+mn-lt"/>
                        </a:rPr>
                        <a:t>CHUYÊN</a:t>
                      </a:r>
                      <a:r>
                        <a:rPr lang="en-US" sz="2800" b="1" i="0" u="none" strike="noStrike" baseline="0" dirty="0" smtClean="0">
                          <a:solidFill>
                            <a:schemeClr val="dk1"/>
                          </a:solidFill>
                          <a:effectLst/>
                          <a:latin typeface="+mn-lt"/>
                        </a:rPr>
                        <a:t> NGÀNH</a:t>
                      </a:r>
                      <a:endParaRPr lang="en-US" sz="28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2800" b="1" u="none" strike="noStrike" dirty="0" smtClean="0">
                          <a:effectLst/>
                        </a:rPr>
                        <a:t>39</a:t>
                      </a:r>
                      <a:endParaRPr lang="en-US" sz="2800" b="1"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0002"/>
                  </a:ext>
                </a:extLst>
              </a:tr>
              <a:tr h="514350">
                <a:tc>
                  <a:txBody>
                    <a:bodyPr/>
                    <a:lstStyle/>
                    <a:p>
                      <a:pPr algn="l" fontAlgn="ctr"/>
                      <a:r>
                        <a:rPr lang="en-US" sz="2800" b="1" u="none" strike="noStrike" dirty="0">
                          <a:effectLst/>
                        </a:rPr>
                        <a:t>TỔNG</a:t>
                      </a:r>
                      <a:endParaRPr lang="en-US" sz="2800" b="1"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2800" b="1" u="none" strike="noStrike" dirty="0" smtClean="0">
                          <a:effectLst/>
                        </a:rPr>
                        <a:t>140</a:t>
                      </a:r>
                      <a:endParaRPr lang="en-US" sz="2800" b="1"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3205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MÔN HỌC</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44870123"/>
              </p:ext>
            </p:extLst>
          </p:nvPr>
        </p:nvGraphicFramePr>
        <p:xfrm>
          <a:off x="5638800" y="1389063"/>
          <a:ext cx="5867400" cy="45259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134621798"/>
              </p:ext>
            </p:extLst>
          </p:nvPr>
        </p:nvGraphicFramePr>
        <p:xfrm>
          <a:off x="1752600" y="2057400"/>
          <a:ext cx="3505200" cy="2761555"/>
        </p:xfrm>
        <a:graphic>
          <a:graphicData uri="http://schemas.openxmlformats.org/drawingml/2006/table">
            <a:tbl>
              <a:tblPr>
                <a:tableStyleId>{5C22544A-7EE6-4342-B048-85BDC9FD1C3A}</a:tableStyleId>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463609">
                <a:tc>
                  <a:txBody>
                    <a:bodyPr/>
                    <a:lstStyle/>
                    <a:p>
                      <a:pPr algn="l" fontAlgn="b"/>
                      <a:r>
                        <a:rPr lang="en-US" sz="2800" b="1" u="none" strike="noStrike" dirty="0">
                          <a:effectLst/>
                        </a:rPr>
                        <a:t>KHCB</a:t>
                      </a:r>
                      <a:endParaRPr lang="en-US" sz="2800" b="1"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b"/>
                      <a:r>
                        <a:rPr lang="en-US" sz="2800" b="1" u="none" strike="noStrike" dirty="0">
                          <a:effectLst/>
                        </a:rPr>
                        <a:t>34</a:t>
                      </a:r>
                      <a:endParaRPr lang="en-US" sz="2800" b="1"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0000"/>
                  </a:ext>
                </a:extLst>
              </a:tr>
              <a:tr h="485686">
                <a:tc>
                  <a:txBody>
                    <a:bodyPr/>
                    <a:lstStyle/>
                    <a:p>
                      <a:pPr algn="l" fontAlgn="b"/>
                      <a:r>
                        <a:rPr lang="en-US" sz="2800" b="1" u="none" strike="noStrike" dirty="0" smtClean="0">
                          <a:effectLst/>
                        </a:rPr>
                        <a:t>TOÁN</a:t>
                      </a:r>
                      <a:endParaRPr lang="en-US" sz="2800" b="1"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b"/>
                      <a:r>
                        <a:rPr lang="en-US" sz="2800" b="1" u="none" strike="noStrike" dirty="0">
                          <a:effectLst/>
                        </a:rPr>
                        <a:t>50</a:t>
                      </a:r>
                      <a:endParaRPr lang="en-US" sz="2800" b="1"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0001"/>
                  </a:ext>
                </a:extLst>
              </a:tr>
              <a:tr h="485686">
                <a:tc>
                  <a:txBody>
                    <a:bodyPr/>
                    <a:lstStyle/>
                    <a:p>
                      <a:pPr algn="l" fontAlgn="b"/>
                      <a:r>
                        <a:rPr lang="en-US" sz="2800" b="1" u="none" strike="noStrike" dirty="0">
                          <a:effectLst/>
                        </a:rPr>
                        <a:t>TIN</a:t>
                      </a:r>
                      <a:endParaRPr lang="en-US" sz="2800" b="1"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b"/>
                      <a:r>
                        <a:rPr lang="en-US" sz="2800" b="1" u="none" strike="noStrike" dirty="0">
                          <a:effectLst/>
                        </a:rPr>
                        <a:t>38</a:t>
                      </a:r>
                      <a:endParaRPr lang="en-US" sz="2800" b="1"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0002"/>
                  </a:ext>
                </a:extLst>
              </a:tr>
              <a:tr h="463609">
                <a:tc>
                  <a:txBody>
                    <a:bodyPr/>
                    <a:lstStyle/>
                    <a:p>
                      <a:pPr algn="l" fontAlgn="b"/>
                      <a:r>
                        <a:rPr lang="en-US" sz="2800" b="1" u="none" strike="noStrike" dirty="0" smtClean="0">
                          <a:effectLst/>
                        </a:rPr>
                        <a:t>CHUYÊN</a:t>
                      </a:r>
                      <a:r>
                        <a:rPr lang="en-US" sz="2800" b="1" u="none" strike="noStrike" baseline="0" dirty="0" smtClean="0">
                          <a:effectLst/>
                        </a:rPr>
                        <a:t> NGÀNH</a:t>
                      </a:r>
                      <a:endParaRPr lang="en-US" sz="2800" b="1"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b"/>
                      <a:r>
                        <a:rPr lang="en-US" sz="2800" b="1" i="0" u="none" strike="noStrike" dirty="0" smtClean="0">
                          <a:solidFill>
                            <a:schemeClr val="dk1"/>
                          </a:solidFill>
                          <a:effectLst/>
                          <a:latin typeface="+mn-lt"/>
                        </a:rPr>
                        <a:t>18</a:t>
                      </a:r>
                      <a:endParaRPr lang="en-US" sz="2800" b="1"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0003"/>
                  </a:ext>
                </a:extLst>
              </a:tr>
              <a:tr h="463609">
                <a:tc>
                  <a:txBody>
                    <a:bodyPr/>
                    <a:lstStyle/>
                    <a:p>
                      <a:pPr algn="l" fontAlgn="b"/>
                      <a:r>
                        <a:rPr lang="en-US" sz="2800" b="1" u="none" strike="noStrike" dirty="0">
                          <a:effectLst/>
                        </a:rPr>
                        <a:t>TỔNG</a:t>
                      </a:r>
                      <a:endParaRPr lang="en-US" sz="2800" b="1"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b"/>
                      <a:r>
                        <a:rPr lang="en-US" sz="2800" b="1" u="none" strike="noStrike" dirty="0" smtClean="0">
                          <a:effectLst/>
                        </a:rPr>
                        <a:t>140</a:t>
                      </a:r>
                      <a:endParaRPr lang="en-US" sz="2800" b="1"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09609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00CC"/>
                </a:solidFill>
              </a:rPr>
              <a:t>NĂM THỨ 1</a:t>
            </a:r>
            <a:endParaRPr lang="en-US" dirty="0">
              <a:solidFill>
                <a:srgbClr val="0000CC"/>
              </a:solidFill>
            </a:endParaRPr>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977200927"/>
              </p:ext>
            </p:extLst>
          </p:nvPr>
        </p:nvGraphicFramePr>
        <p:xfrm>
          <a:off x="1329266" y="1181910"/>
          <a:ext cx="10100732" cy="5410169"/>
        </p:xfrm>
        <a:graphic>
          <a:graphicData uri="http://schemas.openxmlformats.org/drawingml/2006/table">
            <a:tbl>
              <a:tblPr>
                <a:tableStyleId>{5C22544A-7EE6-4342-B048-85BDC9FD1C3A}</a:tableStyleId>
              </a:tblPr>
              <a:tblGrid>
                <a:gridCol w="561631">
                  <a:extLst>
                    <a:ext uri="{9D8B030D-6E8A-4147-A177-3AD203B41FA5}">
                      <a16:colId xmlns:a16="http://schemas.microsoft.com/office/drawing/2014/main" val="2786907731"/>
                    </a:ext>
                  </a:extLst>
                </a:gridCol>
                <a:gridCol w="3737010">
                  <a:extLst>
                    <a:ext uri="{9D8B030D-6E8A-4147-A177-3AD203B41FA5}">
                      <a16:colId xmlns:a16="http://schemas.microsoft.com/office/drawing/2014/main" val="3373377444"/>
                    </a:ext>
                  </a:extLst>
                </a:gridCol>
                <a:gridCol w="1317674">
                  <a:extLst>
                    <a:ext uri="{9D8B030D-6E8A-4147-A177-3AD203B41FA5}">
                      <a16:colId xmlns:a16="http://schemas.microsoft.com/office/drawing/2014/main" val="546614313"/>
                    </a:ext>
                  </a:extLst>
                </a:gridCol>
                <a:gridCol w="518431">
                  <a:extLst>
                    <a:ext uri="{9D8B030D-6E8A-4147-A177-3AD203B41FA5}">
                      <a16:colId xmlns:a16="http://schemas.microsoft.com/office/drawing/2014/main" val="3450121460"/>
                    </a:ext>
                  </a:extLst>
                </a:gridCol>
                <a:gridCol w="626436">
                  <a:extLst>
                    <a:ext uri="{9D8B030D-6E8A-4147-A177-3AD203B41FA5}">
                      <a16:colId xmlns:a16="http://schemas.microsoft.com/office/drawing/2014/main" val="2920337015"/>
                    </a:ext>
                  </a:extLst>
                </a:gridCol>
                <a:gridCol w="540031">
                  <a:extLst>
                    <a:ext uri="{9D8B030D-6E8A-4147-A177-3AD203B41FA5}">
                      <a16:colId xmlns:a16="http://schemas.microsoft.com/office/drawing/2014/main" val="1309569876"/>
                    </a:ext>
                  </a:extLst>
                </a:gridCol>
                <a:gridCol w="604834">
                  <a:extLst>
                    <a:ext uri="{9D8B030D-6E8A-4147-A177-3AD203B41FA5}">
                      <a16:colId xmlns:a16="http://schemas.microsoft.com/office/drawing/2014/main" val="994560155"/>
                    </a:ext>
                  </a:extLst>
                </a:gridCol>
                <a:gridCol w="540031">
                  <a:extLst>
                    <a:ext uri="{9D8B030D-6E8A-4147-A177-3AD203B41FA5}">
                      <a16:colId xmlns:a16="http://schemas.microsoft.com/office/drawing/2014/main" val="2028629450"/>
                    </a:ext>
                  </a:extLst>
                </a:gridCol>
                <a:gridCol w="583233">
                  <a:extLst>
                    <a:ext uri="{9D8B030D-6E8A-4147-A177-3AD203B41FA5}">
                      <a16:colId xmlns:a16="http://schemas.microsoft.com/office/drawing/2014/main" val="78960847"/>
                    </a:ext>
                  </a:extLst>
                </a:gridCol>
                <a:gridCol w="466587">
                  <a:extLst>
                    <a:ext uri="{9D8B030D-6E8A-4147-A177-3AD203B41FA5}">
                      <a16:colId xmlns:a16="http://schemas.microsoft.com/office/drawing/2014/main" val="2844523125"/>
                    </a:ext>
                  </a:extLst>
                </a:gridCol>
                <a:gridCol w="604834">
                  <a:extLst>
                    <a:ext uri="{9D8B030D-6E8A-4147-A177-3AD203B41FA5}">
                      <a16:colId xmlns:a16="http://schemas.microsoft.com/office/drawing/2014/main" val="2991362584"/>
                    </a:ext>
                  </a:extLst>
                </a:gridCol>
              </a:tblGrid>
              <a:tr h="263680">
                <a:tc rowSpan="2">
                  <a:txBody>
                    <a:bodyPr/>
                    <a:lstStyle/>
                    <a:p>
                      <a:pPr algn="ctr" fontAlgn="ctr"/>
                      <a:r>
                        <a:rPr lang="en-US" sz="1400" b="1" u="none" strike="noStrike" dirty="0">
                          <a:effectLst/>
                          <a:latin typeface="Times New Roman" panose="02020603050405020304" pitchFamily="18" charset="0"/>
                          <a:cs typeface="Times New Roman" panose="02020603050405020304" pitchFamily="18" charset="0"/>
                        </a:rPr>
                        <a:t>TT</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rowSpan="2">
                  <a:txBody>
                    <a:bodyPr/>
                    <a:lstStyle/>
                    <a:p>
                      <a:pPr algn="ctr" fontAlgn="ctr"/>
                      <a:r>
                        <a:rPr lang="en-US" sz="1400" b="1" u="none" strike="noStrike" dirty="0">
                          <a:effectLst/>
                          <a:latin typeface="Times New Roman" panose="02020603050405020304" pitchFamily="18" charset="0"/>
                          <a:cs typeface="Times New Roman" panose="02020603050405020304" pitchFamily="18" charset="0"/>
                        </a:rPr>
                        <a:t>TÊN HỌC PHẦN</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rowSpan="2">
                  <a:txBody>
                    <a:bodyPr/>
                    <a:lstStyle/>
                    <a:p>
                      <a:pPr algn="ctr" fontAlgn="ctr"/>
                      <a:r>
                        <a:rPr lang="en-US" sz="1400" b="1" u="none" strike="noStrike" dirty="0">
                          <a:effectLst/>
                          <a:latin typeface="Times New Roman" panose="02020603050405020304" pitchFamily="18" charset="0"/>
                          <a:cs typeface="Times New Roman" panose="02020603050405020304" pitchFamily="18" charset="0"/>
                        </a:rPr>
                        <a:t>MÃ HỌC PHẦN</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vert="vert270" anchor="ctr"/>
                </a:tc>
                <a:tc rowSpan="2">
                  <a:txBody>
                    <a:bodyPr/>
                    <a:lstStyle/>
                    <a:p>
                      <a:pPr algn="ctr" fontAlgn="ctr"/>
                      <a:r>
                        <a:rPr lang="en-US" sz="1400" b="1" u="none" strike="noStrike" dirty="0">
                          <a:effectLst/>
                          <a:latin typeface="Times New Roman" panose="02020603050405020304" pitchFamily="18" charset="0"/>
                          <a:cs typeface="Times New Roman" panose="02020603050405020304" pitchFamily="18" charset="0"/>
                        </a:rPr>
                        <a:t>SỐ TÍN CHỈ</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vert="vert270" anchor="ctr"/>
                </a:tc>
                <a:tc gridSpan="2">
                  <a:txBody>
                    <a:bodyPr/>
                    <a:lstStyle/>
                    <a:p>
                      <a:pPr algn="ctr" fontAlgn="ctr"/>
                      <a:r>
                        <a:rPr lang="en-US" sz="800" u="none" strike="noStrike">
                          <a:effectLst/>
                        </a:rPr>
                        <a:t>GIẢNG TRÊN LỚP</a:t>
                      </a:r>
                      <a:endParaRPr lang="en-US" sz="800" b="1" i="0" u="none" strike="noStrike">
                        <a:solidFill>
                          <a:srgbClr val="000000"/>
                        </a:solidFill>
                        <a:effectLst/>
                        <a:latin typeface="Times New Roman" panose="02020603050405020304" pitchFamily="18" charset="0"/>
                      </a:endParaRPr>
                    </a:p>
                  </a:txBody>
                  <a:tcPr marL="6431" marR="6431" marT="6431" marB="0" anchor="ctr"/>
                </a:tc>
                <a:tc hMerge="1">
                  <a:txBody>
                    <a:bodyPr/>
                    <a:lstStyle/>
                    <a:p>
                      <a:endParaRPr lang="en-US"/>
                    </a:p>
                  </a:txBody>
                  <a:tcPr/>
                </a:tc>
                <a:tc rowSpan="2">
                  <a:txBody>
                    <a:bodyPr/>
                    <a:lstStyle/>
                    <a:p>
                      <a:pPr algn="ctr" fontAlgn="ctr"/>
                      <a:r>
                        <a:rPr lang="en-US" sz="1400" b="1" u="none" strike="noStrike">
                          <a:effectLst/>
                          <a:latin typeface="Times New Roman" panose="02020603050405020304" pitchFamily="18" charset="0"/>
                          <a:cs typeface="Times New Roman" panose="02020603050405020304" pitchFamily="18" charset="0"/>
                        </a:rPr>
                        <a:t>Thiết kế môn học</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vert="vert270" anchor="ctr"/>
                </a:tc>
                <a:tc rowSpan="2">
                  <a:txBody>
                    <a:bodyPr/>
                    <a:lstStyle/>
                    <a:p>
                      <a:pPr algn="ctr" fontAlgn="ctr"/>
                      <a:r>
                        <a:rPr lang="en-US" sz="1400" b="1" u="none" strike="noStrike">
                          <a:effectLst/>
                          <a:latin typeface="Times New Roman" panose="02020603050405020304" pitchFamily="18" charset="0"/>
                          <a:cs typeface="Times New Roman" panose="02020603050405020304" pitchFamily="18" charset="0"/>
                        </a:rPr>
                        <a:t>Bài tập lớn</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vert="vert270" anchor="ctr"/>
                </a:tc>
                <a:tc gridSpan="2">
                  <a:txBody>
                    <a:bodyPr/>
                    <a:lstStyle/>
                    <a:p>
                      <a:pPr algn="ctr" fontAlgn="ctr"/>
                      <a:r>
                        <a:rPr lang="en-US" sz="800" u="none" strike="noStrike">
                          <a:effectLst/>
                        </a:rPr>
                        <a:t>THỰC HÀNH</a:t>
                      </a:r>
                      <a:endParaRPr lang="en-US" sz="800" b="1" i="0" u="none" strike="noStrike">
                        <a:solidFill>
                          <a:srgbClr val="000000"/>
                        </a:solidFill>
                        <a:effectLst/>
                        <a:latin typeface="Times New Roman" panose="02020603050405020304" pitchFamily="18" charset="0"/>
                      </a:endParaRPr>
                    </a:p>
                  </a:txBody>
                  <a:tcPr marL="6431" marR="6431" marT="6431" marB="0" anchor="ctr"/>
                </a:tc>
                <a:tc hMerge="1">
                  <a:txBody>
                    <a:bodyPr/>
                    <a:lstStyle/>
                    <a:p>
                      <a:endParaRPr lang="en-US"/>
                    </a:p>
                  </a:txBody>
                  <a:tcPr/>
                </a:tc>
                <a:tc rowSpan="2">
                  <a:txBody>
                    <a:bodyPr/>
                    <a:lstStyle/>
                    <a:p>
                      <a:pPr algn="ctr" fontAlgn="ctr"/>
                      <a:r>
                        <a:rPr lang="en-US" sz="1400" b="1" u="none" strike="noStrike">
                          <a:effectLst/>
                          <a:latin typeface="Times New Roman" panose="02020603050405020304" pitchFamily="18" charset="0"/>
                          <a:cs typeface="Times New Roman" panose="02020603050405020304" pitchFamily="18" charset="0"/>
                        </a:rPr>
                        <a:t>TỰ HỌC</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vert="vert270" anchor="ctr"/>
                </a:tc>
                <a:extLst>
                  <a:ext uri="{0D108BD9-81ED-4DB2-BD59-A6C34878D82A}">
                    <a16:rowId xmlns:a16="http://schemas.microsoft.com/office/drawing/2014/main" val="11455052"/>
                  </a:ext>
                </a:extLst>
              </a:tr>
              <a:tr h="73958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400" b="1" u="none" strike="noStrike" dirty="0" err="1">
                          <a:effectLst/>
                          <a:latin typeface="Times New Roman" panose="02020603050405020304" pitchFamily="18" charset="0"/>
                          <a:cs typeface="Times New Roman" panose="02020603050405020304" pitchFamily="18" charset="0"/>
                        </a:rPr>
                        <a:t>Lý</a:t>
                      </a:r>
                      <a:r>
                        <a:rPr lang="en-US" sz="1400" b="1" u="none" strike="noStrike" dirty="0">
                          <a:effectLst/>
                          <a:latin typeface="Times New Roman" panose="02020603050405020304" pitchFamily="18" charset="0"/>
                          <a:cs typeface="Times New Roman" panose="02020603050405020304" pitchFamily="18" charset="0"/>
                        </a:rPr>
                        <a:t> </a:t>
                      </a:r>
                      <a:r>
                        <a:rPr lang="en-US" sz="1400" b="1" u="none" strike="noStrike" dirty="0" err="1">
                          <a:effectLst/>
                          <a:latin typeface="Times New Roman" panose="02020603050405020304" pitchFamily="18" charset="0"/>
                          <a:cs typeface="Times New Roman" panose="02020603050405020304" pitchFamily="18" charset="0"/>
                        </a:rPr>
                        <a:t>thuyết</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vert="vert270" anchor="ctr"/>
                </a:tc>
                <a:tc>
                  <a:txBody>
                    <a:bodyPr/>
                    <a:lstStyle/>
                    <a:p>
                      <a:pPr algn="ctr" fontAlgn="ctr"/>
                      <a:r>
                        <a:rPr lang="en-US" sz="1400" b="1" u="none" strike="noStrike" dirty="0" err="1">
                          <a:effectLst/>
                          <a:latin typeface="Times New Roman" panose="02020603050405020304" pitchFamily="18" charset="0"/>
                          <a:cs typeface="Times New Roman" panose="02020603050405020304" pitchFamily="18" charset="0"/>
                        </a:rPr>
                        <a:t>Thảo</a:t>
                      </a:r>
                      <a:r>
                        <a:rPr lang="en-US" sz="1400" b="1" u="none" strike="noStrike" dirty="0">
                          <a:effectLst/>
                          <a:latin typeface="Times New Roman" panose="02020603050405020304" pitchFamily="18" charset="0"/>
                          <a:cs typeface="Times New Roman" panose="02020603050405020304" pitchFamily="18" charset="0"/>
                        </a:rPr>
                        <a:t> </a:t>
                      </a:r>
                      <a:r>
                        <a:rPr lang="en-US" sz="1400" b="1" u="none" strike="noStrike" dirty="0" err="1">
                          <a:effectLst/>
                          <a:latin typeface="Times New Roman" panose="02020603050405020304" pitchFamily="18" charset="0"/>
                          <a:cs typeface="Times New Roman" panose="02020603050405020304" pitchFamily="18" charset="0"/>
                        </a:rPr>
                        <a:t>luận</a:t>
                      </a:r>
                      <a:r>
                        <a:rPr lang="en-US" sz="1400" b="1" u="none" strike="noStrike" dirty="0">
                          <a:effectLst/>
                          <a:latin typeface="Times New Roman" panose="02020603050405020304" pitchFamily="18" charset="0"/>
                          <a:cs typeface="Times New Roman" panose="02020603050405020304" pitchFamily="18" charset="0"/>
                        </a:rPr>
                        <a:t> + </a:t>
                      </a:r>
                      <a:r>
                        <a:rPr lang="en-US" sz="1400" b="1" u="none" strike="noStrike" dirty="0" err="1">
                          <a:effectLst/>
                          <a:latin typeface="Times New Roman" panose="02020603050405020304" pitchFamily="18" charset="0"/>
                          <a:cs typeface="Times New Roman" panose="02020603050405020304" pitchFamily="18" charset="0"/>
                        </a:rPr>
                        <a:t>Bài</a:t>
                      </a:r>
                      <a:r>
                        <a:rPr lang="en-US" sz="1400" b="1" u="none" strike="noStrike" dirty="0">
                          <a:effectLst/>
                          <a:latin typeface="Times New Roman" panose="02020603050405020304" pitchFamily="18" charset="0"/>
                          <a:cs typeface="Times New Roman" panose="02020603050405020304" pitchFamily="18" charset="0"/>
                        </a:rPr>
                        <a:t> </a:t>
                      </a:r>
                      <a:r>
                        <a:rPr lang="en-US" sz="1400" b="1" u="none" strike="noStrike" dirty="0" err="1">
                          <a:effectLst/>
                          <a:latin typeface="Times New Roman" panose="02020603050405020304" pitchFamily="18" charset="0"/>
                          <a:cs typeface="Times New Roman" panose="02020603050405020304" pitchFamily="18" charset="0"/>
                        </a:rPr>
                        <a:t>tập</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vert="vert270" anchor="ctr"/>
                </a:tc>
                <a:tc vMerge="1">
                  <a:txBody>
                    <a:bodyPr/>
                    <a:lstStyle/>
                    <a:p>
                      <a:endParaRPr lang="en-US"/>
                    </a:p>
                  </a:txBody>
                  <a:tcPr/>
                </a:tc>
                <a:tc vMerge="1">
                  <a:txBody>
                    <a:bodyPr/>
                    <a:lstStyle/>
                    <a:p>
                      <a:endParaRPr lang="en-US"/>
                    </a:p>
                  </a:txBody>
                  <a:tcPr/>
                </a:tc>
                <a:tc>
                  <a:txBody>
                    <a:bodyPr/>
                    <a:lstStyle/>
                    <a:p>
                      <a:pPr algn="ctr" fontAlgn="ctr"/>
                      <a:r>
                        <a:rPr lang="en-US" sz="1400" b="1" u="none" strike="noStrike" dirty="0" err="1">
                          <a:effectLst/>
                          <a:latin typeface="Times New Roman" panose="02020603050405020304" pitchFamily="18" charset="0"/>
                          <a:cs typeface="Times New Roman" panose="02020603050405020304" pitchFamily="18" charset="0"/>
                        </a:rPr>
                        <a:t>Thí</a:t>
                      </a:r>
                      <a:r>
                        <a:rPr lang="en-US" sz="1400" b="1" u="none" strike="noStrike" dirty="0">
                          <a:effectLst/>
                          <a:latin typeface="Times New Roman" panose="02020603050405020304" pitchFamily="18" charset="0"/>
                          <a:cs typeface="Times New Roman" panose="02020603050405020304" pitchFamily="18" charset="0"/>
                        </a:rPr>
                        <a:t> </a:t>
                      </a:r>
                      <a:r>
                        <a:rPr lang="en-US" sz="1400" b="1" u="none" strike="noStrike" dirty="0" err="1">
                          <a:effectLst/>
                          <a:latin typeface="Times New Roman" panose="02020603050405020304" pitchFamily="18" charset="0"/>
                          <a:cs typeface="Times New Roman" panose="02020603050405020304" pitchFamily="18" charset="0"/>
                        </a:rPr>
                        <a:t>nghiệm</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vert="vert270" anchor="ctr"/>
                </a:tc>
                <a:tc>
                  <a:txBody>
                    <a:bodyPr/>
                    <a:lstStyle/>
                    <a:p>
                      <a:pPr algn="ctr" fontAlgn="ctr"/>
                      <a:r>
                        <a:rPr lang="en-US" sz="1400" b="1" u="none" strike="noStrike" dirty="0" err="1">
                          <a:effectLst/>
                          <a:latin typeface="Times New Roman" panose="02020603050405020304" pitchFamily="18" charset="0"/>
                          <a:cs typeface="Times New Roman" panose="02020603050405020304" pitchFamily="18" charset="0"/>
                        </a:rPr>
                        <a:t>Thực</a:t>
                      </a:r>
                      <a:r>
                        <a:rPr lang="en-US" sz="1400" b="1" u="none" strike="noStrike" dirty="0">
                          <a:effectLst/>
                          <a:latin typeface="Times New Roman" panose="02020603050405020304" pitchFamily="18" charset="0"/>
                          <a:cs typeface="Times New Roman" panose="02020603050405020304" pitchFamily="18" charset="0"/>
                        </a:rPr>
                        <a:t> </a:t>
                      </a:r>
                      <a:r>
                        <a:rPr lang="en-US" sz="1400" b="1" u="none" strike="noStrike" dirty="0" err="1">
                          <a:effectLst/>
                          <a:latin typeface="Times New Roman" panose="02020603050405020304" pitchFamily="18" charset="0"/>
                          <a:cs typeface="Times New Roman" panose="02020603050405020304" pitchFamily="18" charset="0"/>
                        </a:rPr>
                        <a:t>hành</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vert="vert270" anchor="ctr"/>
                </a:tc>
                <a:tc vMerge="1">
                  <a:txBody>
                    <a:bodyPr/>
                    <a:lstStyle/>
                    <a:p>
                      <a:endParaRPr lang="en-US"/>
                    </a:p>
                  </a:txBody>
                  <a:tcPr/>
                </a:tc>
                <a:extLst>
                  <a:ext uri="{0D108BD9-81ED-4DB2-BD59-A6C34878D82A}">
                    <a16:rowId xmlns:a16="http://schemas.microsoft.com/office/drawing/2014/main" val="564917231"/>
                  </a:ext>
                </a:extLst>
              </a:tr>
              <a:tr h="167211">
                <a:tc>
                  <a:txBody>
                    <a:bodyPr/>
                    <a:lstStyle/>
                    <a:p>
                      <a:pPr algn="l" fontAlgn="b"/>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b"/>
                </a:tc>
                <a:tc>
                  <a:txBody>
                    <a:bodyPr/>
                    <a:lstStyle/>
                    <a:p>
                      <a:pPr algn="ctr"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HỌC KỲ 1</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b"/>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b"/>
                </a:tc>
                <a:tc>
                  <a:txBody>
                    <a:bodyPr/>
                    <a:lstStyle/>
                    <a:p>
                      <a:pPr algn="l" fontAlgn="b"/>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b"/>
                </a:tc>
                <a:tc>
                  <a:txBody>
                    <a:bodyPr/>
                    <a:lstStyle/>
                    <a:p>
                      <a:pPr algn="l"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1219274936"/>
                  </a:ext>
                </a:extLst>
              </a:tr>
              <a:tr h="167211">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Đại</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số</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tuyến</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tính</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BS0.101.3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895350553"/>
                  </a:ext>
                </a:extLst>
              </a:tr>
              <a:tr h="167211">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Giải</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tích</a:t>
                      </a:r>
                      <a:r>
                        <a:rPr lang="en-US" sz="1400" u="none" strike="noStrike" dirty="0">
                          <a:effectLst/>
                          <a:latin typeface="Times New Roman" panose="02020603050405020304" pitchFamily="18" charset="0"/>
                          <a:cs typeface="Times New Roman" panose="02020603050405020304" pitchFamily="18" charset="0"/>
                        </a:rPr>
                        <a:t> 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BS0.004.3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4253794353"/>
                  </a:ext>
                </a:extLst>
              </a:tr>
              <a:tr h="334423">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Công nghệ số và ứng dụng trí tuệ nhân tạo</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IT0.007.3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2577871669"/>
                  </a:ext>
                </a:extLst>
              </a:tr>
              <a:tr h="167211">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4</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Nhập môn ngành</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BS1.104.3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3127613023"/>
                  </a:ext>
                </a:extLst>
              </a:tr>
              <a:tr h="167211">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vi-VN" sz="1400" u="none" strike="noStrike">
                          <a:effectLst/>
                          <a:latin typeface="Times New Roman" panose="02020603050405020304" pitchFamily="18" charset="0"/>
                          <a:cs typeface="Times New Roman" panose="02020603050405020304" pitchFamily="18" charset="0"/>
                        </a:rPr>
                        <a:t>Tin học đại cương</a:t>
                      </a:r>
                      <a:endParaRPr lang="vi-V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IT0.005.3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1570823230"/>
                  </a:ext>
                </a:extLst>
              </a:tr>
              <a:tr h="167211">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Triết học Mác-Lênin</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PS0.001.3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26</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4034040918"/>
                  </a:ext>
                </a:extLst>
              </a:tr>
              <a:tr h="167211">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7</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Giáo</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dục</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thể</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chất</a:t>
                      </a:r>
                      <a:r>
                        <a:rPr lang="en-US" sz="1400" u="none" strike="noStrike" dirty="0">
                          <a:effectLst/>
                          <a:latin typeface="Times New Roman" panose="02020603050405020304" pitchFamily="18" charset="0"/>
                          <a:cs typeface="Times New Roman" panose="02020603050405020304" pitchFamily="18" charset="0"/>
                        </a:rPr>
                        <a:t> F1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PE0.001.1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3138831567"/>
                  </a:ext>
                </a:extLst>
              </a:tr>
              <a:tr h="167211">
                <a:tc>
                  <a:txBody>
                    <a:bodyPr/>
                    <a:lstStyle/>
                    <a:p>
                      <a:pPr algn="ctr" fontAlgn="ctr"/>
                      <a:r>
                        <a:rPr lang="en-US" sz="1000" u="none" strike="noStrike">
                          <a:effectLst/>
                        </a:rPr>
                        <a:t> </a:t>
                      </a:r>
                      <a:endParaRPr lang="en-US" sz="1000" b="1" i="0" u="none" strike="noStrike">
                        <a:solidFill>
                          <a:srgbClr val="000000"/>
                        </a:solidFill>
                        <a:effectLst/>
                        <a:latin typeface="Times New Roman" panose="02020603050405020304" pitchFamily="18" charset="0"/>
                      </a:endParaRPr>
                    </a:p>
                  </a:txBody>
                  <a:tcPr marL="6431" marR="6431" marT="6431" marB="0" vert="vert270" anchor="ctr"/>
                </a:tc>
                <a:tc>
                  <a:txBody>
                    <a:bodyPr/>
                    <a:lstStyle/>
                    <a:p>
                      <a:pPr algn="ctr" fontAlgn="ctr"/>
                      <a:r>
                        <a:rPr lang="en-US" sz="1000" u="none" strike="noStrike">
                          <a:effectLst/>
                        </a:rPr>
                        <a:t>Cộng</a:t>
                      </a:r>
                      <a:endParaRPr lang="en-US" sz="1000" b="1" i="0" u="none" strike="noStrike">
                        <a:solidFill>
                          <a:srgbClr val="000000"/>
                        </a:solidFill>
                        <a:effectLst/>
                        <a:latin typeface="Times New Roman" panose="02020603050405020304" pitchFamily="18" charset="0"/>
                      </a:endParaRPr>
                    </a:p>
                  </a:txBody>
                  <a:tcPr marL="6431" marR="6431" marT="6431" marB="0" anchor="ctr"/>
                </a:tc>
                <a:tc>
                  <a:txBody>
                    <a:bodyPr/>
                    <a:lstStyle/>
                    <a:p>
                      <a:pPr algn="l" fontAlgn="ctr"/>
                      <a:r>
                        <a:rPr lang="en-US" sz="1000" u="none" strike="noStrike">
                          <a:effectLst/>
                        </a:rPr>
                        <a:t> </a:t>
                      </a:r>
                      <a:endParaRPr lang="en-US" sz="1000" b="1"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19</a:t>
                      </a:r>
                      <a:endParaRPr lang="en-US" sz="1000" b="1"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extLst>
                  <a:ext uri="{0D108BD9-81ED-4DB2-BD59-A6C34878D82A}">
                    <a16:rowId xmlns:a16="http://schemas.microsoft.com/office/drawing/2014/main" val="1433444616"/>
                  </a:ext>
                </a:extLst>
              </a:tr>
              <a:tr h="167211">
                <a:tc>
                  <a:txBody>
                    <a:bodyPr/>
                    <a:lstStyle/>
                    <a:p>
                      <a:pPr algn="l" fontAlgn="b"/>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b"/>
                </a:tc>
                <a:tc>
                  <a:txBody>
                    <a:bodyPr/>
                    <a:lstStyle/>
                    <a:p>
                      <a:pPr algn="ctr"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HỌC KỲ 2</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0" i="0" u="none" strike="noStrike" dirty="0">
                        <a:solidFill>
                          <a:srgbClr val="0000CC"/>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167803108"/>
                  </a:ext>
                </a:extLst>
              </a:tr>
              <a:tr h="167211">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7</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Giáo dục quốc phòng - An ninh F1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DE0.001.3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45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3713703022"/>
                  </a:ext>
                </a:extLst>
              </a:tr>
              <a:tr h="167211">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8</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Giáo</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dục</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quốc</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phòng</a:t>
                      </a:r>
                      <a:r>
                        <a:rPr lang="en-US" sz="1400" u="none" strike="noStrike" dirty="0">
                          <a:effectLst/>
                          <a:latin typeface="Times New Roman" panose="02020603050405020304" pitchFamily="18" charset="0"/>
                          <a:cs typeface="Times New Roman" panose="02020603050405020304" pitchFamily="18" charset="0"/>
                        </a:rPr>
                        <a:t> - An </a:t>
                      </a:r>
                      <a:r>
                        <a:rPr lang="en-US" sz="1400" u="none" strike="noStrike" dirty="0" err="1">
                          <a:effectLst/>
                          <a:latin typeface="Times New Roman" panose="02020603050405020304" pitchFamily="18" charset="0"/>
                          <a:cs typeface="Times New Roman" panose="02020603050405020304" pitchFamily="18" charset="0"/>
                        </a:rPr>
                        <a:t>ninh</a:t>
                      </a:r>
                      <a:r>
                        <a:rPr lang="en-US" sz="1400" u="none" strike="noStrike" dirty="0">
                          <a:effectLst/>
                          <a:latin typeface="Times New Roman" panose="02020603050405020304" pitchFamily="18" charset="0"/>
                          <a:cs typeface="Times New Roman" panose="02020603050405020304" pitchFamily="18" charset="0"/>
                        </a:rPr>
                        <a:t> F2</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DE0.002.2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3407584624"/>
                  </a:ext>
                </a:extLst>
              </a:tr>
              <a:tr h="167211">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Giáo</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dục</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quốc</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phòng</a:t>
                      </a:r>
                      <a:r>
                        <a:rPr lang="en-US" sz="1400" u="none" strike="noStrike" dirty="0">
                          <a:effectLst/>
                          <a:latin typeface="Times New Roman" panose="02020603050405020304" pitchFamily="18" charset="0"/>
                          <a:cs typeface="Times New Roman" panose="02020603050405020304" pitchFamily="18" charset="0"/>
                        </a:rPr>
                        <a:t> - An </a:t>
                      </a:r>
                      <a:r>
                        <a:rPr lang="en-US" sz="1400" u="none" strike="noStrike" dirty="0" err="1">
                          <a:effectLst/>
                          <a:latin typeface="Times New Roman" panose="02020603050405020304" pitchFamily="18" charset="0"/>
                          <a:cs typeface="Times New Roman" panose="02020603050405020304" pitchFamily="18" charset="0"/>
                        </a:rPr>
                        <a:t>ninh</a:t>
                      </a:r>
                      <a:r>
                        <a:rPr lang="en-US" sz="1400" u="none" strike="noStrike" dirty="0">
                          <a:effectLst/>
                          <a:latin typeface="Times New Roman" panose="02020603050405020304" pitchFamily="18" charset="0"/>
                          <a:cs typeface="Times New Roman" panose="02020603050405020304" pitchFamily="18" charset="0"/>
                        </a:rPr>
                        <a:t> F3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DE0.003.1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1134482437"/>
                  </a:ext>
                </a:extLst>
              </a:tr>
              <a:tr h="168819">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Giáo</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dục</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quốc</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phòng</a:t>
                      </a:r>
                      <a:r>
                        <a:rPr lang="en-US" sz="1400" u="none" strike="noStrike" dirty="0">
                          <a:effectLst/>
                          <a:latin typeface="Times New Roman" panose="02020603050405020304" pitchFamily="18" charset="0"/>
                          <a:cs typeface="Times New Roman" panose="02020603050405020304" pitchFamily="18" charset="0"/>
                        </a:rPr>
                        <a:t> - An </a:t>
                      </a:r>
                      <a:r>
                        <a:rPr lang="en-US" sz="1400" u="none" strike="noStrike" dirty="0" err="1">
                          <a:effectLst/>
                          <a:latin typeface="Times New Roman" panose="02020603050405020304" pitchFamily="18" charset="0"/>
                          <a:cs typeface="Times New Roman" panose="02020603050405020304" pitchFamily="18" charset="0"/>
                        </a:rPr>
                        <a:t>ninh</a:t>
                      </a:r>
                      <a:r>
                        <a:rPr lang="en-US" sz="1400" u="none" strike="noStrike" dirty="0">
                          <a:effectLst/>
                          <a:latin typeface="Times New Roman" panose="02020603050405020304" pitchFamily="18" charset="0"/>
                          <a:cs typeface="Times New Roman" panose="02020603050405020304" pitchFamily="18" charset="0"/>
                        </a:rPr>
                        <a:t> F4</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DE0.004.2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1677696686"/>
                  </a:ext>
                </a:extLst>
              </a:tr>
              <a:tr h="168819">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Kinh</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tế</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chính</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trị</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Mác-Lênin</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PS0.002.2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18</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1931537460"/>
                  </a:ext>
                </a:extLst>
              </a:tr>
              <a:tr h="168819">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Giải</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tích</a:t>
                      </a:r>
                      <a:r>
                        <a:rPr lang="en-US" sz="1400" u="none" strike="noStrike" dirty="0">
                          <a:effectLst/>
                          <a:latin typeface="Times New Roman" panose="02020603050405020304" pitchFamily="18" charset="0"/>
                          <a:cs typeface="Times New Roman" panose="02020603050405020304" pitchFamily="18" charset="0"/>
                        </a:rPr>
                        <a:t> 2</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BS0.005.3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3717028614"/>
                  </a:ext>
                </a:extLst>
              </a:tr>
              <a:tr h="168819">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vi-VN" sz="1400" u="none" strike="noStrike" dirty="0">
                          <a:effectLst/>
                          <a:latin typeface="Times New Roman" panose="02020603050405020304" pitchFamily="18" charset="0"/>
                          <a:cs typeface="Times New Roman" panose="02020603050405020304" pitchFamily="18" charset="0"/>
                        </a:rPr>
                        <a:t>Lập trình hướng đối tượng</a:t>
                      </a:r>
                      <a:endParaRPr lang="vi-V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IT1.108.3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15</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90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2765193093"/>
                  </a:ext>
                </a:extLst>
              </a:tr>
              <a:tr h="168819">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14</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Giáo</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dục</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thể</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chất</a:t>
                      </a:r>
                      <a:r>
                        <a:rPr lang="en-US" sz="1400" u="none" strike="noStrike" dirty="0">
                          <a:effectLst/>
                          <a:latin typeface="Times New Roman" panose="02020603050405020304" pitchFamily="18" charset="0"/>
                          <a:cs typeface="Times New Roman" panose="02020603050405020304" pitchFamily="18" charset="0"/>
                        </a:rPr>
                        <a:t> F2</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PE0.002.1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2569339880"/>
                  </a:ext>
                </a:extLst>
              </a:tr>
              <a:tr h="168819">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Toán rời rạc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BS1.102.3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90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31" marR="6431" marT="6431" marB="0" anchor="ctr"/>
                </a:tc>
                <a:extLst>
                  <a:ext uri="{0D108BD9-81ED-4DB2-BD59-A6C34878D82A}">
                    <a16:rowId xmlns:a16="http://schemas.microsoft.com/office/drawing/2014/main" val="1521012413"/>
                  </a:ext>
                </a:extLst>
              </a:tr>
              <a:tr h="168819">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Cộng</a:t>
                      </a:r>
                      <a:endParaRPr lang="en-US" sz="1000" b="1"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b"/>
                      <a:r>
                        <a:rPr lang="en-US" sz="1000" u="none" strike="noStrike">
                          <a:effectLst/>
                        </a:rPr>
                        <a:t> </a:t>
                      </a:r>
                      <a:endParaRPr lang="en-US" sz="1000" b="1" i="0" u="none" strike="noStrike">
                        <a:solidFill>
                          <a:srgbClr val="000000"/>
                        </a:solidFill>
                        <a:effectLst/>
                        <a:latin typeface="Times New Roman" panose="02020603050405020304" pitchFamily="18" charset="0"/>
                      </a:endParaRPr>
                    </a:p>
                  </a:txBody>
                  <a:tcPr marL="6431" marR="6431" marT="6431" marB="0" anchor="b"/>
                </a:tc>
                <a:tc>
                  <a:txBody>
                    <a:bodyPr/>
                    <a:lstStyle/>
                    <a:p>
                      <a:pPr algn="ctr" fontAlgn="b"/>
                      <a:r>
                        <a:rPr lang="en-US" sz="1000" u="none" strike="noStrike">
                          <a:effectLst/>
                        </a:rPr>
                        <a:t>20</a:t>
                      </a:r>
                      <a:endParaRPr lang="en-US" sz="1000" b="1" i="0" u="none" strike="noStrike">
                        <a:solidFill>
                          <a:srgbClr val="000000"/>
                        </a:solidFill>
                        <a:effectLst/>
                        <a:latin typeface="Times New Roman" panose="02020603050405020304" pitchFamily="18" charset="0"/>
                      </a:endParaRPr>
                    </a:p>
                  </a:txBody>
                  <a:tcPr marL="6431" marR="6431" marT="6431" marB="0" anchor="b"/>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a:effectLst/>
                        </a:rPr>
                        <a:t> </a:t>
                      </a:r>
                      <a:endParaRPr lang="en-US" sz="1000" b="0" i="0" u="none" strike="noStrike">
                        <a:solidFill>
                          <a:srgbClr val="000000"/>
                        </a:solidFill>
                        <a:effectLst/>
                        <a:latin typeface="Times New Roman" panose="02020603050405020304" pitchFamily="18" charset="0"/>
                      </a:endParaRPr>
                    </a:p>
                  </a:txBody>
                  <a:tcPr marL="6431" marR="6431" marT="6431" marB="0" anchor="ctr"/>
                </a:tc>
                <a:tc>
                  <a:txBody>
                    <a:bodyPr/>
                    <a:lstStyle/>
                    <a:p>
                      <a:pPr algn="ctr" fontAlgn="ctr"/>
                      <a:r>
                        <a:rPr lang="en-US" sz="1000" u="none" strike="noStrike" dirty="0">
                          <a:effectLst/>
                        </a:rPr>
                        <a:t> </a:t>
                      </a:r>
                      <a:endParaRPr lang="en-US" sz="1000" b="0" i="0" u="none" strike="noStrike" dirty="0">
                        <a:solidFill>
                          <a:srgbClr val="000000"/>
                        </a:solidFill>
                        <a:effectLst/>
                        <a:latin typeface="Times New Roman" panose="02020603050405020304" pitchFamily="18" charset="0"/>
                      </a:endParaRPr>
                    </a:p>
                  </a:txBody>
                  <a:tcPr marL="6431" marR="6431" marT="6431" marB="0" anchor="ctr"/>
                </a:tc>
                <a:extLst>
                  <a:ext uri="{0D108BD9-81ED-4DB2-BD59-A6C34878D82A}">
                    <a16:rowId xmlns:a16="http://schemas.microsoft.com/office/drawing/2014/main" val="2662467949"/>
                  </a:ext>
                </a:extLst>
              </a:tr>
            </a:tbl>
          </a:graphicData>
        </a:graphic>
      </p:graphicFrame>
    </p:spTree>
    <p:extLst>
      <p:ext uri="{BB962C8B-B14F-4D97-AF65-F5344CB8AC3E}">
        <p14:creationId xmlns:p14="http://schemas.microsoft.com/office/powerpoint/2010/main" val="10371033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NĂM THỨ 2</a:t>
            </a:r>
            <a:endParaRPr lang="en-US" dirty="0"/>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graphicFrame>
        <p:nvGraphicFramePr>
          <p:cNvPr id="11" name="Content Placeholder 10"/>
          <p:cNvGraphicFramePr>
            <a:graphicFrameLocks noGrp="1"/>
          </p:cNvGraphicFramePr>
          <p:nvPr>
            <p:ph idx="1"/>
            <p:extLst>
              <p:ext uri="{D42A27DB-BD31-4B8C-83A1-F6EECF244321}">
                <p14:modId xmlns:p14="http://schemas.microsoft.com/office/powerpoint/2010/main" val="2757158293"/>
              </p:ext>
            </p:extLst>
          </p:nvPr>
        </p:nvGraphicFramePr>
        <p:xfrm>
          <a:off x="1157000" y="1670526"/>
          <a:ext cx="10501600" cy="4246563"/>
        </p:xfrm>
        <a:graphic>
          <a:graphicData uri="http://schemas.openxmlformats.org/drawingml/2006/table">
            <a:tbl>
              <a:tblPr>
                <a:tableStyleId>{5C22544A-7EE6-4342-B048-85BDC9FD1C3A}</a:tableStyleId>
              </a:tblPr>
              <a:tblGrid>
                <a:gridCol w="493665">
                  <a:extLst>
                    <a:ext uri="{9D8B030D-6E8A-4147-A177-3AD203B41FA5}">
                      <a16:colId xmlns:a16="http://schemas.microsoft.com/office/drawing/2014/main" val="2908663454"/>
                    </a:ext>
                  </a:extLst>
                </a:gridCol>
                <a:gridCol w="3882002">
                  <a:extLst>
                    <a:ext uri="{9D8B030D-6E8A-4147-A177-3AD203B41FA5}">
                      <a16:colId xmlns:a16="http://schemas.microsoft.com/office/drawing/2014/main" val="3581187286"/>
                    </a:ext>
                  </a:extLst>
                </a:gridCol>
                <a:gridCol w="1368799">
                  <a:extLst>
                    <a:ext uri="{9D8B030D-6E8A-4147-A177-3AD203B41FA5}">
                      <a16:colId xmlns:a16="http://schemas.microsoft.com/office/drawing/2014/main" val="1443155915"/>
                    </a:ext>
                  </a:extLst>
                </a:gridCol>
                <a:gridCol w="538544">
                  <a:extLst>
                    <a:ext uri="{9D8B030D-6E8A-4147-A177-3AD203B41FA5}">
                      <a16:colId xmlns:a16="http://schemas.microsoft.com/office/drawing/2014/main" val="2575991971"/>
                    </a:ext>
                  </a:extLst>
                </a:gridCol>
                <a:gridCol w="583422">
                  <a:extLst>
                    <a:ext uri="{9D8B030D-6E8A-4147-A177-3AD203B41FA5}">
                      <a16:colId xmlns:a16="http://schemas.microsoft.com/office/drawing/2014/main" val="3822893615"/>
                    </a:ext>
                  </a:extLst>
                </a:gridCol>
                <a:gridCol w="650741">
                  <a:extLst>
                    <a:ext uri="{9D8B030D-6E8A-4147-A177-3AD203B41FA5}">
                      <a16:colId xmlns:a16="http://schemas.microsoft.com/office/drawing/2014/main" val="1696520302"/>
                    </a:ext>
                  </a:extLst>
                </a:gridCol>
                <a:gridCol w="628301">
                  <a:extLst>
                    <a:ext uri="{9D8B030D-6E8A-4147-A177-3AD203B41FA5}">
                      <a16:colId xmlns:a16="http://schemas.microsoft.com/office/drawing/2014/main" val="977883950"/>
                    </a:ext>
                  </a:extLst>
                </a:gridCol>
                <a:gridCol w="560982">
                  <a:extLst>
                    <a:ext uri="{9D8B030D-6E8A-4147-A177-3AD203B41FA5}">
                      <a16:colId xmlns:a16="http://schemas.microsoft.com/office/drawing/2014/main" val="2496649933"/>
                    </a:ext>
                  </a:extLst>
                </a:gridCol>
                <a:gridCol w="560982">
                  <a:extLst>
                    <a:ext uri="{9D8B030D-6E8A-4147-A177-3AD203B41FA5}">
                      <a16:colId xmlns:a16="http://schemas.microsoft.com/office/drawing/2014/main" val="3795967492"/>
                    </a:ext>
                  </a:extLst>
                </a:gridCol>
                <a:gridCol w="605861">
                  <a:extLst>
                    <a:ext uri="{9D8B030D-6E8A-4147-A177-3AD203B41FA5}">
                      <a16:colId xmlns:a16="http://schemas.microsoft.com/office/drawing/2014/main" val="1884854393"/>
                    </a:ext>
                  </a:extLst>
                </a:gridCol>
                <a:gridCol w="628301">
                  <a:extLst>
                    <a:ext uri="{9D8B030D-6E8A-4147-A177-3AD203B41FA5}">
                      <a16:colId xmlns:a16="http://schemas.microsoft.com/office/drawing/2014/main" val="4046370067"/>
                    </a:ext>
                  </a:extLst>
                </a:gridCol>
              </a:tblGrid>
              <a:tr h="200025">
                <a:tc>
                  <a:txBody>
                    <a:bodyPr/>
                    <a:lstStyle/>
                    <a:p>
                      <a:pPr algn="l"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HỌC KỲ 3</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91687823"/>
                  </a:ext>
                </a:extLst>
              </a:tr>
              <a:tr h="200025">
                <a:tc>
                  <a:txBody>
                    <a:bodyPr/>
                    <a:lstStyle/>
                    <a:p>
                      <a:pPr algn="ctr" fontAlgn="b"/>
                      <a:r>
                        <a:rPr lang="en-US" sz="1400" u="none" strike="noStrike" dirty="0">
                          <a:effectLst/>
                          <a:latin typeface="Times New Roman" panose="02020603050405020304" pitchFamily="18" charset="0"/>
                          <a:cs typeface="Times New Roman" panose="02020603050405020304" pitchFamily="18" charset="0"/>
                        </a:rPr>
                        <a:t>16</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l" fontAlgn="b"/>
                      <a:r>
                        <a:rPr lang="vi-VN" sz="1400" u="none" strike="noStrike">
                          <a:effectLst/>
                          <a:latin typeface="Times New Roman" panose="02020603050405020304" pitchFamily="18" charset="0"/>
                          <a:cs typeface="Times New Roman" panose="02020603050405020304" pitchFamily="18" charset="0"/>
                        </a:rPr>
                        <a:t>Pháp luật đại cương</a:t>
                      </a:r>
                      <a:endParaRPr lang="vi-V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TE0.914.1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956730471"/>
                  </a:ext>
                </a:extLst>
              </a:tr>
              <a:tr h="249714">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17</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Giải</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tích</a:t>
                      </a:r>
                      <a:r>
                        <a:rPr lang="en-US" sz="1400" u="none" strike="noStrike" dirty="0">
                          <a:effectLst/>
                          <a:latin typeface="Times New Roman" panose="02020603050405020304" pitchFamily="18" charset="0"/>
                          <a:cs typeface="Times New Roman" panose="02020603050405020304" pitchFamily="18" charset="0"/>
                        </a:rPr>
                        <a:t> 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BS0.006.3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188027167"/>
                  </a:ext>
                </a:extLst>
              </a:tr>
              <a:tr h="200025">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18</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Lý</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thuyết</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xác</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suất</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BS1.103.3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695747839"/>
                  </a:ext>
                </a:extLst>
              </a:tr>
              <a:tr h="200025">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19</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fontAlgn="ctr"/>
                      <a:r>
                        <a:rPr lang="en-US" sz="1400" u="none" strike="noStrike" dirty="0" err="1">
                          <a:effectLst/>
                          <a:latin typeface="Times New Roman" panose="02020603050405020304" pitchFamily="18" charset="0"/>
                          <a:cs typeface="Times New Roman" panose="02020603050405020304" pitchFamily="18" charset="0"/>
                        </a:rPr>
                        <a:t>Cấu</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trúc</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dữ</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liệu</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và</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giải</a:t>
                      </a:r>
                      <a:r>
                        <a:rPr lang="en-US" sz="1400" u="none" strike="noStrike" dirty="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thuật</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IT1.109.3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262991187"/>
                  </a:ext>
                </a:extLst>
              </a:tr>
              <a:tr h="200025">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fontAlgn="ctr"/>
                      <a:r>
                        <a:rPr lang="vi-VN" sz="1400" u="none" strike="noStrike" dirty="0">
                          <a:effectLst/>
                          <a:latin typeface="Times New Roman" panose="02020603050405020304" pitchFamily="18" charset="0"/>
                          <a:cs typeface="Times New Roman" panose="02020603050405020304" pitchFamily="18" charset="0"/>
                        </a:rPr>
                        <a:t>Đại số đại cương</a:t>
                      </a:r>
                      <a:endParaRPr lang="vi-V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BS1.107.3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165635584"/>
                  </a:ext>
                </a:extLst>
              </a:tr>
              <a:tr h="200025">
                <a:tc>
                  <a:txBody>
                    <a:bodyPr/>
                    <a:lstStyle/>
                    <a:p>
                      <a:pPr algn="ctr" fontAlgn="b"/>
                      <a:r>
                        <a:rPr lang="en-US" sz="1400" u="none" strike="noStrike">
                          <a:effectLst/>
                          <a:latin typeface="Times New Roman" panose="02020603050405020304" pitchFamily="18" charset="0"/>
                          <a:cs typeface="Times New Roman" panose="02020603050405020304" pitchFamily="18" charset="0"/>
                        </a:rPr>
                        <a:t>21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l" fontAlgn="ctr"/>
                      <a:r>
                        <a:rPr lang="vi-VN" sz="1400" u="none" strike="noStrike">
                          <a:effectLst/>
                          <a:latin typeface="Times New Roman" panose="02020603050405020304" pitchFamily="18" charset="0"/>
                          <a:cs typeface="Times New Roman" panose="02020603050405020304" pitchFamily="18" charset="0"/>
                        </a:rPr>
                        <a:t>Tư tưởng Hồ Chí Minh</a:t>
                      </a:r>
                      <a:endParaRPr lang="vi-V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PS0.005.2</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18</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322957464"/>
                  </a:ext>
                </a:extLst>
              </a:tr>
              <a:tr h="200025">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Chủ nghĩa xã hội khoa học</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PS0.003.2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18</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66078561"/>
                  </a:ext>
                </a:extLst>
              </a:tr>
              <a:tr h="200025">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Giáo dục thể chất F3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PE0.003.1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64420623"/>
                  </a:ext>
                </a:extLst>
              </a:tr>
              <a:tr h="200025">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Cộng</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18</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528841133"/>
                  </a:ext>
                </a:extLst>
              </a:tr>
              <a:tr h="200025">
                <a:tc>
                  <a:txBody>
                    <a:bodyPr/>
                    <a:lstStyle/>
                    <a:p>
                      <a:pPr algn="l"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HỌC KỲ 4</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94988941"/>
                  </a:ext>
                </a:extLst>
              </a:tr>
              <a:tr h="200025">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24</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fontAlgn="b"/>
                      <a:r>
                        <a:rPr lang="en-US" sz="1400" u="none" strike="noStrike" dirty="0" err="1" smtClean="0">
                          <a:effectLst/>
                          <a:latin typeface="Times New Roman" panose="02020603050405020304" pitchFamily="18" charset="0"/>
                          <a:cs typeface="Times New Roman" panose="02020603050405020304" pitchFamily="18" charset="0"/>
                        </a:rPr>
                        <a:t>Tiếng</a:t>
                      </a:r>
                      <a:r>
                        <a:rPr lang="en-US" sz="1400" u="none" strike="noStrike" dirty="0" smtClean="0">
                          <a:effectLst/>
                          <a:latin typeface="Times New Roman" panose="02020603050405020304" pitchFamily="18" charset="0"/>
                          <a:cs typeface="Times New Roman" panose="02020603050405020304" pitchFamily="18" charset="0"/>
                        </a:rPr>
                        <a:t> </a:t>
                      </a:r>
                      <a:r>
                        <a:rPr lang="en-US" sz="1400" u="none" strike="noStrike" dirty="0" err="1">
                          <a:effectLst/>
                          <a:latin typeface="Times New Roman" panose="02020603050405020304" pitchFamily="18" charset="0"/>
                          <a:cs typeface="Times New Roman" panose="02020603050405020304" pitchFamily="18" charset="0"/>
                        </a:rPr>
                        <a:t>Anh</a:t>
                      </a:r>
                      <a:r>
                        <a:rPr lang="en-US" sz="1400" u="none" strike="noStrike" dirty="0">
                          <a:effectLst/>
                          <a:latin typeface="Times New Roman" panose="02020603050405020304" pitchFamily="18" charset="0"/>
                          <a:cs typeface="Times New Roman" panose="02020603050405020304" pitchFamily="18" charset="0"/>
                        </a:rPr>
                        <a:t> B1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BS0.601.4</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4</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45</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120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61505551"/>
                  </a:ext>
                </a:extLst>
              </a:tr>
              <a:tr h="200025">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Lịch sử Đảng Cộng sản Việt Nam</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PS0.004.2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21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18</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347138049"/>
                  </a:ext>
                </a:extLst>
              </a:tr>
              <a:tr h="200025">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26</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Kỹ thuật lập trình Python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BS1.109.3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15</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2467478157"/>
                  </a:ext>
                </a:extLst>
              </a:tr>
              <a:tr h="200025">
                <a:tc>
                  <a:txBody>
                    <a:bodyPr/>
                    <a:lstStyle/>
                    <a:p>
                      <a:pPr algn="ctr" fontAlgn="b"/>
                      <a:r>
                        <a:rPr lang="en-US" sz="1400" u="none" strike="noStrike">
                          <a:effectLst/>
                          <a:latin typeface="Times New Roman" panose="02020603050405020304" pitchFamily="18" charset="0"/>
                          <a:cs typeface="Times New Roman" panose="02020603050405020304" pitchFamily="18" charset="0"/>
                        </a:rPr>
                        <a:t>27</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Thống kê toán học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BS1.105.3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324493739"/>
                  </a:ext>
                </a:extLst>
              </a:tr>
              <a:tr h="240189">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28</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Giải tích hàm</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BS1.008.3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311411170"/>
                  </a:ext>
                </a:extLst>
              </a:tr>
              <a:tr h="200025">
                <a:tc>
                  <a:txBody>
                    <a:bodyPr/>
                    <a:lstStyle/>
                    <a:p>
                      <a:pPr algn="ctr" fontAlgn="b"/>
                      <a:r>
                        <a:rPr lang="en-US" sz="1400" u="none" strike="noStrike">
                          <a:effectLst/>
                          <a:latin typeface="Times New Roman" panose="02020603050405020304" pitchFamily="18" charset="0"/>
                          <a:cs typeface="Times New Roman" panose="02020603050405020304" pitchFamily="18" charset="0"/>
                        </a:rPr>
                        <a:t>29</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l" fontAlgn="ctr"/>
                      <a:r>
                        <a:rPr lang="vi-VN" sz="1400" u="none" strike="noStrike">
                          <a:effectLst/>
                          <a:latin typeface="Times New Roman" panose="02020603050405020304" pitchFamily="18" charset="0"/>
                          <a:cs typeface="Times New Roman" panose="02020603050405020304" pitchFamily="18" charset="0"/>
                        </a:rPr>
                        <a:t>Cơ sở dữ liệu</a:t>
                      </a:r>
                      <a:endParaRPr lang="vi-V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IT1.110.3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10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554720073"/>
                  </a:ext>
                </a:extLst>
              </a:tr>
              <a:tr h="200025">
                <a:tc>
                  <a:txBody>
                    <a:bodyPr/>
                    <a:lstStyle/>
                    <a:p>
                      <a:pPr algn="ctr" fontAlgn="b"/>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Giáo dục thể chất F4</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PE0.004.1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97688038"/>
                  </a:ext>
                </a:extLst>
              </a:tr>
              <a:tr h="200025">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Cộng</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19</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b"/>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829287953"/>
                  </a:ext>
                </a:extLst>
              </a:tr>
            </a:tbl>
          </a:graphicData>
        </a:graphic>
      </p:graphicFrame>
    </p:spTree>
    <p:extLst>
      <p:ext uri="{BB962C8B-B14F-4D97-AF65-F5344CB8AC3E}">
        <p14:creationId xmlns:p14="http://schemas.microsoft.com/office/powerpoint/2010/main" val="10750324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NĂM THỨ 3</a:t>
            </a:r>
            <a:endParaRPr lang="en-US" dirty="0"/>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graphicFrame>
        <p:nvGraphicFramePr>
          <p:cNvPr id="11" name="Content Placeholder 10"/>
          <p:cNvGraphicFramePr>
            <a:graphicFrameLocks noGrp="1"/>
          </p:cNvGraphicFramePr>
          <p:nvPr>
            <p:ph idx="1"/>
            <p:extLst>
              <p:ext uri="{D42A27DB-BD31-4B8C-83A1-F6EECF244321}">
                <p14:modId xmlns:p14="http://schemas.microsoft.com/office/powerpoint/2010/main" val="2056759566"/>
              </p:ext>
            </p:extLst>
          </p:nvPr>
        </p:nvGraphicFramePr>
        <p:xfrm>
          <a:off x="1066800" y="1600201"/>
          <a:ext cx="10515602" cy="4879048"/>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3485211375"/>
                    </a:ext>
                  </a:extLst>
                </a:gridCol>
                <a:gridCol w="4343400">
                  <a:extLst>
                    <a:ext uri="{9D8B030D-6E8A-4147-A177-3AD203B41FA5}">
                      <a16:colId xmlns:a16="http://schemas.microsoft.com/office/drawing/2014/main" val="726327119"/>
                    </a:ext>
                  </a:extLst>
                </a:gridCol>
                <a:gridCol w="1524000">
                  <a:extLst>
                    <a:ext uri="{9D8B030D-6E8A-4147-A177-3AD203B41FA5}">
                      <a16:colId xmlns:a16="http://schemas.microsoft.com/office/drawing/2014/main" val="2459206618"/>
                    </a:ext>
                  </a:extLst>
                </a:gridCol>
                <a:gridCol w="685800">
                  <a:extLst>
                    <a:ext uri="{9D8B030D-6E8A-4147-A177-3AD203B41FA5}">
                      <a16:colId xmlns:a16="http://schemas.microsoft.com/office/drawing/2014/main" val="3541026892"/>
                    </a:ext>
                  </a:extLst>
                </a:gridCol>
                <a:gridCol w="737936">
                  <a:extLst>
                    <a:ext uri="{9D8B030D-6E8A-4147-A177-3AD203B41FA5}">
                      <a16:colId xmlns:a16="http://schemas.microsoft.com/office/drawing/2014/main" val="23974746"/>
                    </a:ext>
                  </a:extLst>
                </a:gridCol>
                <a:gridCol w="486368">
                  <a:extLst>
                    <a:ext uri="{9D8B030D-6E8A-4147-A177-3AD203B41FA5}">
                      <a16:colId xmlns:a16="http://schemas.microsoft.com/office/drawing/2014/main" val="324977500"/>
                    </a:ext>
                  </a:extLst>
                </a:gridCol>
                <a:gridCol w="469597">
                  <a:extLst>
                    <a:ext uri="{9D8B030D-6E8A-4147-A177-3AD203B41FA5}">
                      <a16:colId xmlns:a16="http://schemas.microsoft.com/office/drawing/2014/main" val="1214298170"/>
                    </a:ext>
                  </a:extLst>
                </a:gridCol>
                <a:gridCol w="419283">
                  <a:extLst>
                    <a:ext uri="{9D8B030D-6E8A-4147-A177-3AD203B41FA5}">
                      <a16:colId xmlns:a16="http://schemas.microsoft.com/office/drawing/2014/main" val="2297888218"/>
                    </a:ext>
                  </a:extLst>
                </a:gridCol>
                <a:gridCol w="452824">
                  <a:extLst>
                    <a:ext uri="{9D8B030D-6E8A-4147-A177-3AD203B41FA5}">
                      <a16:colId xmlns:a16="http://schemas.microsoft.com/office/drawing/2014/main" val="453301993"/>
                    </a:ext>
                  </a:extLst>
                </a:gridCol>
                <a:gridCol w="469597">
                  <a:extLst>
                    <a:ext uri="{9D8B030D-6E8A-4147-A177-3AD203B41FA5}">
                      <a16:colId xmlns:a16="http://schemas.microsoft.com/office/drawing/2014/main" val="3317693997"/>
                    </a:ext>
                  </a:extLst>
                </a:gridCol>
                <a:gridCol w="469597">
                  <a:extLst>
                    <a:ext uri="{9D8B030D-6E8A-4147-A177-3AD203B41FA5}">
                      <a16:colId xmlns:a16="http://schemas.microsoft.com/office/drawing/2014/main" val="2878709390"/>
                    </a:ext>
                  </a:extLst>
                </a:gridCol>
              </a:tblGrid>
              <a:tr h="226298">
                <a:tc>
                  <a:txBody>
                    <a:bodyPr/>
                    <a:lstStyle/>
                    <a:p>
                      <a:pPr algn="l"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b="1" u="none" strike="noStrike">
                          <a:solidFill>
                            <a:srgbClr val="0000CC"/>
                          </a:solidFill>
                          <a:effectLst/>
                          <a:latin typeface="Times New Roman" panose="02020603050405020304" pitchFamily="18" charset="0"/>
                          <a:cs typeface="Times New Roman" panose="02020603050405020304" pitchFamily="18" charset="0"/>
                        </a:rPr>
                        <a:t>  HỌC KỲ 5</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4009816733"/>
                  </a:ext>
                </a:extLst>
              </a:tr>
              <a:tr h="226298">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l" fontAlgn="ctr"/>
                      <a:r>
                        <a:rPr lang="vi-VN" sz="1600" u="none" strike="noStrike">
                          <a:effectLst/>
                          <a:latin typeface="Times New Roman" panose="02020603050405020304" pitchFamily="18" charset="0"/>
                          <a:cs typeface="Times New Roman" panose="02020603050405020304" pitchFamily="18" charset="0"/>
                        </a:rPr>
                        <a:t>Các phương pháp tối ưu</a:t>
                      </a:r>
                      <a:endParaRPr lang="vi-V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BS1.009.3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1202323975"/>
                  </a:ext>
                </a:extLst>
              </a:tr>
              <a:tr h="226298">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l" fontAlgn="ctr"/>
                      <a:r>
                        <a:rPr lang="en-US" sz="1600" u="none" strike="noStrike" dirty="0" err="1" smtClean="0">
                          <a:effectLst/>
                          <a:latin typeface="Times New Roman" panose="02020603050405020304" pitchFamily="18" charset="0"/>
                          <a:cs typeface="Times New Roman" panose="02020603050405020304" pitchFamily="18" charset="0"/>
                        </a:rPr>
                        <a:t>Tiếng</a:t>
                      </a:r>
                      <a:r>
                        <a:rPr lang="en-US" sz="1600" u="none" strike="noStrike" dirty="0" smtClean="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Anh</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chuyên</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ngành</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BS0.602.3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706313351"/>
                  </a:ext>
                </a:extLst>
              </a:tr>
              <a:tr h="226298">
                <a:tc>
                  <a:txBody>
                    <a:bodyPr/>
                    <a:lstStyle/>
                    <a:p>
                      <a:pPr algn="ctr" fontAlgn="b"/>
                      <a:r>
                        <a:rPr lang="en-US" sz="1400" u="none" strike="noStrike">
                          <a:effectLst/>
                          <a:latin typeface="Times New Roman" panose="02020603050405020304" pitchFamily="18" charset="0"/>
                          <a:cs typeface="Times New Roman" panose="02020603050405020304" pitchFamily="18" charset="0"/>
                        </a:rPr>
                        <a:t>33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l" fontAlgn="ctr"/>
                      <a:r>
                        <a:rPr lang="vi-VN" sz="1600" u="none" strike="noStrike" dirty="0">
                          <a:effectLst/>
                          <a:latin typeface="Times New Roman" panose="02020603050405020304" pitchFamily="18" charset="0"/>
                          <a:cs typeface="Times New Roman" panose="02020603050405020304" pitchFamily="18" charset="0"/>
                        </a:rPr>
                        <a:t>Phương pháp số </a:t>
                      </a:r>
                      <a:endParaRPr lang="vi-V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BS1.106.3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703643032"/>
                  </a:ext>
                </a:extLst>
              </a:tr>
              <a:tr h="226298">
                <a:tc>
                  <a:txBody>
                    <a:bodyPr/>
                    <a:lstStyle/>
                    <a:p>
                      <a:pPr algn="ctr" fontAlgn="b"/>
                      <a:r>
                        <a:rPr lang="en-US" sz="1400" u="none" strike="noStrike">
                          <a:effectLst/>
                          <a:latin typeface="Times New Roman" panose="02020603050405020304" pitchFamily="18" charset="0"/>
                          <a:cs typeface="Times New Roman" panose="02020603050405020304" pitchFamily="18" charset="0"/>
                        </a:rPr>
                        <a:t>34</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l" fontAlgn="ctr"/>
                      <a:r>
                        <a:rPr lang="en-US" sz="1600" u="none" strike="noStrike" dirty="0" err="1">
                          <a:effectLst/>
                          <a:latin typeface="Times New Roman" panose="02020603050405020304" pitchFamily="18" charset="0"/>
                          <a:cs typeface="Times New Roman" panose="02020603050405020304" pitchFamily="18" charset="0"/>
                        </a:rPr>
                        <a:t>Khai</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phá</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dữ</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liệu</a:t>
                      </a:r>
                      <a:r>
                        <a:rPr lang="en-US" sz="1600" u="none" strike="noStrike" dirty="0">
                          <a:effectLst/>
                          <a:latin typeface="Times New Roman" panose="02020603050405020304" pitchFamily="18" charset="0"/>
                          <a:cs typeface="Times New Roman" panose="02020603050405020304" pitchFamily="18" charset="0"/>
                        </a:rPr>
                        <a:t> </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IT1.231.3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3999665717"/>
                  </a:ext>
                </a:extLst>
              </a:tr>
              <a:tr h="226298">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l" fontAlgn="ctr"/>
                      <a:r>
                        <a:rPr lang="en-US" sz="1600" u="none" strike="noStrike" dirty="0" err="1">
                          <a:effectLst/>
                          <a:latin typeface="Times New Roman" panose="02020603050405020304" pitchFamily="18" charset="0"/>
                          <a:cs typeface="Times New Roman" panose="02020603050405020304" pitchFamily="18" charset="0"/>
                        </a:rPr>
                        <a:t>Nguyên</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lý</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hệ</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điều</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hành</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IT1.112.3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1701488757"/>
                  </a:ext>
                </a:extLst>
              </a:tr>
              <a:tr h="226298">
                <a:tc>
                  <a:txBody>
                    <a:bodyPr/>
                    <a:lstStyle/>
                    <a:p>
                      <a:pPr algn="ctr" fontAlgn="b"/>
                      <a:r>
                        <a:rPr lang="en-US" sz="1400" u="none" strike="noStrike">
                          <a:effectLst/>
                          <a:latin typeface="Times New Roman" panose="02020603050405020304" pitchFamily="18" charset="0"/>
                          <a:cs typeface="Times New Roman" panose="02020603050405020304" pitchFamily="18" charset="0"/>
                        </a:rPr>
                        <a:t>36</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l" fontAlgn="ctr"/>
                      <a:r>
                        <a:rPr lang="vi-VN" sz="1600" u="none" strike="noStrike" dirty="0">
                          <a:effectLst/>
                          <a:latin typeface="Times New Roman" panose="02020603050405020304" pitchFamily="18" charset="0"/>
                          <a:cs typeface="Times New Roman" panose="02020603050405020304" pitchFamily="18" charset="0"/>
                        </a:rPr>
                        <a:t>Phương trình sai phân và ứng dụng</a:t>
                      </a:r>
                      <a:endParaRPr lang="vi-V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BS1.011.2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3172586306"/>
                  </a:ext>
                </a:extLst>
              </a:tr>
              <a:tr h="226298">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ctr"/>
                      <a:r>
                        <a:rPr lang="en-US" sz="1400" u="none" strike="noStrike" dirty="0" err="1">
                          <a:effectLst/>
                          <a:latin typeface="Times New Roman" panose="02020603050405020304" pitchFamily="18" charset="0"/>
                          <a:cs typeface="Times New Roman" panose="02020603050405020304" pitchFamily="18" charset="0"/>
                        </a:rPr>
                        <a:t>Cộng</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17</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4252020605"/>
                  </a:ext>
                </a:extLst>
              </a:tr>
              <a:tr h="226298">
                <a:tc>
                  <a:txBody>
                    <a:bodyPr/>
                    <a:lstStyle/>
                    <a:p>
                      <a:pPr algn="l"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HỌC KỲ 6</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3915254696"/>
                  </a:ext>
                </a:extLst>
              </a:tr>
              <a:tr h="226298">
                <a:tc>
                  <a:txBody>
                    <a:bodyPr/>
                    <a:lstStyle/>
                    <a:p>
                      <a:pPr algn="ctr" fontAlgn="b"/>
                      <a:r>
                        <a:rPr lang="en-US" sz="1400" u="none" strike="noStrike" dirty="0" smtClean="0">
                          <a:effectLst/>
                          <a:latin typeface="Times New Roman" panose="02020603050405020304" pitchFamily="18" charset="0"/>
                          <a:cs typeface="Times New Roman" panose="02020603050405020304" pitchFamily="18" charset="0"/>
                        </a:rPr>
                        <a:t>37</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Quá trình ngẫu nhiên và ứng dụng</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BS1.108.3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456667488"/>
                  </a:ext>
                </a:extLst>
              </a:tr>
              <a:tr h="226298">
                <a:tc>
                  <a:txBody>
                    <a:bodyPr/>
                    <a:lstStyle/>
                    <a:p>
                      <a:pPr algn="ctr" fontAlgn="ctr"/>
                      <a:r>
                        <a:rPr lang="en-US" sz="1400" u="none" strike="noStrike" dirty="0" smtClean="0">
                          <a:effectLst/>
                          <a:latin typeface="Times New Roman" panose="02020603050405020304" pitchFamily="18" charset="0"/>
                          <a:cs typeface="Times New Roman" panose="02020603050405020304" pitchFamily="18" charset="0"/>
                        </a:rPr>
                        <a:t>38</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Trực quan hóa dữ liệu </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BS1.110.2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2</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15</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2625222723"/>
                  </a:ext>
                </a:extLst>
              </a:tr>
              <a:tr h="226298">
                <a:tc>
                  <a:txBody>
                    <a:bodyPr/>
                    <a:lstStyle/>
                    <a:p>
                      <a:pPr algn="ctr" fontAlgn="ctr"/>
                      <a:r>
                        <a:rPr lang="en-US" sz="1400" b="0" i="0" u="none" strike="noStrike" dirty="0" smtClean="0">
                          <a:solidFill>
                            <a:schemeClr val="dk1"/>
                          </a:solidFill>
                          <a:effectLst/>
                          <a:latin typeface="Times New Roman" panose="02020603050405020304" pitchFamily="18" charset="0"/>
                          <a:cs typeface="Times New Roman" panose="02020603050405020304" pitchFamily="18" charset="0"/>
                        </a:rPr>
                        <a:t>39</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Thực tập chuyên môn</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BS1.111.2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1021493737"/>
                  </a:ext>
                </a:extLst>
              </a:tr>
              <a:tr h="226298">
                <a:tc>
                  <a:txBody>
                    <a:bodyPr/>
                    <a:lstStyle/>
                    <a:p>
                      <a:pPr algn="ctr" fontAlgn="b"/>
                      <a:r>
                        <a:rPr lang="en-US" sz="1400" u="none" strike="noStrike" dirty="0" smtClean="0">
                          <a:effectLst/>
                          <a:latin typeface="Times New Roman" panose="02020603050405020304" pitchFamily="18" charset="0"/>
                          <a:cs typeface="Times New Roman" panose="02020603050405020304" pitchFamily="18" charset="0"/>
                        </a:rPr>
                        <a:t>40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l" fontAlgn="ctr"/>
                      <a:r>
                        <a:rPr lang="vi-VN" sz="1600" u="none" strike="noStrike">
                          <a:effectLst/>
                          <a:latin typeface="Times New Roman" panose="02020603050405020304" pitchFamily="18" charset="0"/>
                          <a:cs typeface="Times New Roman" panose="02020603050405020304" pitchFamily="18" charset="0"/>
                        </a:rPr>
                        <a:t>Phương trình đạo hàm riêng</a:t>
                      </a:r>
                      <a:endParaRPr lang="vi-V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BS1.010.2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513356132"/>
                  </a:ext>
                </a:extLst>
              </a:tr>
              <a:tr h="226298">
                <a:tc>
                  <a:txBody>
                    <a:bodyPr/>
                    <a:lstStyle/>
                    <a:p>
                      <a:pPr algn="ctr" fontAlgn="ctr"/>
                      <a:r>
                        <a:rPr lang="en-US" sz="1400" u="none" strike="noStrike" dirty="0" smtClean="0">
                          <a:effectLst/>
                          <a:latin typeface="Times New Roman" panose="02020603050405020304" pitchFamily="18" charset="0"/>
                          <a:cs typeface="Times New Roman" panose="02020603050405020304" pitchFamily="18" charset="0"/>
                        </a:rPr>
                        <a:t>41</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Trí tuệ nhân tạo </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IT1.220.3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15</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2416938395"/>
                  </a:ext>
                </a:extLst>
              </a:tr>
              <a:tr h="226298">
                <a:tc rowSpan="4">
                  <a:txBody>
                    <a:bodyPr/>
                    <a:lstStyle/>
                    <a:p>
                      <a:pPr algn="ctr" fontAlgn="ctr"/>
                      <a:r>
                        <a:rPr lang="en-US" sz="1400" u="none" strike="noStrike" dirty="0" smtClean="0">
                          <a:effectLst/>
                          <a:latin typeface="Times New Roman" panose="02020603050405020304" pitchFamily="18" charset="0"/>
                          <a:cs typeface="Times New Roman" panose="02020603050405020304" pitchFamily="18" charset="0"/>
                        </a:rPr>
                        <a:t>42</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l" fontAlgn="ctr"/>
                      <a:r>
                        <a:rPr lang="en-US" sz="1600" b="1" u="none" strike="noStrike" dirty="0" err="1">
                          <a:solidFill>
                            <a:srgbClr val="0000CC"/>
                          </a:solidFill>
                          <a:effectLst/>
                          <a:latin typeface="Times New Roman" panose="02020603050405020304" pitchFamily="18" charset="0"/>
                          <a:cs typeface="Times New Roman" panose="02020603050405020304" pitchFamily="18" charset="0"/>
                        </a:rPr>
                        <a:t>Chọn</a:t>
                      </a:r>
                      <a:r>
                        <a:rPr lang="en-US" sz="1600" b="1" u="none" strike="noStrike" dirty="0">
                          <a:solidFill>
                            <a:srgbClr val="0000CC"/>
                          </a:solidFill>
                          <a:effectLst/>
                          <a:latin typeface="Times New Roman" panose="02020603050405020304" pitchFamily="18" charset="0"/>
                          <a:cs typeface="Times New Roman" panose="02020603050405020304" pitchFamily="18" charset="0"/>
                        </a:rPr>
                        <a:t> 1 </a:t>
                      </a:r>
                      <a:r>
                        <a:rPr lang="en-US" sz="1600" b="1" u="none" strike="noStrike" dirty="0" err="1">
                          <a:solidFill>
                            <a:srgbClr val="0000CC"/>
                          </a:solidFill>
                          <a:effectLst/>
                          <a:latin typeface="Times New Roman" panose="02020603050405020304" pitchFamily="18" charset="0"/>
                          <a:cs typeface="Times New Roman" panose="02020603050405020304" pitchFamily="18" charset="0"/>
                        </a:rPr>
                        <a:t>trong</a:t>
                      </a:r>
                      <a:r>
                        <a:rPr lang="en-US" sz="1600" b="1" u="none" strike="noStrike" dirty="0">
                          <a:solidFill>
                            <a:srgbClr val="0000CC"/>
                          </a:solidFill>
                          <a:effectLst/>
                          <a:latin typeface="Times New Roman" panose="02020603050405020304" pitchFamily="18" charset="0"/>
                          <a:cs typeface="Times New Roman" panose="02020603050405020304" pitchFamily="18" charset="0"/>
                        </a:rPr>
                        <a:t> 3 </a:t>
                      </a:r>
                      <a:r>
                        <a:rPr lang="en-US" sz="1600" b="1" u="none" strike="noStrike" dirty="0" err="1">
                          <a:solidFill>
                            <a:srgbClr val="0000CC"/>
                          </a:solidFill>
                          <a:effectLst/>
                          <a:latin typeface="Times New Roman" panose="02020603050405020304" pitchFamily="18" charset="0"/>
                          <a:cs typeface="Times New Roman" panose="02020603050405020304" pitchFamily="18" charset="0"/>
                        </a:rPr>
                        <a:t>học</a:t>
                      </a:r>
                      <a:r>
                        <a:rPr lang="en-US" sz="1600" b="1" u="none" strike="noStrike" dirty="0">
                          <a:solidFill>
                            <a:srgbClr val="0000CC"/>
                          </a:solidFill>
                          <a:effectLst/>
                          <a:latin typeface="Times New Roman" panose="02020603050405020304" pitchFamily="18" charset="0"/>
                          <a:cs typeface="Times New Roman" panose="02020603050405020304" pitchFamily="18" charset="0"/>
                        </a:rPr>
                        <a:t> </a:t>
                      </a:r>
                      <a:r>
                        <a:rPr lang="en-US" sz="1600" b="1" u="none" strike="noStrike" dirty="0" err="1">
                          <a:solidFill>
                            <a:srgbClr val="0000CC"/>
                          </a:solidFill>
                          <a:effectLst/>
                          <a:latin typeface="Times New Roman" panose="02020603050405020304" pitchFamily="18" charset="0"/>
                          <a:cs typeface="Times New Roman" panose="02020603050405020304" pitchFamily="18" charset="0"/>
                        </a:rPr>
                        <a:t>phần</a:t>
                      </a:r>
                      <a:endParaRPr lang="en-US" sz="16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3554873231"/>
                  </a:ext>
                </a:extLst>
              </a:tr>
              <a:tr h="226298">
                <a:tc vMerge="1">
                  <a:txBody>
                    <a:bodyPr/>
                    <a:lstStyle/>
                    <a:p>
                      <a:endParaRPr lang="en-US"/>
                    </a:p>
                  </a:txBody>
                  <a:tcPr/>
                </a:tc>
                <a:tc>
                  <a:txBody>
                    <a:bodyPr/>
                    <a:lstStyle/>
                    <a:p>
                      <a:pPr algn="l" fontAlgn="ctr"/>
                      <a:r>
                        <a:rPr lang="vi-VN" sz="1600" u="none" strike="noStrike">
                          <a:effectLst/>
                          <a:latin typeface="Times New Roman" panose="02020603050405020304" pitchFamily="18" charset="0"/>
                          <a:cs typeface="Times New Roman" panose="02020603050405020304" pitchFamily="18" charset="0"/>
                        </a:rPr>
                        <a:t>a. Mô hình thưa và ứng dụng</a:t>
                      </a:r>
                      <a:endParaRPr lang="vi-V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BS1.015.3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2206944376"/>
                  </a:ext>
                </a:extLst>
              </a:tr>
              <a:tr h="226298">
                <a:tc vMerge="1">
                  <a:txBody>
                    <a:bodyPr/>
                    <a:lstStyle/>
                    <a:p>
                      <a:endParaRPr lang="en-US"/>
                    </a:p>
                  </a:txBody>
                  <a:tcP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b. Kiến trúc và tổ chức máy tính</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IT1.107.3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1065846942"/>
                  </a:ext>
                </a:extLst>
              </a:tr>
              <a:tr h="226298">
                <a:tc vMerge="1">
                  <a:txBody>
                    <a:bodyPr/>
                    <a:lstStyle/>
                    <a:p>
                      <a:endParaRPr lang="en-US"/>
                    </a:p>
                  </a:txBody>
                  <a:tcP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c. Phân tích thiết kế hệ thống</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IT1.116.3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1198261604"/>
                  </a:ext>
                </a:extLst>
              </a:tr>
              <a:tr h="226298">
                <a:tc>
                  <a:txBody>
                    <a:bodyPr/>
                    <a:lstStyle/>
                    <a:p>
                      <a:pPr algn="ctr" fontAlgn="ctr"/>
                      <a:r>
                        <a:rPr lang="en-US" sz="1400" u="none" strike="noStrike" dirty="0" smtClean="0">
                          <a:effectLst/>
                          <a:latin typeface="Times New Roman" panose="02020603050405020304" pitchFamily="18" charset="0"/>
                          <a:cs typeface="Times New Roman" panose="02020603050405020304" pitchFamily="18" charset="0"/>
                        </a:rPr>
                        <a:t>43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l" fontAlgn="ctr"/>
                      <a:r>
                        <a:rPr lang="en-US" sz="1600" u="none" strike="noStrike" dirty="0" err="1">
                          <a:effectLst/>
                          <a:latin typeface="Times New Roman" panose="02020603050405020304" pitchFamily="18" charset="0"/>
                          <a:cs typeface="Times New Roman" panose="02020603050405020304" pitchFamily="18" charset="0"/>
                        </a:rPr>
                        <a:t>Đổi</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mới</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sáng</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tạo</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và</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khởi</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nghiệp</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TE0.035.2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24</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569080909"/>
                  </a:ext>
                </a:extLst>
              </a:tr>
              <a:tr h="226298">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Cộng</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17</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26" marR="4526" marT="4526" marB="0" anchor="ctr"/>
                </a:tc>
                <a:extLst>
                  <a:ext uri="{0D108BD9-81ED-4DB2-BD59-A6C34878D82A}">
                    <a16:rowId xmlns:a16="http://schemas.microsoft.com/office/drawing/2014/main" val="4267349685"/>
                  </a:ext>
                </a:extLst>
              </a:tr>
            </a:tbl>
          </a:graphicData>
        </a:graphic>
      </p:graphicFrame>
    </p:spTree>
    <p:extLst>
      <p:ext uri="{BB962C8B-B14F-4D97-AF65-F5344CB8AC3E}">
        <p14:creationId xmlns:p14="http://schemas.microsoft.com/office/powerpoint/2010/main" val="28387533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NĂM THỨ 4</a:t>
            </a:r>
            <a:endParaRPr lang="en-US" dirty="0"/>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914670374"/>
              </p:ext>
            </p:extLst>
          </p:nvPr>
        </p:nvGraphicFramePr>
        <p:xfrm>
          <a:off x="1066798" y="1600201"/>
          <a:ext cx="10515602" cy="4525961"/>
        </p:xfrm>
        <a:graphic>
          <a:graphicData uri="http://schemas.openxmlformats.org/drawingml/2006/table">
            <a:tbl>
              <a:tblPr>
                <a:tableStyleId>{5C22544A-7EE6-4342-B048-85BDC9FD1C3A}</a:tableStyleId>
              </a:tblPr>
              <a:tblGrid>
                <a:gridCol w="914402">
                  <a:extLst>
                    <a:ext uri="{9D8B030D-6E8A-4147-A177-3AD203B41FA5}">
                      <a16:colId xmlns:a16="http://schemas.microsoft.com/office/drawing/2014/main" val="1155610258"/>
                    </a:ext>
                  </a:extLst>
                </a:gridCol>
                <a:gridCol w="4495800">
                  <a:extLst>
                    <a:ext uri="{9D8B030D-6E8A-4147-A177-3AD203B41FA5}">
                      <a16:colId xmlns:a16="http://schemas.microsoft.com/office/drawing/2014/main" val="2940715573"/>
                    </a:ext>
                  </a:extLst>
                </a:gridCol>
                <a:gridCol w="1219200">
                  <a:extLst>
                    <a:ext uri="{9D8B030D-6E8A-4147-A177-3AD203B41FA5}">
                      <a16:colId xmlns:a16="http://schemas.microsoft.com/office/drawing/2014/main" val="3551657398"/>
                    </a:ext>
                  </a:extLst>
                </a:gridCol>
                <a:gridCol w="680635">
                  <a:extLst>
                    <a:ext uri="{9D8B030D-6E8A-4147-A177-3AD203B41FA5}">
                      <a16:colId xmlns:a16="http://schemas.microsoft.com/office/drawing/2014/main" val="1006642463"/>
                    </a:ext>
                  </a:extLst>
                </a:gridCol>
                <a:gridCol w="440976">
                  <a:extLst>
                    <a:ext uri="{9D8B030D-6E8A-4147-A177-3AD203B41FA5}">
                      <a16:colId xmlns:a16="http://schemas.microsoft.com/office/drawing/2014/main" val="1531038625"/>
                    </a:ext>
                  </a:extLst>
                </a:gridCol>
                <a:gridCol w="491857">
                  <a:extLst>
                    <a:ext uri="{9D8B030D-6E8A-4147-A177-3AD203B41FA5}">
                      <a16:colId xmlns:a16="http://schemas.microsoft.com/office/drawing/2014/main" val="966119738"/>
                    </a:ext>
                  </a:extLst>
                </a:gridCol>
                <a:gridCol w="474900">
                  <a:extLst>
                    <a:ext uri="{9D8B030D-6E8A-4147-A177-3AD203B41FA5}">
                      <a16:colId xmlns:a16="http://schemas.microsoft.com/office/drawing/2014/main" val="1413269172"/>
                    </a:ext>
                  </a:extLst>
                </a:gridCol>
                <a:gridCol w="424016">
                  <a:extLst>
                    <a:ext uri="{9D8B030D-6E8A-4147-A177-3AD203B41FA5}">
                      <a16:colId xmlns:a16="http://schemas.microsoft.com/office/drawing/2014/main" val="1198248143"/>
                    </a:ext>
                  </a:extLst>
                </a:gridCol>
                <a:gridCol w="424016">
                  <a:extLst>
                    <a:ext uri="{9D8B030D-6E8A-4147-A177-3AD203B41FA5}">
                      <a16:colId xmlns:a16="http://schemas.microsoft.com/office/drawing/2014/main" val="2105520659"/>
                    </a:ext>
                  </a:extLst>
                </a:gridCol>
                <a:gridCol w="474900">
                  <a:extLst>
                    <a:ext uri="{9D8B030D-6E8A-4147-A177-3AD203B41FA5}">
                      <a16:colId xmlns:a16="http://schemas.microsoft.com/office/drawing/2014/main" val="773827866"/>
                    </a:ext>
                  </a:extLst>
                </a:gridCol>
                <a:gridCol w="474900">
                  <a:extLst>
                    <a:ext uri="{9D8B030D-6E8A-4147-A177-3AD203B41FA5}">
                      <a16:colId xmlns:a16="http://schemas.microsoft.com/office/drawing/2014/main" val="169093141"/>
                    </a:ext>
                  </a:extLst>
                </a:gridCol>
              </a:tblGrid>
              <a:tr h="266233">
                <a:tc>
                  <a:txBody>
                    <a:bodyPr/>
                    <a:lstStyle/>
                    <a:p>
                      <a:pPr algn="l"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HỌC KỲ 7</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b"/>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b"/>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3062387123"/>
                  </a:ext>
                </a:extLst>
              </a:tr>
              <a:tr h="266233">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44</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l" fontAlgn="ctr"/>
                      <a:r>
                        <a:rPr lang="en-US" sz="1600" u="none" strike="noStrike" dirty="0" err="1">
                          <a:effectLst/>
                          <a:latin typeface="Times New Roman" panose="02020603050405020304" pitchFamily="18" charset="0"/>
                          <a:cs typeface="Times New Roman" panose="02020603050405020304" pitchFamily="18" charset="0"/>
                        </a:rPr>
                        <a:t>Hàm</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phức</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và</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ứng</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dụng</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BS1.007.3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15</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835003202"/>
                  </a:ext>
                </a:extLst>
              </a:tr>
              <a:tr h="266233">
                <a:tc>
                  <a:txBody>
                    <a:bodyPr/>
                    <a:lstStyle/>
                    <a:p>
                      <a:pPr algn="ctr" fontAlgn="b"/>
                      <a:r>
                        <a:rPr lang="en-US" sz="1400" u="none" strike="noStrike">
                          <a:effectLst/>
                          <a:latin typeface="Times New Roman" panose="02020603050405020304" pitchFamily="18" charset="0"/>
                          <a:cs typeface="Times New Roman" panose="02020603050405020304" pitchFamily="18" charset="0"/>
                        </a:rPr>
                        <a:t>45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l" fontAlgn="ctr"/>
                      <a:r>
                        <a:rPr lang="en-US" sz="1600" u="none" strike="noStrike" dirty="0" err="1">
                          <a:effectLst/>
                          <a:latin typeface="Times New Roman" panose="02020603050405020304" pitchFamily="18" charset="0"/>
                          <a:cs typeface="Times New Roman" panose="02020603050405020304" pitchFamily="18" charset="0"/>
                        </a:rPr>
                        <a:t>Mạng</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máy</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tính</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IT1.115.3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300800294"/>
                  </a:ext>
                </a:extLst>
              </a:tr>
              <a:tr h="266233">
                <a:tc>
                  <a:txBody>
                    <a:bodyPr/>
                    <a:lstStyle/>
                    <a:p>
                      <a:pPr algn="ctr" fontAlgn="b"/>
                      <a:r>
                        <a:rPr lang="en-US" sz="1400" u="none" strike="noStrike">
                          <a:effectLst/>
                          <a:latin typeface="Times New Roman" panose="02020603050405020304" pitchFamily="18" charset="0"/>
                          <a:cs typeface="Times New Roman" panose="02020603050405020304" pitchFamily="18" charset="0"/>
                        </a:rPr>
                        <a:t>46</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l" fontAlgn="ctr"/>
                      <a:r>
                        <a:rPr lang="en-US" sz="1600" u="none" strike="noStrike" dirty="0" err="1">
                          <a:effectLst/>
                          <a:latin typeface="Times New Roman" panose="02020603050405020304" pitchFamily="18" charset="0"/>
                          <a:cs typeface="Times New Roman" panose="02020603050405020304" pitchFamily="18" charset="0"/>
                        </a:rPr>
                        <a:t>Học</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máy</a:t>
                      </a:r>
                      <a:r>
                        <a:rPr lang="en-US" sz="1600" u="none" strike="noStrike" dirty="0">
                          <a:effectLst/>
                          <a:latin typeface="Times New Roman" panose="02020603050405020304" pitchFamily="18" charset="0"/>
                          <a:cs typeface="Times New Roman" panose="02020603050405020304" pitchFamily="18" charset="0"/>
                        </a:rPr>
                        <a:t> </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BS1.112.3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583464940"/>
                  </a:ext>
                </a:extLst>
              </a:tr>
              <a:tr h="266233">
                <a:tc>
                  <a:txBody>
                    <a:bodyPr/>
                    <a:lstStyle/>
                    <a:p>
                      <a:pPr algn="ctr" fontAlgn="b"/>
                      <a:r>
                        <a:rPr lang="en-US" sz="1400" u="none" strike="noStrike">
                          <a:effectLst/>
                          <a:latin typeface="Times New Roman" panose="02020603050405020304" pitchFamily="18" charset="0"/>
                          <a:cs typeface="Times New Roman" panose="02020603050405020304" pitchFamily="18" charset="0"/>
                        </a:rPr>
                        <a:t>47</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l" fontAlgn="ctr"/>
                      <a:r>
                        <a:rPr lang="vi-VN" sz="1600" u="none" strike="noStrike" dirty="0">
                          <a:effectLst/>
                          <a:latin typeface="Times New Roman" panose="02020603050405020304" pitchFamily="18" charset="0"/>
                          <a:cs typeface="Times New Roman" panose="02020603050405020304" pitchFamily="18" charset="0"/>
                        </a:rPr>
                        <a:t>Một số phương pháp toán học trong tài chính</a:t>
                      </a:r>
                      <a:endParaRPr lang="vi-V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BS1.013.2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24</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60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1252345887"/>
                  </a:ext>
                </a:extLst>
              </a:tr>
              <a:tr h="266233">
                <a:tc rowSpan="6">
                  <a:txBody>
                    <a:bodyPr/>
                    <a:lstStyle/>
                    <a:p>
                      <a:pPr algn="ctr" fontAlgn="ctr"/>
                      <a:r>
                        <a:rPr lang="en-US" sz="1400" u="none" strike="noStrike">
                          <a:effectLst/>
                          <a:latin typeface="Times New Roman" panose="02020603050405020304" pitchFamily="18" charset="0"/>
                          <a:cs typeface="Times New Roman" panose="02020603050405020304" pitchFamily="18" charset="0"/>
                        </a:rPr>
                        <a:t>48 49</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l" fontAlgn="ctr"/>
                      <a:r>
                        <a:rPr lang="en-US" sz="1600" u="none" strike="noStrike" dirty="0" err="1">
                          <a:effectLst/>
                          <a:latin typeface="Times New Roman" panose="02020603050405020304" pitchFamily="18" charset="0"/>
                          <a:cs typeface="Times New Roman" panose="02020603050405020304" pitchFamily="18" charset="0"/>
                        </a:rPr>
                        <a:t>Chọn</a:t>
                      </a:r>
                      <a:r>
                        <a:rPr lang="en-US" sz="1600" u="none" strike="noStrike" dirty="0">
                          <a:effectLst/>
                          <a:latin typeface="Times New Roman" panose="02020603050405020304" pitchFamily="18" charset="0"/>
                          <a:cs typeface="Times New Roman" panose="02020603050405020304" pitchFamily="18" charset="0"/>
                        </a:rPr>
                        <a:t> 2 </a:t>
                      </a:r>
                      <a:r>
                        <a:rPr lang="en-US" sz="1600" u="none" strike="noStrike" dirty="0" err="1">
                          <a:effectLst/>
                          <a:latin typeface="Times New Roman" panose="02020603050405020304" pitchFamily="18" charset="0"/>
                          <a:cs typeface="Times New Roman" panose="02020603050405020304" pitchFamily="18" charset="0"/>
                        </a:rPr>
                        <a:t>trong</a:t>
                      </a:r>
                      <a:r>
                        <a:rPr lang="en-US" sz="1600" u="none" strike="noStrike" dirty="0">
                          <a:effectLst/>
                          <a:latin typeface="Times New Roman" panose="02020603050405020304" pitchFamily="18" charset="0"/>
                          <a:cs typeface="Times New Roman" panose="02020603050405020304" pitchFamily="18" charset="0"/>
                        </a:rPr>
                        <a:t> 5 </a:t>
                      </a:r>
                      <a:r>
                        <a:rPr lang="en-US" sz="1600" u="none" strike="noStrike" dirty="0" err="1">
                          <a:effectLst/>
                          <a:latin typeface="Times New Roman" panose="02020603050405020304" pitchFamily="18" charset="0"/>
                          <a:cs typeface="Times New Roman" panose="02020603050405020304" pitchFamily="18" charset="0"/>
                        </a:rPr>
                        <a:t>học</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phần</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2662083279"/>
                  </a:ext>
                </a:extLst>
              </a:tr>
              <a:tr h="266233">
                <a:tc vMerge="1">
                  <a:txBody>
                    <a:bodyPr/>
                    <a:lstStyle/>
                    <a:p>
                      <a:endParaRPr lang="en-US"/>
                    </a:p>
                  </a:txBody>
                  <a:tcPr/>
                </a:tc>
                <a:tc>
                  <a:txBody>
                    <a:bodyPr/>
                    <a:lstStyle/>
                    <a:p>
                      <a:pPr algn="l" fontAlgn="ctr"/>
                      <a:r>
                        <a:rPr lang="en-US" sz="1600" u="none" strike="noStrike" dirty="0">
                          <a:effectLst/>
                          <a:latin typeface="Times New Roman" panose="02020603050405020304" pitchFamily="18" charset="0"/>
                          <a:cs typeface="Times New Roman" panose="02020603050405020304" pitchFamily="18" charset="0"/>
                        </a:rPr>
                        <a:t>a. </a:t>
                      </a:r>
                      <a:r>
                        <a:rPr lang="en-US" sz="1600" u="none" strike="noStrike" dirty="0" err="1">
                          <a:effectLst/>
                          <a:latin typeface="Times New Roman" panose="02020603050405020304" pitchFamily="18" charset="0"/>
                          <a:cs typeface="Times New Roman" panose="02020603050405020304" pitchFamily="18" charset="0"/>
                        </a:rPr>
                        <a:t>Chuyên</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đề</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BS1.016.3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2890806347"/>
                  </a:ext>
                </a:extLst>
              </a:tr>
              <a:tr h="266233">
                <a:tc vMerge="1">
                  <a:txBody>
                    <a:bodyPr/>
                    <a:lstStyle/>
                    <a:p>
                      <a:endParaRPr lang="en-US"/>
                    </a:p>
                  </a:txBody>
                  <a:tcP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b. Lập trình web </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IT1.217.3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3630969890"/>
                  </a:ext>
                </a:extLst>
              </a:tr>
              <a:tr h="266233">
                <a:tc vMerge="1">
                  <a:txBody>
                    <a:bodyPr/>
                    <a:lstStyle/>
                    <a:p>
                      <a:endParaRPr lang="en-US"/>
                    </a:p>
                  </a:txBody>
                  <a:tcP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c. Dữ liệu lớn </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BS1.114.3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1463399639"/>
                  </a:ext>
                </a:extLst>
              </a:tr>
              <a:tr h="266233">
                <a:tc vMerge="1">
                  <a:txBody>
                    <a:bodyPr/>
                    <a:lstStyle/>
                    <a:p>
                      <a:endParaRPr lang="en-US"/>
                    </a:p>
                  </a:txBody>
                  <a:tcPr/>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d. Phân tích chuỗi thời gian</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BS1.115.3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868045919"/>
                  </a:ext>
                </a:extLst>
              </a:tr>
              <a:tr h="266233">
                <a:tc vMerge="1">
                  <a:txBody>
                    <a:bodyPr/>
                    <a:lstStyle/>
                    <a:p>
                      <a:endParaRPr lang="en-US"/>
                    </a:p>
                  </a:txBody>
                  <a:tcPr/>
                </a:tc>
                <a:tc>
                  <a:txBody>
                    <a:bodyPr/>
                    <a:lstStyle/>
                    <a:p>
                      <a:pPr algn="l" fontAlgn="ctr"/>
                      <a:r>
                        <a:rPr lang="en-US" sz="1600" u="none" strike="noStrike" dirty="0">
                          <a:effectLst/>
                          <a:latin typeface="Times New Roman" panose="02020603050405020304" pitchFamily="18" charset="0"/>
                          <a:cs typeface="Times New Roman" panose="02020603050405020304" pitchFamily="18" charset="0"/>
                        </a:rPr>
                        <a:t>e. </a:t>
                      </a:r>
                      <a:r>
                        <a:rPr lang="en-US" sz="1600" u="none" strike="noStrike" dirty="0" err="1">
                          <a:effectLst/>
                          <a:latin typeface="Times New Roman" panose="02020603050405020304" pitchFamily="18" charset="0"/>
                          <a:cs typeface="Times New Roman" panose="02020603050405020304" pitchFamily="18" charset="0"/>
                        </a:rPr>
                        <a:t>Công</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nghệ</a:t>
                      </a:r>
                      <a:r>
                        <a:rPr lang="en-US" sz="1600" u="none" strike="noStrike" dirty="0">
                          <a:effectLst/>
                          <a:latin typeface="Times New Roman" panose="02020603050405020304" pitchFamily="18" charset="0"/>
                          <a:cs typeface="Times New Roman" panose="02020603050405020304" pitchFamily="18" charset="0"/>
                        </a:rPr>
                        <a:t> Java</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IT1.113.3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2397500928"/>
                  </a:ext>
                </a:extLst>
              </a:tr>
              <a:tr h="266233">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Cộng</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17</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2073559668"/>
                  </a:ext>
                </a:extLst>
              </a:tr>
              <a:tr h="266233">
                <a:tc>
                  <a:txBody>
                    <a:bodyPr/>
                    <a:lstStyle/>
                    <a:p>
                      <a:pPr algn="l"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HỌC KỲ 8</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1353576213"/>
                  </a:ext>
                </a:extLst>
              </a:tr>
              <a:tr h="266233">
                <a:tc>
                  <a:txBody>
                    <a:bodyPr/>
                    <a:lstStyle/>
                    <a:p>
                      <a:pPr algn="ctr" fontAlgn="b"/>
                      <a:r>
                        <a:rPr lang="en-US" sz="1400" u="none" strike="noStrike">
                          <a:effectLst/>
                          <a:latin typeface="Times New Roman" panose="02020603050405020304" pitchFamily="18" charset="0"/>
                          <a:cs typeface="Times New Roman" panose="02020603050405020304" pitchFamily="18" charset="0"/>
                        </a:rPr>
                        <a:t>50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l" fontAlgn="ctr"/>
                      <a:r>
                        <a:rPr lang="en-US" sz="1600" u="none" strike="noStrike">
                          <a:effectLst/>
                          <a:latin typeface="Times New Roman" panose="02020603050405020304" pitchFamily="18" charset="0"/>
                          <a:cs typeface="Times New Roman" panose="02020603050405020304" pitchFamily="18" charset="0"/>
                        </a:rPr>
                        <a:t>Thực tập tốt nghiệp</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BS1.113.3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90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489562768"/>
                  </a:ext>
                </a:extLst>
              </a:tr>
              <a:tr h="266233">
                <a:tc>
                  <a:txBody>
                    <a:bodyPr/>
                    <a:lstStyle/>
                    <a:p>
                      <a:pPr algn="ctr" fontAlgn="b"/>
                      <a:r>
                        <a:rPr lang="en-US" sz="1400" u="none" strike="noStrike">
                          <a:effectLst/>
                          <a:latin typeface="Times New Roman" panose="02020603050405020304" pitchFamily="18" charset="0"/>
                          <a:cs typeface="Times New Roman" panose="02020603050405020304" pitchFamily="18" charset="0"/>
                        </a:rPr>
                        <a:t>51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l" fontAlgn="ctr"/>
                      <a:r>
                        <a:rPr lang="en-US" sz="1600" u="none" strike="noStrike" dirty="0" err="1">
                          <a:effectLst/>
                          <a:latin typeface="Times New Roman" panose="02020603050405020304" pitchFamily="18" charset="0"/>
                          <a:cs typeface="Times New Roman" panose="02020603050405020304" pitchFamily="18" charset="0"/>
                        </a:rPr>
                        <a:t>Đồ</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án</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tốt</a:t>
                      </a:r>
                      <a:r>
                        <a:rPr lang="en-US" sz="1600" u="none" strike="noStrike" dirty="0">
                          <a:effectLst/>
                          <a:latin typeface="Times New Roman" panose="02020603050405020304" pitchFamily="18" charset="0"/>
                          <a:cs typeface="Times New Roman" panose="02020603050405020304" pitchFamily="18" charset="0"/>
                        </a:rPr>
                        <a:t> </a:t>
                      </a:r>
                      <a:r>
                        <a:rPr lang="en-US" sz="1600" u="none" strike="noStrike" dirty="0" err="1">
                          <a:effectLst/>
                          <a:latin typeface="Times New Roman" panose="02020603050405020304" pitchFamily="18" charset="0"/>
                          <a:cs typeface="Times New Roman" panose="02020603050405020304" pitchFamily="18" charset="0"/>
                        </a:rPr>
                        <a:t>nghiệp</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BS1.014.10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10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l"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l"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300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300</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611571154"/>
                  </a:ext>
                </a:extLst>
              </a:tr>
              <a:tr h="266233">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Cộng</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 </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b"/>
                      <a:r>
                        <a:rPr lang="en-US" sz="1400" u="none" strike="noStrike">
                          <a:effectLst/>
                          <a:latin typeface="Times New Roman" panose="02020603050405020304" pitchFamily="18" charset="0"/>
                          <a:cs typeface="Times New Roman" panose="02020603050405020304" pitchFamily="18" charset="0"/>
                        </a:rPr>
                        <a:t>13</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dirty="0">
                          <a:effectLst/>
                          <a:latin typeface="Times New Roman" panose="02020603050405020304" pitchFamily="18" charset="0"/>
                          <a:cs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u="none" strike="noStrike">
                          <a:effectLst/>
                          <a:latin typeface="Times New Roman" panose="02020603050405020304" pitchFamily="18" charset="0"/>
                          <a:cs typeface="Times New Roman" panose="02020603050405020304" pitchFamily="18" charset="0"/>
                        </a:rPr>
                        <a:t> </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1814219201"/>
                  </a:ext>
                </a:extLst>
              </a:tr>
              <a:tr h="266233">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b"/>
                      <a:r>
                        <a:rPr lang="en-US" sz="1400" b="1" u="none" strike="noStrike" dirty="0">
                          <a:solidFill>
                            <a:srgbClr val="0000CC"/>
                          </a:solidFill>
                          <a:effectLst/>
                          <a:latin typeface="Times New Roman" panose="02020603050405020304" pitchFamily="18" charset="0"/>
                          <a:cs typeface="Times New Roman" panose="02020603050405020304" pitchFamily="18" charset="0"/>
                        </a:rPr>
                        <a:t>TỔNG SỐ TÍN CHỈ</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b"/>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140</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tc>
                  <a:txBody>
                    <a:bodyPr/>
                    <a:lstStyle/>
                    <a:p>
                      <a:pPr algn="ctr" fontAlgn="ctr"/>
                      <a:r>
                        <a:rPr lang="en-US" sz="1400" b="1" u="none" strike="noStrike" dirty="0">
                          <a:solidFill>
                            <a:srgbClr val="0000CC"/>
                          </a:solidFill>
                          <a:effectLst/>
                          <a:latin typeface="Times New Roman" panose="02020603050405020304" pitchFamily="18" charset="0"/>
                          <a:cs typeface="Times New Roman" panose="02020603050405020304" pitchFamily="18" charset="0"/>
                        </a:rPr>
                        <a:t> </a:t>
                      </a:r>
                      <a:endParaRPr lang="en-US" sz="1400" b="1" i="0" u="none" strike="noStrike" dirty="0">
                        <a:solidFill>
                          <a:srgbClr val="0000CC"/>
                        </a:solidFill>
                        <a:effectLst/>
                        <a:latin typeface="Times New Roman" panose="02020603050405020304" pitchFamily="18" charset="0"/>
                        <a:cs typeface="Times New Roman" panose="02020603050405020304" pitchFamily="18" charset="0"/>
                      </a:endParaRPr>
                    </a:p>
                  </a:txBody>
                  <a:tcPr marL="5325" marR="5325" marT="5325" marB="0" anchor="ctr"/>
                </a:tc>
                <a:extLst>
                  <a:ext uri="{0D108BD9-81ED-4DB2-BD59-A6C34878D82A}">
                    <a16:rowId xmlns:a16="http://schemas.microsoft.com/office/drawing/2014/main" val="57913753"/>
                  </a:ext>
                </a:extLst>
              </a:tr>
            </a:tbl>
          </a:graphicData>
        </a:graphic>
      </p:graphicFrame>
    </p:spTree>
    <p:extLst>
      <p:ext uri="{BB962C8B-B14F-4D97-AF65-F5344CB8AC3E}">
        <p14:creationId xmlns:p14="http://schemas.microsoft.com/office/powerpoint/2010/main" val="10043838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a:t>
            </a:r>
            <a:r>
              <a:rPr lang="en-US" dirty="0" err="1"/>
              <a:t>Chuẩn</a:t>
            </a:r>
            <a:r>
              <a:rPr lang="en-US" dirty="0"/>
              <a:t> </a:t>
            </a:r>
            <a:r>
              <a:rPr lang="en-US" dirty="0" err="1"/>
              <a:t>đầu</a:t>
            </a:r>
            <a:r>
              <a:rPr lang="en-US" dirty="0"/>
              <a:t> </a:t>
            </a:r>
            <a:r>
              <a:rPr lang="en-US" dirty="0" err="1"/>
              <a:t>ra</a:t>
            </a:r>
            <a:r>
              <a:rPr lang="en-US" dirty="0"/>
              <a:t> </a:t>
            </a:r>
            <a:r>
              <a:rPr lang="en-US" dirty="0" err="1"/>
              <a:t>ngành</a:t>
            </a:r>
            <a:r>
              <a:rPr lang="en-US" dirty="0"/>
              <a:t> </a:t>
            </a:r>
            <a:r>
              <a:rPr lang="en-US" dirty="0" err="1"/>
              <a:t>toán</a:t>
            </a:r>
            <a:r>
              <a:rPr lang="en-US" dirty="0"/>
              <a:t> </a:t>
            </a:r>
            <a:r>
              <a:rPr lang="en-US" dirty="0" err="1"/>
              <a:t>ứng</a:t>
            </a:r>
            <a:r>
              <a:rPr lang="en-US" dirty="0"/>
              <a:t> </a:t>
            </a:r>
            <a:r>
              <a:rPr lang="en-US" dirty="0" err="1"/>
              <a:t>dụng</a:t>
            </a:r>
            <a:endParaRPr lang="en-US" dirty="0"/>
          </a:p>
        </p:txBody>
      </p:sp>
      <p:sp>
        <p:nvSpPr>
          <p:cNvPr id="3" name="Content Placeholder 2"/>
          <p:cNvSpPr>
            <a:spLocks noGrp="1"/>
          </p:cNvSpPr>
          <p:nvPr>
            <p:ph idx="1"/>
          </p:nvPr>
        </p:nvSpPr>
        <p:spPr/>
        <p:txBody>
          <a:bodyPr>
            <a:normAutofit fontScale="92500" lnSpcReduction="20000"/>
          </a:bodyPr>
          <a:lstStyle/>
          <a:p>
            <a:r>
              <a:rPr lang="en-US" dirty="0" err="1" smtClean="0"/>
              <a:t>Chuẩn</a:t>
            </a:r>
            <a:r>
              <a:rPr lang="en-US" dirty="0" smtClean="0"/>
              <a:t> </a:t>
            </a:r>
            <a:r>
              <a:rPr lang="en-US" dirty="0" err="1" smtClean="0"/>
              <a:t>đầu</a:t>
            </a:r>
            <a:r>
              <a:rPr lang="en-US" dirty="0" smtClean="0"/>
              <a:t> </a:t>
            </a:r>
            <a:r>
              <a:rPr lang="en-US" dirty="0" err="1" smtClean="0"/>
              <a:t>ra</a:t>
            </a:r>
            <a:r>
              <a:rPr lang="en-US" dirty="0" smtClean="0"/>
              <a:t> </a:t>
            </a:r>
          </a:p>
          <a:p>
            <a:pPr lvl="1"/>
            <a:r>
              <a:rPr lang="en-US" dirty="0" err="1" smtClean="0"/>
              <a:t>Các</a:t>
            </a:r>
            <a:r>
              <a:rPr lang="en-US" dirty="0" smtClean="0"/>
              <a:t> </a:t>
            </a:r>
            <a:r>
              <a:rPr lang="en-US" dirty="0" err="1" smtClean="0"/>
              <a:t>môn</a:t>
            </a:r>
            <a:r>
              <a:rPr lang="en-US" dirty="0" smtClean="0"/>
              <a:t> học được </a:t>
            </a:r>
            <a:r>
              <a:rPr lang="en-US" dirty="0" err="1" smtClean="0"/>
              <a:t>thiết</a:t>
            </a:r>
            <a:r>
              <a:rPr lang="en-US" dirty="0" smtClean="0"/>
              <a:t> </a:t>
            </a:r>
            <a:r>
              <a:rPr lang="en-US" dirty="0" err="1" smtClean="0"/>
              <a:t>kế</a:t>
            </a:r>
            <a:r>
              <a:rPr lang="en-US" dirty="0" smtClean="0"/>
              <a:t> </a:t>
            </a:r>
            <a:r>
              <a:rPr lang="en-US" dirty="0" err="1" smtClean="0"/>
              <a:t>nhằm</a:t>
            </a:r>
            <a:r>
              <a:rPr lang="en-US" dirty="0" smtClean="0"/>
              <a:t> </a:t>
            </a:r>
            <a:r>
              <a:rPr lang="en-US" dirty="0" err="1" smtClean="0"/>
              <a:t>đạt</a:t>
            </a:r>
            <a:r>
              <a:rPr lang="en-US" dirty="0" smtClean="0"/>
              <a:t> được </a:t>
            </a:r>
            <a:r>
              <a:rPr lang="en-US" dirty="0" err="1" smtClean="0"/>
              <a:t>các</a:t>
            </a:r>
            <a:r>
              <a:rPr lang="en-US" dirty="0" smtClean="0"/>
              <a:t> </a:t>
            </a:r>
            <a:r>
              <a:rPr lang="en-US" dirty="0" err="1" smtClean="0"/>
              <a:t>mục</a:t>
            </a:r>
            <a:r>
              <a:rPr lang="en-US" dirty="0" smtClean="0"/>
              <a:t> </a:t>
            </a:r>
            <a:r>
              <a:rPr lang="en-US" dirty="0" err="1" smtClean="0"/>
              <a:t>tiêu</a:t>
            </a:r>
            <a:endParaRPr lang="en-US" dirty="0" smtClean="0"/>
          </a:p>
          <a:p>
            <a:pPr lvl="1"/>
            <a:r>
              <a:rPr lang="en-US" dirty="0" err="1" smtClean="0"/>
              <a:t>Chuẩn</a:t>
            </a:r>
            <a:r>
              <a:rPr lang="en-US" dirty="0" smtClean="0"/>
              <a:t> </a:t>
            </a:r>
            <a:r>
              <a:rPr lang="en-US" dirty="0" err="1" smtClean="0"/>
              <a:t>đầu</a:t>
            </a:r>
            <a:r>
              <a:rPr lang="en-US" dirty="0" smtClean="0"/>
              <a:t> </a:t>
            </a:r>
            <a:r>
              <a:rPr lang="en-US" dirty="0" err="1" smtClean="0"/>
              <a:t>ra</a:t>
            </a:r>
            <a:r>
              <a:rPr lang="en-US" dirty="0" smtClean="0"/>
              <a:t> </a:t>
            </a:r>
            <a:r>
              <a:rPr lang="en-US" dirty="0" err="1" smtClean="0"/>
              <a:t>là</a:t>
            </a:r>
            <a:r>
              <a:rPr lang="en-US" dirty="0" smtClean="0"/>
              <a:t> thang </a:t>
            </a:r>
            <a:r>
              <a:rPr lang="en-US" dirty="0" err="1" smtClean="0"/>
              <a:t>đo</a:t>
            </a:r>
            <a:r>
              <a:rPr lang="en-US" dirty="0" smtClean="0"/>
              <a:t> </a:t>
            </a:r>
            <a:r>
              <a:rPr lang="en-US" dirty="0" err="1" smtClean="0"/>
              <a:t>để</a:t>
            </a:r>
            <a:r>
              <a:rPr lang="en-US" dirty="0" smtClean="0"/>
              <a:t> </a:t>
            </a:r>
            <a:r>
              <a:rPr lang="en-US" dirty="0" err="1" smtClean="0"/>
              <a:t>đạt</a:t>
            </a:r>
            <a:r>
              <a:rPr lang="en-US" dirty="0" smtClean="0"/>
              <a:t> được </a:t>
            </a:r>
            <a:r>
              <a:rPr lang="en-US" dirty="0" err="1" smtClean="0"/>
              <a:t>mục</a:t>
            </a:r>
            <a:r>
              <a:rPr lang="en-US" dirty="0" smtClean="0"/>
              <a:t> </a:t>
            </a:r>
            <a:r>
              <a:rPr lang="en-US" dirty="0" err="1" smtClean="0"/>
              <a:t>tiêu</a:t>
            </a:r>
            <a:r>
              <a:rPr lang="en-US" dirty="0" smtClean="0"/>
              <a:t> của chương trình đào tạo</a:t>
            </a:r>
          </a:p>
          <a:p>
            <a:r>
              <a:rPr lang="en-US" dirty="0" err="1" smtClean="0"/>
              <a:t>Thang</a:t>
            </a:r>
            <a:r>
              <a:rPr lang="en-US" dirty="0" smtClean="0"/>
              <a:t> </a:t>
            </a:r>
            <a:r>
              <a:rPr lang="en-US" dirty="0" err="1" smtClean="0"/>
              <a:t>đo</a:t>
            </a:r>
            <a:r>
              <a:rPr lang="en-US" dirty="0" smtClean="0"/>
              <a:t> </a:t>
            </a:r>
            <a:r>
              <a:rPr lang="vi-VN" dirty="0" smtClean="0"/>
              <a:t>Bloom</a:t>
            </a:r>
            <a:r>
              <a:rPr lang="en-US" dirty="0"/>
              <a:t> </a:t>
            </a:r>
            <a:r>
              <a:rPr lang="en-US" dirty="0" smtClean="0"/>
              <a:t>(6 </a:t>
            </a:r>
            <a:r>
              <a:rPr lang="en-US" dirty="0" err="1" smtClean="0"/>
              <a:t>cấp</a:t>
            </a:r>
            <a:r>
              <a:rPr lang="en-US" dirty="0" smtClean="0"/>
              <a:t> </a:t>
            </a:r>
            <a:r>
              <a:rPr lang="en-US" dirty="0" err="1" smtClean="0"/>
              <a:t>độ</a:t>
            </a:r>
            <a:r>
              <a:rPr lang="en-US" dirty="0" smtClean="0"/>
              <a:t>)</a:t>
            </a:r>
          </a:p>
          <a:p>
            <a:pPr lvl="1"/>
            <a:r>
              <a:rPr lang="en-US" b="1" dirty="0" err="1" smtClean="0"/>
              <a:t>Ghi</a:t>
            </a:r>
            <a:r>
              <a:rPr lang="en-US" b="1" dirty="0" smtClean="0"/>
              <a:t> </a:t>
            </a:r>
            <a:r>
              <a:rPr lang="en-US" b="1" dirty="0" err="1" smtClean="0"/>
              <a:t>nhớ</a:t>
            </a:r>
            <a:r>
              <a:rPr lang="en-US" b="1" dirty="0" smtClean="0"/>
              <a:t> (Remembering)</a:t>
            </a:r>
          </a:p>
          <a:p>
            <a:pPr lvl="1"/>
            <a:r>
              <a:rPr lang="en-US" b="1" dirty="0" err="1" smtClean="0"/>
              <a:t>Hiểu</a:t>
            </a:r>
            <a:r>
              <a:rPr lang="en-US" b="1" dirty="0" smtClean="0"/>
              <a:t> (Understanding)</a:t>
            </a:r>
          </a:p>
          <a:p>
            <a:pPr lvl="1"/>
            <a:r>
              <a:rPr lang="en-US" b="1" dirty="0" err="1" smtClean="0"/>
              <a:t>Áp</a:t>
            </a:r>
            <a:r>
              <a:rPr lang="en-US" b="1" dirty="0" smtClean="0"/>
              <a:t> </a:t>
            </a:r>
            <a:r>
              <a:rPr lang="en-US" b="1" dirty="0" err="1" smtClean="0"/>
              <a:t>dụng</a:t>
            </a:r>
            <a:r>
              <a:rPr lang="en-US" b="1" dirty="0" smtClean="0"/>
              <a:t> (Applying)</a:t>
            </a:r>
          </a:p>
          <a:p>
            <a:pPr lvl="1"/>
            <a:r>
              <a:rPr lang="en-US" b="1" dirty="0" err="1" smtClean="0"/>
              <a:t>Phân</a:t>
            </a:r>
            <a:r>
              <a:rPr lang="en-US" b="1" dirty="0" smtClean="0"/>
              <a:t> </a:t>
            </a:r>
            <a:r>
              <a:rPr lang="en-US" b="1" dirty="0" err="1" smtClean="0"/>
              <a:t>tích</a:t>
            </a:r>
            <a:r>
              <a:rPr lang="en-US" b="1" dirty="0" smtClean="0"/>
              <a:t> (Analyzing)</a:t>
            </a:r>
          </a:p>
          <a:p>
            <a:pPr lvl="1"/>
            <a:r>
              <a:rPr lang="en-US" b="1" dirty="0" err="1" smtClean="0"/>
              <a:t>Đánh</a:t>
            </a:r>
            <a:r>
              <a:rPr lang="en-US" b="1" dirty="0" smtClean="0"/>
              <a:t> </a:t>
            </a:r>
            <a:r>
              <a:rPr lang="en-US" b="1" dirty="0" err="1" smtClean="0"/>
              <a:t>giá</a:t>
            </a:r>
            <a:r>
              <a:rPr lang="en-US" b="1" dirty="0" smtClean="0"/>
              <a:t> (Evaluating)</a:t>
            </a:r>
          </a:p>
          <a:p>
            <a:pPr lvl="1"/>
            <a:r>
              <a:rPr lang="en-US" b="1" dirty="0" err="1" smtClean="0"/>
              <a:t>Sáng</a:t>
            </a:r>
            <a:r>
              <a:rPr lang="en-US" b="1" dirty="0" smtClean="0"/>
              <a:t> tạo (Creating)</a:t>
            </a:r>
            <a:endParaRPr lang="en-US" b="1" dirty="0"/>
          </a:p>
          <a:p>
            <a:pPr lvl="1"/>
            <a:endParaRPr lang="en-US" b="1" dirty="0" smtClean="0"/>
          </a:p>
          <a:p>
            <a:pPr lvl="1"/>
            <a:endParaRPr lang="en-US" b="1" dirty="0"/>
          </a:p>
          <a:p>
            <a:pPr lvl="1"/>
            <a:endParaRPr lang="en-US" b="1" dirty="0" smtClean="0"/>
          </a:p>
          <a:p>
            <a:pPr lvl="1"/>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dirty="0"/>
          </a:p>
        </p:txBody>
      </p:sp>
      <p:pic>
        <p:nvPicPr>
          <p:cNvPr id="8196" name="Picture 4" descr="thang đo blo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8715" y="3024187"/>
            <a:ext cx="5906584" cy="3514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16360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CHUẨN ĐẦU RA 1</a:t>
            </a:r>
            <a:endParaRPr lang="en-US" dirty="0"/>
          </a:p>
        </p:txBody>
      </p:sp>
      <p:sp>
        <p:nvSpPr>
          <p:cNvPr id="3" name="Content Placeholder 2"/>
          <p:cNvSpPr>
            <a:spLocks noGrp="1"/>
          </p:cNvSpPr>
          <p:nvPr>
            <p:ph idx="1"/>
          </p:nvPr>
        </p:nvSpPr>
        <p:spPr/>
        <p:txBody>
          <a:bodyPr/>
          <a:lstStyle/>
          <a:p>
            <a:r>
              <a:rPr lang="pl-PL" dirty="0"/>
              <a:t>Có kiến thức về những Nguyên lý cơ bản của Chủ nghĩa Mác-Lê nin, Tư tưởng Hồ Chí Minh, hiểu được nội dung cơ bản của đường lối đấu tranh cách mạng, các bài học về lý luận và thực tiễn của Đảng Cộng sản Việt Nam để có được nhận thức và hành động đúng trong cuộc sống, trong học tập và lao động nghề nghiệp.</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022002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2</a:t>
            </a:r>
            <a:endParaRPr lang="en-US" dirty="0"/>
          </a:p>
        </p:txBody>
      </p:sp>
      <p:sp>
        <p:nvSpPr>
          <p:cNvPr id="3" name="Content Placeholder 2"/>
          <p:cNvSpPr>
            <a:spLocks noGrp="1"/>
          </p:cNvSpPr>
          <p:nvPr>
            <p:ph idx="1"/>
          </p:nvPr>
        </p:nvSpPr>
        <p:spPr/>
        <p:txBody>
          <a:bodyPr/>
          <a:lstStyle/>
          <a:p>
            <a:r>
              <a:rPr lang="pl-PL" dirty="0"/>
              <a:t>Có kiến thức về các vấn đề an ninh, quốc phòng và có ý thức hành động phù hợp và có sức khỏe để bảo vệ tổ quốc.</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831301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3</a:t>
            </a:r>
            <a:endParaRPr lang="en-US" dirty="0"/>
          </a:p>
        </p:txBody>
      </p:sp>
      <p:sp>
        <p:nvSpPr>
          <p:cNvPr id="3" name="Content Placeholder 2"/>
          <p:cNvSpPr>
            <a:spLocks noGrp="1"/>
          </p:cNvSpPr>
          <p:nvPr>
            <p:ph idx="1"/>
          </p:nvPr>
        </p:nvSpPr>
        <p:spPr/>
        <p:txBody>
          <a:bodyPr/>
          <a:lstStyle/>
          <a:p>
            <a:r>
              <a:rPr lang="vi-VN" dirty="0"/>
              <a:t>Có khả năng vận dụng khoa học cơ bản và các kiến thức cơ sở của toán học trong trong lĩnh vực toán ứng dụng và tin học.</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2823510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4</a:t>
            </a:r>
            <a:endParaRPr lang="en-US" dirty="0"/>
          </a:p>
        </p:txBody>
      </p:sp>
      <p:sp>
        <p:nvSpPr>
          <p:cNvPr id="3" name="Content Placeholder 2"/>
          <p:cNvSpPr>
            <a:spLocks noGrp="1"/>
          </p:cNvSpPr>
          <p:nvPr>
            <p:ph idx="1"/>
          </p:nvPr>
        </p:nvSpPr>
        <p:spPr/>
        <p:txBody>
          <a:bodyPr/>
          <a:lstStyle/>
          <a:p>
            <a:r>
              <a:rPr lang="vi-VN" dirty="0"/>
              <a:t>Nắm vững các kiến thức về suy diễn thống kê, các công cụ toán học dùng để mô hình hóa các bài toán trong thực tiễn, phân tích dự báo, và kinh tế-tài chính.</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1162975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5</a:t>
            </a:r>
            <a:endParaRPr lang="en-US" dirty="0"/>
          </a:p>
        </p:txBody>
      </p:sp>
      <p:sp>
        <p:nvSpPr>
          <p:cNvPr id="3" name="Content Placeholder 2"/>
          <p:cNvSpPr>
            <a:spLocks noGrp="1"/>
          </p:cNvSpPr>
          <p:nvPr>
            <p:ph idx="1"/>
          </p:nvPr>
        </p:nvSpPr>
        <p:spPr/>
        <p:txBody>
          <a:bodyPr/>
          <a:lstStyle/>
          <a:p>
            <a:r>
              <a:rPr lang="vi-VN" dirty="0"/>
              <a:t>Nắm vững kiến thức cơ bản về kỹ thuật, ngôn ngữ, công cụ lập trình, biết cách phân tích thiết kế thuật toán.</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2749594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6</a:t>
            </a:r>
            <a:endParaRPr lang="en-US" dirty="0"/>
          </a:p>
        </p:txBody>
      </p:sp>
      <p:sp>
        <p:nvSpPr>
          <p:cNvPr id="3" name="Content Placeholder 2"/>
          <p:cNvSpPr>
            <a:spLocks noGrp="1"/>
          </p:cNvSpPr>
          <p:nvPr>
            <p:ph idx="1"/>
          </p:nvPr>
        </p:nvSpPr>
        <p:spPr/>
        <p:txBody>
          <a:bodyPr/>
          <a:lstStyle/>
          <a:p>
            <a:r>
              <a:rPr lang="vi-VN" dirty="0"/>
              <a:t>Nắm vững các kiến thức cơ bản về trí tuệ nhân tạo, các kỹ thuật phân tích thiết kế hệ thống thông tin, thiết kế xây dựng cơ sở dữ liệu. Nắm vững các kiến thức cơ bản về mạng máy tính.</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2579614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7</a:t>
            </a:r>
            <a:endParaRPr lang="en-US" dirty="0"/>
          </a:p>
        </p:txBody>
      </p:sp>
      <p:sp>
        <p:nvSpPr>
          <p:cNvPr id="3" name="Content Placeholder 2"/>
          <p:cNvSpPr>
            <a:spLocks noGrp="1"/>
          </p:cNvSpPr>
          <p:nvPr>
            <p:ph idx="1"/>
          </p:nvPr>
        </p:nvSpPr>
        <p:spPr/>
        <p:txBody>
          <a:bodyPr/>
          <a:lstStyle/>
          <a:p>
            <a:r>
              <a:rPr lang="vi-VN" dirty="0"/>
              <a:t>Có khả năng thiết lập cơ sở lý thuyết của các vấn đề mô hình hóa toán học, tìm các giải pháp giải quyết vấn đề trong các lĩnh vực kỹ thuật, công nghiệp, kinh tế-tài chính. Có khả năng thiết kế, xây dựng một chương trình, một phần mềm, một hệ thống để đáp ứng các nhu cầu của cuộc sống.</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01584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8</a:t>
            </a:r>
            <a:endParaRPr lang="en-US" dirty="0"/>
          </a:p>
        </p:txBody>
      </p:sp>
      <p:sp>
        <p:nvSpPr>
          <p:cNvPr id="3" name="Content Placeholder 2"/>
          <p:cNvSpPr>
            <a:spLocks noGrp="1"/>
          </p:cNvSpPr>
          <p:nvPr>
            <p:ph idx="1"/>
          </p:nvPr>
        </p:nvSpPr>
        <p:spPr/>
        <p:txBody>
          <a:bodyPr/>
          <a:lstStyle/>
          <a:p>
            <a:r>
              <a:rPr lang="vi-VN" dirty="0"/>
              <a:t>Có kỹ năng thiết kế, vận hành và bảo trì hệ thống mạng máy tính cho các cơ quan, doanh nghiệp, đảm bảo an toàn thông tin, an ninh mạng.</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2887937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9</a:t>
            </a:r>
            <a:endParaRPr lang="en-US" dirty="0"/>
          </a:p>
        </p:txBody>
      </p:sp>
      <p:sp>
        <p:nvSpPr>
          <p:cNvPr id="3" name="Content Placeholder 2"/>
          <p:cNvSpPr>
            <a:spLocks noGrp="1"/>
          </p:cNvSpPr>
          <p:nvPr>
            <p:ph idx="1"/>
          </p:nvPr>
        </p:nvSpPr>
        <p:spPr/>
        <p:txBody>
          <a:bodyPr/>
          <a:lstStyle/>
          <a:p>
            <a:r>
              <a:rPr lang="pl-PL" dirty="0"/>
              <a:t>Có kỹ năng giao tiếp hiệu quả thông qua báo cáo và thuyết trình, có trình độ ngoại ngữ đạt mức tương đương bậc 3 trong khung năng lực ngoại ngữ 6 bậc do Bộ Giáo dục và Đào tạo ban hành</a:t>
            </a:r>
            <a:r>
              <a:rPr lang="vi-VN" dirty="0"/>
              <a:t>.</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3298312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10</a:t>
            </a:r>
            <a:endParaRPr lang="en-US" dirty="0"/>
          </a:p>
        </p:txBody>
      </p:sp>
      <p:sp>
        <p:nvSpPr>
          <p:cNvPr id="3" name="Content Placeholder 2"/>
          <p:cNvSpPr>
            <a:spLocks noGrp="1"/>
          </p:cNvSpPr>
          <p:nvPr>
            <p:ph idx="1"/>
          </p:nvPr>
        </p:nvSpPr>
        <p:spPr/>
        <p:txBody>
          <a:bodyPr/>
          <a:lstStyle/>
          <a:p>
            <a:r>
              <a:rPr lang="vi-VN" dirty="0"/>
              <a:t>Có kỹ năng đọc hiểu về kiến thức chuyên môn, viết báo cáo kỹ thuật, trình bày, giải đáp và phản biện các vấn đề thuộc lĩnh vực chuyên ngành được đào tạo.</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2425110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11</a:t>
            </a:r>
            <a:endParaRPr lang="en-US" dirty="0"/>
          </a:p>
        </p:txBody>
      </p:sp>
      <p:sp>
        <p:nvSpPr>
          <p:cNvPr id="3" name="Content Placeholder 2"/>
          <p:cNvSpPr>
            <a:spLocks noGrp="1"/>
          </p:cNvSpPr>
          <p:nvPr>
            <p:ph idx="1"/>
          </p:nvPr>
        </p:nvSpPr>
        <p:spPr/>
        <p:txBody>
          <a:bodyPr/>
          <a:lstStyle/>
          <a:p>
            <a:r>
              <a:rPr lang="vi-VN" dirty="0"/>
              <a:t>Có kỹ năng thuyết trình, kỹ năng giao tiếp, làm việc theo nhóm.</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3247157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12</a:t>
            </a:r>
            <a:endParaRPr lang="en-US" dirty="0"/>
          </a:p>
        </p:txBody>
      </p:sp>
      <p:sp>
        <p:nvSpPr>
          <p:cNvPr id="3" name="Content Placeholder 2"/>
          <p:cNvSpPr>
            <a:spLocks noGrp="1"/>
          </p:cNvSpPr>
          <p:nvPr>
            <p:ph idx="1"/>
          </p:nvPr>
        </p:nvSpPr>
        <p:spPr/>
        <p:txBody>
          <a:bodyPr/>
          <a:lstStyle/>
          <a:p>
            <a:r>
              <a:rPr lang="vi-VN" dirty="0"/>
              <a:t>Có ý thức trách nhiệm công dân, tuân thủ các chủ trương, chính sách của Đảng và pháp luật của Nhà nước</a:t>
            </a:r>
            <a:r>
              <a:rPr lang="en-US" dirty="0"/>
              <a:t>; c</a:t>
            </a:r>
            <a:r>
              <a:rPr lang="vi-VN" dirty="0"/>
              <a:t>ó phẩm chất đạo đức tốt, lòng yêu nghề, có ý thức tổ chức kỷ luật và trách nhiệm trong công việc.</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810957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CHUẨN ĐẦU RA </a:t>
            </a:r>
            <a:r>
              <a:rPr lang="en-US" dirty="0" smtClean="0"/>
              <a:t>13</a:t>
            </a:r>
            <a:endParaRPr lang="en-US" dirty="0"/>
          </a:p>
        </p:txBody>
      </p:sp>
      <p:sp>
        <p:nvSpPr>
          <p:cNvPr id="3" name="Content Placeholder 2"/>
          <p:cNvSpPr>
            <a:spLocks noGrp="1"/>
          </p:cNvSpPr>
          <p:nvPr>
            <p:ph idx="1"/>
          </p:nvPr>
        </p:nvSpPr>
        <p:spPr/>
        <p:txBody>
          <a:bodyPr/>
          <a:lstStyle/>
          <a:p>
            <a:r>
              <a:rPr lang="vi-VN" dirty="0"/>
              <a:t>Có tinh thần ham học hỏi, nâng cao trình độ</a:t>
            </a:r>
            <a:r>
              <a:rPr lang="en-US" dirty="0"/>
              <a:t>; </a:t>
            </a:r>
            <a:r>
              <a:rPr lang="pl-PL" dirty="0"/>
              <a:t>có khả năng tự tiếp thu kiến thức nghề nghiệp và học tập suốt đời</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11531155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KẾT LUẬN</a:t>
            </a:r>
            <a:endParaRPr lang="en-US" dirty="0"/>
          </a:p>
        </p:txBody>
      </p:sp>
      <p:sp>
        <p:nvSpPr>
          <p:cNvPr id="3" name="Content Placeholder 2"/>
          <p:cNvSpPr>
            <a:spLocks noGrp="1"/>
          </p:cNvSpPr>
          <p:nvPr>
            <p:ph idx="1"/>
          </p:nvPr>
        </p:nvSpPr>
        <p:spPr/>
        <p:txBody>
          <a:bodyPr/>
          <a:lstStyle/>
          <a:p>
            <a:r>
              <a:rPr lang="en-US" dirty="0" smtClean="0"/>
              <a:t>NGÀNH TOÁN ỨNG DỤNG</a:t>
            </a:r>
          </a:p>
          <a:p>
            <a:r>
              <a:rPr lang="en-US" dirty="0" smtClean="0"/>
              <a:t>CHUYÊN NGÀNH TOÁN TIN ỨNG DỤNG</a:t>
            </a:r>
          </a:p>
          <a:p>
            <a:r>
              <a:rPr lang="en-US" dirty="0" smtClean="0"/>
              <a:t>MỤC TIÊU ĐÀO TẠO</a:t>
            </a:r>
          </a:p>
          <a:p>
            <a:r>
              <a:rPr lang="en-US" dirty="0" smtClean="0"/>
              <a:t>CHƯƠNG TRÌNH ĐÀO TẠO</a:t>
            </a:r>
          </a:p>
          <a:p>
            <a:r>
              <a:rPr lang="en-US" dirty="0" smtClean="0"/>
              <a:t>CHUẨN ĐẦU RA</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575299280"/>
      </p:ext>
    </p:extLst>
  </p:cSld>
  <p:clrMapOvr>
    <a:masterClrMapping/>
  </p:clrMapOvr>
</p:sld>
</file>

<file path=ppt/theme/theme1.xml><?xml version="1.0" encoding="utf-8"?>
<a:theme xmlns:a="http://schemas.openxmlformats.org/drawingml/2006/main" name="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678</TotalTime>
  <Words>2203</Words>
  <Application>Microsoft Office PowerPoint</Application>
  <PresentationFormat>Widescreen</PresentationFormat>
  <Paragraphs>1000</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 New Roman</vt:lpstr>
      <vt:lpstr>Office Theme</vt:lpstr>
      <vt:lpstr>Chương 1:  Giới thiệu chương trình đào tạo Ngành Toán ứng dụng</vt:lpstr>
      <vt:lpstr>NỘI DUNG</vt:lpstr>
      <vt:lpstr>2.1 Tổng quan chương trình đào tạo</vt:lpstr>
      <vt:lpstr>Mục tiêu chương trình đào tạo</vt:lpstr>
      <vt:lpstr>MỤC TIÊU CỤ THỂ</vt:lpstr>
      <vt:lpstr>MỤC TIÊU CỤ THỂ</vt:lpstr>
      <vt:lpstr>MỤC TIÊU CỤ THỂ</vt:lpstr>
      <vt:lpstr>MỤC TIÊU CỤ THỂ</vt:lpstr>
      <vt:lpstr>VỊ TRÍ VIỆC LÀM</vt:lpstr>
      <vt:lpstr>KHẢ NĂNG HỌC TẬP, NÂNG CAO TRÌNH ĐỘ</vt:lpstr>
      <vt:lpstr>2.2 Nội dung khung chương trình đào tạo</vt:lpstr>
      <vt:lpstr>KHỐI KIẾN THỨC</vt:lpstr>
      <vt:lpstr>MÔN HỌC</vt:lpstr>
      <vt:lpstr>NĂM THỨ 1</vt:lpstr>
      <vt:lpstr>NĂM THỨ 2</vt:lpstr>
      <vt:lpstr>NĂM THỨ 3</vt:lpstr>
      <vt:lpstr>NĂM THỨ 4</vt:lpstr>
      <vt:lpstr>2.3 Chuẩn đầu ra ngành toán ứng dụng</vt:lpstr>
      <vt:lpstr>CHUẨN ĐẦU RA 1</vt:lpstr>
      <vt:lpstr>CHUẨN ĐẦU RA 2</vt:lpstr>
      <vt:lpstr>CHUẨN ĐẦU RA 3</vt:lpstr>
      <vt:lpstr>CHUẨN ĐẦU RA 4</vt:lpstr>
      <vt:lpstr>CHUẨN ĐẦU RA 5</vt:lpstr>
      <vt:lpstr>CHUẨN ĐẦU RA 6</vt:lpstr>
      <vt:lpstr>CHUẨN ĐẦU RA 7</vt:lpstr>
      <vt:lpstr>CHUẨN ĐẦU RA 8</vt:lpstr>
      <vt:lpstr>CHUẨN ĐẦU RA 9</vt:lpstr>
      <vt:lpstr>CHUẨN ĐẦU RA 10</vt:lpstr>
      <vt:lpstr>CHUẨN ĐẦU RA 11</vt:lpstr>
      <vt:lpstr>CHUẨN ĐẦU RA 12</vt:lpstr>
      <vt:lpstr>CHUẨN ĐẦU RA 13</vt:lpstr>
      <vt:lpstr>KẾT LUẬN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Mathematics CIVE 2602.2</dc:title>
  <dc:creator>TranLong</dc:creator>
  <cp:lastModifiedBy>Admin</cp:lastModifiedBy>
  <cp:revision>170</cp:revision>
  <dcterms:created xsi:type="dcterms:W3CDTF">2006-08-16T00:00:00Z</dcterms:created>
  <dcterms:modified xsi:type="dcterms:W3CDTF">2026-09-06T02:04:43Z</dcterms:modified>
</cp:coreProperties>
</file>