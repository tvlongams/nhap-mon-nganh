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01" r:id="rId3"/>
    <p:sldId id="338" r:id="rId4"/>
    <p:sldId id="341" r:id="rId5"/>
    <p:sldId id="340" r:id="rId6"/>
    <p:sldId id="342" r:id="rId7"/>
    <p:sldId id="343" r:id="rId8"/>
    <p:sldId id="344" r:id="rId9"/>
    <p:sldId id="345" r:id="rId10"/>
    <p:sldId id="346" r:id="rId11"/>
    <p:sldId id="302" r:id="rId12"/>
    <p:sldId id="368" r:id="rId13"/>
    <p:sldId id="369" r:id="rId14"/>
    <p:sldId id="370" r:id="rId15"/>
    <p:sldId id="371" r:id="rId16"/>
    <p:sldId id="372" r:id="rId17"/>
    <p:sldId id="347" r:id="rId18"/>
    <p:sldId id="303" r:id="rId19"/>
    <p:sldId id="330" r:id="rId20"/>
    <p:sldId id="352" r:id="rId21"/>
    <p:sldId id="355" r:id="rId22"/>
    <p:sldId id="354" r:id="rId23"/>
    <p:sldId id="353" r:id="rId24"/>
    <p:sldId id="356" r:id="rId25"/>
    <p:sldId id="304" r:id="rId26"/>
    <p:sldId id="305" r:id="rId27"/>
    <p:sldId id="348" r:id="rId28"/>
    <p:sldId id="349" r:id="rId29"/>
    <p:sldId id="350" r:id="rId30"/>
    <p:sldId id="351" r:id="rId31"/>
    <p:sldId id="306" r:id="rId32"/>
    <p:sldId id="331" r:id="rId33"/>
    <p:sldId id="307" r:id="rId34"/>
    <p:sldId id="310" r:id="rId35"/>
    <p:sldId id="309" r:id="rId36"/>
    <p:sldId id="311" r:id="rId37"/>
    <p:sldId id="312" r:id="rId38"/>
    <p:sldId id="362" r:id="rId39"/>
    <p:sldId id="363" r:id="rId40"/>
    <p:sldId id="313" r:id="rId41"/>
    <p:sldId id="367" r:id="rId42"/>
    <p:sldId id="359" r:id="rId43"/>
    <p:sldId id="364" r:id="rId44"/>
    <p:sldId id="358" r:id="rId45"/>
    <p:sldId id="357" r:id="rId46"/>
    <p:sldId id="366" r:id="rId47"/>
    <p:sldId id="36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691"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48CE1B-89DF-4451-914C-8EAA83904CE5}" type="datetimeFigureOut">
              <a:rPr lang="vi-VN" smtClean="0"/>
              <a:pPr/>
              <a:t>06/09/2026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F09D81-1F8F-4D0C-92B0-DA0D3EC8E914}" type="slidenum">
              <a:rPr lang="vi-VN" smtClean="0"/>
              <a:pPr/>
              <a:t>‹#›</a:t>
            </a:fld>
            <a:endParaRPr lang="vi-VN"/>
          </a:p>
        </p:txBody>
      </p:sp>
    </p:spTree>
    <p:extLst>
      <p:ext uri="{BB962C8B-B14F-4D97-AF65-F5344CB8AC3E}">
        <p14:creationId xmlns:p14="http://schemas.microsoft.com/office/powerpoint/2010/main" val="342385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2441" y="205740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2536841" y="3806631"/>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1571641" y="6356351"/>
            <a:ext cx="2844800" cy="365125"/>
          </a:xfrm>
        </p:spPr>
        <p:txBody>
          <a:bodyPr/>
          <a:lstStyle/>
          <a:p>
            <a:endParaRPr lang="en-US" dirty="0"/>
          </a:p>
        </p:txBody>
      </p:sp>
      <p:sp>
        <p:nvSpPr>
          <p:cNvPr id="5" name="Footer Placeholder 4"/>
          <p:cNvSpPr>
            <a:spLocks noGrp="1"/>
          </p:cNvSpPr>
          <p:nvPr>
            <p:ph type="ftr" sz="quarter" idx="11"/>
          </p:nvPr>
        </p:nvSpPr>
        <p:spPr>
          <a:xfrm>
            <a:off x="4734331" y="6356351"/>
            <a:ext cx="3860800" cy="365125"/>
          </a:xfrm>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9266" y="274638"/>
            <a:ext cx="10634134"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1329266" y="1600201"/>
            <a:ext cx="10634133"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4337049" y="6356351"/>
            <a:ext cx="3860800" cy="365125"/>
          </a:xfrm>
        </p:spPr>
        <p:txBody>
          <a:bodyPr/>
          <a:lstStyle/>
          <a:p>
            <a:endParaRPr lang="en-US" dirty="0"/>
          </a:p>
        </p:txBody>
      </p:sp>
      <p:sp>
        <p:nvSpPr>
          <p:cNvPr id="6" name="Slide Number Placeholder 5"/>
          <p:cNvSpPr>
            <a:spLocks noGrp="1"/>
          </p:cNvSpPr>
          <p:nvPr>
            <p:ph type="sldNum" sz="quarter" idx="12"/>
          </p:nvPr>
        </p:nvSpPr>
        <p:spPr>
          <a:xfrm>
            <a:off x="9080499" y="6356351"/>
            <a:ext cx="2844800" cy="365125"/>
          </a:xfrm>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Rectangle 10"/>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Rectangle 4"/>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Rectangle 5"/>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3F4466-4275-4567-A820-1B91279C7BDE}" type="datetime1">
              <a:rPr lang="en-US" smtClean="0"/>
              <a:pPr/>
              <a:t>6/9/2026</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5A56F-200E-4368-A691-1AE2D27A4578}" type="datetime1">
              <a:rPr lang="en-US" smtClean="0"/>
              <a:pPr/>
              <a:t>6/9/2026</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27759" y="274638"/>
            <a:ext cx="10835641"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127759" y="1600201"/>
            <a:ext cx="10835641"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157000" y="6356351"/>
            <a:ext cx="22973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848A39-50DC-42FB-A368-12ED3EE12084}" type="datetime1">
              <a:rPr lang="en-US" smtClean="0"/>
              <a:pPr/>
              <a:t>6/9/2026</a:t>
            </a:fld>
            <a:endParaRPr lang="en-US"/>
          </a:p>
        </p:txBody>
      </p:sp>
      <p:sp>
        <p:nvSpPr>
          <p:cNvPr id="5" name="Footer Placeholder 4"/>
          <p:cNvSpPr>
            <a:spLocks noGrp="1"/>
          </p:cNvSpPr>
          <p:nvPr>
            <p:ph type="ftr" sz="quarter" idx="3"/>
          </p:nvPr>
        </p:nvSpPr>
        <p:spPr>
          <a:xfrm>
            <a:off x="4343400" y="636597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CIVE 2602.2</a:t>
            </a:r>
            <a:endParaRPr lang="en-US"/>
          </a:p>
        </p:txBody>
      </p:sp>
      <p:sp>
        <p:nvSpPr>
          <p:cNvPr id="6" name="Slide Number Placeholder 5"/>
          <p:cNvSpPr>
            <a:spLocks noGrp="1"/>
          </p:cNvSpPr>
          <p:nvPr>
            <p:ph type="sldNum" sz="quarter" idx="4"/>
          </p:nvPr>
        </p:nvSpPr>
        <p:spPr>
          <a:xfrm>
            <a:off x="90932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Rectangle 6"/>
          <p:cNvSpPr/>
          <p:nvPr userDrawn="1"/>
        </p:nvSpPr>
        <p:spPr>
          <a:xfrm>
            <a:off x="1" y="0"/>
            <a:ext cx="26799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1" y="368300"/>
            <a:ext cx="268000" cy="203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 y="1181100"/>
            <a:ext cx="268000" cy="2032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0070C0"/>
              </a:solidFill>
            </a:endParaRPr>
          </a:p>
        </p:txBody>
      </p:sp>
      <p:sp>
        <p:nvSpPr>
          <p:cNvPr id="10" name="Rectangle 9"/>
          <p:cNvSpPr/>
          <p:nvPr userDrawn="1"/>
        </p:nvSpPr>
        <p:spPr>
          <a:xfrm>
            <a:off x="1" y="774700"/>
            <a:ext cx="268000"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990600"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2" name="Picture 1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05483" y="549275"/>
            <a:ext cx="608917" cy="631825"/>
          </a:xfrm>
          <a:prstGeom prst="rect">
            <a:avLst/>
          </a:prstGeom>
        </p:spPr>
      </p:pic>
      <p:pic>
        <p:nvPicPr>
          <p:cNvPr id="14" name="Picture 13"/>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69781" y="5635318"/>
            <a:ext cx="719040" cy="722600"/>
          </a:xfrm>
          <a:prstGeom prst="rect">
            <a:avLst/>
          </a:prstGeom>
        </p:spPr>
      </p:pic>
      <p:sp>
        <p:nvSpPr>
          <p:cNvPr id="13" name="TextBox 12"/>
          <p:cNvSpPr txBox="1"/>
          <p:nvPr userDrawn="1"/>
        </p:nvSpPr>
        <p:spPr>
          <a:xfrm rot="16200000">
            <a:off x="-1563892" y="3136612"/>
            <a:ext cx="4347665" cy="584775"/>
          </a:xfrm>
          <a:prstGeom prst="rect">
            <a:avLst/>
          </a:prstGeom>
          <a:noFill/>
        </p:spPr>
        <p:txBody>
          <a:bodyPr wrap="none" rtlCol="0">
            <a:spAutoFit/>
          </a:bodyPr>
          <a:lstStyle/>
          <a:p>
            <a:r>
              <a:rPr lang="en-US" sz="3200" b="1" dirty="0" smtClean="0">
                <a:solidFill>
                  <a:srgbClr val="000099"/>
                </a:solidFill>
                <a:latin typeface="Times New Roman" panose="02020603050405020304" pitchFamily="18" charset="0"/>
                <a:cs typeface="Times New Roman" panose="02020603050405020304" pitchFamily="18" charset="0"/>
              </a:rPr>
              <a:t>S</a:t>
            </a:r>
            <a:r>
              <a:rPr lang="en-US" sz="2400" b="0" dirty="0" smtClean="0">
                <a:solidFill>
                  <a:srgbClr val="002060"/>
                </a:solidFill>
                <a:latin typeface="Times New Roman" panose="02020603050405020304" pitchFamily="18" charset="0"/>
                <a:cs typeface="Times New Roman" panose="02020603050405020304" pitchFamily="18" charset="0"/>
              </a:rPr>
              <a:t>chool</a:t>
            </a:r>
            <a:r>
              <a:rPr lang="en-US" sz="2400" b="0" baseline="0" dirty="0" smtClean="0">
                <a:solidFill>
                  <a:srgbClr val="002060"/>
                </a:solidFill>
                <a:latin typeface="Times New Roman" panose="02020603050405020304" pitchFamily="18" charset="0"/>
                <a:cs typeface="Times New Roman" panose="02020603050405020304" pitchFamily="18" charset="0"/>
              </a:rPr>
              <a:t> of </a:t>
            </a:r>
            <a:r>
              <a:rPr lang="en-US" sz="3200" b="1" baseline="0" dirty="0" smtClean="0">
                <a:solidFill>
                  <a:srgbClr val="FFC000"/>
                </a:solidFill>
                <a:latin typeface="Times New Roman" panose="02020603050405020304" pitchFamily="18" charset="0"/>
                <a:cs typeface="Times New Roman" panose="02020603050405020304" pitchFamily="18" charset="0"/>
              </a:rPr>
              <a:t>A</a:t>
            </a:r>
            <a:r>
              <a:rPr lang="en-US" sz="2400" b="0" baseline="0" dirty="0" smtClean="0">
                <a:solidFill>
                  <a:srgbClr val="002060"/>
                </a:solidFill>
                <a:latin typeface="Times New Roman" panose="02020603050405020304" pitchFamily="18" charset="0"/>
                <a:cs typeface="Times New Roman" panose="02020603050405020304" pitchFamily="18" charset="0"/>
              </a:rPr>
              <a:t>pplied </a:t>
            </a:r>
            <a:r>
              <a:rPr lang="en-US" sz="3200" b="1" baseline="0" dirty="0" smtClean="0">
                <a:solidFill>
                  <a:schemeClr val="bg1">
                    <a:lumMod val="65000"/>
                  </a:schemeClr>
                </a:solidFill>
                <a:latin typeface="Times New Roman" panose="02020603050405020304" pitchFamily="18" charset="0"/>
                <a:cs typeface="Times New Roman" panose="02020603050405020304" pitchFamily="18" charset="0"/>
              </a:rPr>
              <a:t>M</a:t>
            </a:r>
            <a:r>
              <a:rPr lang="en-US" sz="2400" b="0" baseline="0" dirty="0" smtClean="0">
                <a:solidFill>
                  <a:srgbClr val="002060"/>
                </a:solidFill>
                <a:latin typeface="Times New Roman" panose="02020603050405020304" pitchFamily="18" charset="0"/>
                <a:cs typeface="Times New Roman" panose="02020603050405020304" pitchFamily="18" charset="0"/>
              </a:rPr>
              <a:t>athematics</a:t>
            </a:r>
            <a:endParaRPr lang="en-US" sz="2400" b="0" dirty="0">
              <a:solidFill>
                <a:srgbClr val="002060"/>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000" b="1" dirty="0" smtClean="0">
                <a:solidFill>
                  <a:srgbClr val="7030A0"/>
                </a:solidFill>
              </a:rPr>
              <a:t>NHẬP MÔN NGÀNH</a:t>
            </a:r>
            <a:br>
              <a:rPr lang="en-US" sz="6000" b="1" dirty="0" smtClean="0">
                <a:solidFill>
                  <a:srgbClr val="7030A0"/>
                </a:solidFill>
              </a:rPr>
            </a:br>
            <a:r>
              <a:rPr lang="en-US" sz="6000" b="1" dirty="0" smtClean="0">
                <a:solidFill>
                  <a:srgbClr val="7030A0"/>
                </a:solidFill>
              </a:rPr>
              <a:t>TOÁN ỨNG DỤNG</a:t>
            </a:r>
            <a:endParaRPr lang="vi-VN" sz="6000" b="1" dirty="0">
              <a:solidFill>
                <a:srgbClr val="7030A0"/>
              </a:solidFill>
            </a:endParaRPr>
          </a:p>
        </p:txBody>
      </p:sp>
      <p:sp>
        <p:nvSpPr>
          <p:cNvPr id="3" name="Subtitle 2"/>
          <p:cNvSpPr>
            <a:spLocks noGrp="1"/>
          </p:cNvSpPr>
          <p:nvPr>
            <p:ph type="subTitle" idx="1"/>
          </p:nvPr>
        </p:nvSpPr>
        <p:spPr>
          <a:xfrm>
            <a:off x="2590800" y="3886200"/>
            <a:ext cx="8686800" cy="1752600"/>
          </a:xfrm>
        </p:spPr>
        <p:txBody>
          <a:bodyPr/>
          <a:lstStyle/>
          <a:p>
            <a:r>
              <a:rPr lang="en-US" dirty="0" smtClean="0">
                <a:solidFill>
                  <a:srgbClr val="0000CC"/>
                </a:solidFill>
              </a:rPr>
              <a:t>PGS. TS. Trần Văn Long, TS. </a:t>
            </a:r>
            <a:r>
              <a:rPr lang="en-US" dirty="0" err="1" smtClean="0">
                <a:solidFill>
                  <a:srgbClr val="0000CC"/>
                </a:solidFill>
              </a:rPr>
              <a:t>Nguyễn</a:t>
            </a:r>
            <a:r>
              <a:rPr lang="en-US" dirty="0" smtClean="0">
                <a:solidFill>
                  <a:srgbClr val="0000CC"/>
                </a:solidFill>
              </a:rPr>
              <a:t> </a:t>
            </a:r>
            <a:r>
              <a:rPr lang="en-US" dirty="0" err="1" smtClean="0">
                <a:solidFill>
                  <a:srgbClr val="0000CC"/>
                </a:solidFill>
              </a:rPr>
              <a:t>Mạnh</a:t>
            </a:r>
            <a:r>
              <a:rPr lang="en-US" dirty="0" smtClean="0">
                <a:solidFill>
                  <a:srgbClr val="0000CC"/>
                </a:solidFill>
              </a:rPr>
              <a:t> </a:t>
            </a:r>
            <a:r>
              <a:rPr lang="en-US" dirty="0" err="1" smtClean="0">
                <a:solidFill>
                  <a:srgbClr val="0000CC"/>
                </a:solidFill>
              </a:rPr>
              <a:t>Hùng</a:t>
            </a:r>
            <a:endParaRPr lang="en-US" dirty="0" smtClean="0">
              <a:solidFill>
                <a:srgbClr val="0000CC"/>
              </a:solidFill>
            </a:endParaRPr>
          </a:p>
          <a:p>
            <a:r>
              <a:rPr lang="en-US" dirty="0" smtClean="0">
                <a:solidFill>
                  <a:srgbClr val="0000CC"/>
                </a:solidFill>
              </a:rPr>
              <a:t>TRƯỜNG ĐẠI HỌC GIAO THÔNG VẬN TẢI</a:t>
            </a:r>
            <a:endParaRPr lang="vi-VN" dirty="0">
              <a:solidFill>
                <a:srgbClr val="0000CC"/>
              </a:solidFill>
            </a:endParaRPr>
          </a:p>
        </p:txBody>
      </p:sp>
      <p:sp>
        <p:nvSpPr>
          <p:cNvPr id="4" name="Date Placeholder 3"/>
          <p:cNvSpPr>
            <a:spLocks noGrp="1"/>
          </p:cNvSpPr>
          <p:nvPr>
            <p:ph type="dt" sz="half" idx="10"/>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solidFill>
                  <a:srgbClr val="0000CC"/>
                </a:solidFill>
              </a:rPr>
              <a:t>Chương</a:t>
            </a:r>
            <a:r>
              <a:rPr lang="en-US" dirty="0" smtClean="0">
                <a:solidFill>
                  <a:srgbClr val="0000CC"/>
                </a:solidFill>
              </a:rPr>
              <a:t> </a:t>
            </a:r>
            <a:r>
              <a:rPr lang="en-US" dirty="0">
                <a:solidFill>
                  <a:srgbClr val="0000CC"/>
                </a:solidFill>
              </a:rPr>
              <a:t>2</a:t>
            </a:r>
            <a:r>
              <a:rPr lang="en-US" dirty="0" smtClean="0">
                <a:solidFill>
                  <a:srgbClr val="0000CC"/>
                </a:solidFill>
              </a:rPr>
              <a:t>: </a:t>
            </a:r>
            <a:r>
              <a:rPr lang="en-US" dirty="0" err="1">
                <a:solidFill>
                  <a:srgbClr val="0000CC"/>
                </a:solidFill>
              </a:rPr>
              <a:t>Giới</a:t>
            </a:r>
            <a:r>
              <a:rPr lang="en-US" dirty="0">
                <a:solidFill>
                  <a:srgbClr val="0000CC"/>
                </a:solidFill>
              </a:rPr>
              <a:t> </a:t>
            </a:r>
            <a:r>
              <a:rPr lang="en-US" dirty="0" err="1">
                <a:solidFill>
                  <a:srgbClr val="0000CC"/>
                </a:solidFill>
              </a:rPr>
              <a:t>thiệu</a:t>
            </a:r>
            <a:r>
              <a:rPr lang="en-US" dirty="0">
                <a:solidFill>
                  <a:srgbClr val="0000CC"/>
                </a:solidFill>
              </a:rPr>
              <a:t> </a:t>
            </a:r>
            <a:r>
              <a:rPr lang="en-US" dirty="0" err="1">
                <a:solidFill>
                  <a:srgbClr val="0000CC"/>
                </a:solidFill>
              </a:rPr>
              <a:t>về</a:t>
            </a:r>
            <a:r>
              <a:rPr lang="en-US" dirty="0">
                <a:solidFill>
                  <a:srgbClr val="0000CC"/>
                </a:solidFill>
              </a:rPr>
              <a:t> </a:t>
            </a:r>
            <a:r>
              <a:rPr lang="en-US" dirty="0" err="1">
                <a:solidFill>
                  <a:srgbClr val="0000CC"/>
                </a:solidFill>
              </a:rPr>
              <a:t>ngành</a:t>
            </a:r>
            <a:r>
              <a:rPr lang="en-US" dirty="0">
                <a:solidFill>
                  <a:srgbClr val="0000CC"/>
                </a:solidFill>
              </a:rPr>
              <a:t> </a:t>
            </a:r>
            <a:r>
              <a:rPr lang="en-US" dirty="0" err="1">
                <a:solidFill>
                  <a:srgbClr val="0000CC"/>
                </a:solidFill>
              </a:rPr>
              <a:t>toán</a:t>
            </a:r>
            <a:r>
              <a:rPr lang="en-US" dirty="0">
                <a:solidFill>
                  <a:srgbClr val="0000CC"/>
                </a:solidFill>
              </a:rPr>
              <a:t> </a:t>
            </a:r>
            <a:r>
              <a:rPr lang="en-US" dirty="0" err="1">
                <a:solidFill>
                  <a:srgbClr val="0000CC"/>
                </a:solidFill>
              </a:rPr>
              <a:t>ứng</a:t>
            </a:r>
            <a:r>
              <a:rPr lang="en-US" dirty="0">
                <a:solidFill>
                  <a:srgbClr val="0000CC"/>
                </a:solidFill>
              </a:rPr>
              <a:t> </a:t>
            </a:r>
            <a:r>
              <a:rPr lang="en-US" dirty="0" err="1">
                <a:solidFill>
                  <a:srgbClr val="0000CC"/>
                </a:solidFill>
              </a:rPr>
              <a:t>dụng</a:t>
            </a:r>
            <a:r>
              <a:rPr lang="en-US" dirty="0">
                <a:solidFill>
                  <a:srgbClr val="0000CC"/>
                </a:solidFill>
              </a:rPr>
              <a:t> </a:t>
            </a:r>
            <a:r>
              <a:rPr lang="en-US" dirty="0" err="1">
                <a:solidFill>
                  <a:srgbClr val="0000CC"/>
                </a:solidFill>
              </a:rPr>
              <a:t>và</a:t>
            </a:r>
            <a:r>
              <a:rPr lang="en-US" dirty="0">
                <a:solidFill>
                  <a:srgbClr val="0000CC"/>
                </a:solidFill>
              </a:rPr>
              <a:t> </a:t>
            </a:r>
            <a:r>
              <a:rPr lang="en-US" dirty="0" err="1">
                <a:solidFill>
                  <a:srgbClr val="0000CC"/>
                </a:solidFill>
              </a:rPr>
              <a:t>khoa</a:t>
            </a:r>
            <a:r>
              <a:rPr lang="en-US" dirty="0">
                <a:solidFill>
                  <a:srgbClr val="0000CC"/>
                </a:solidFill>
              </a:rPr>
              <a:t> học </a:t>
            </a:r>
            <a:r>
              <a:rPr lang="en-US" dirty="0" err="1">
                <a:solidFill>
                  <a:srgbClr val="0000CC"/>
                </a:solidFill>
              </a:rPr>
              <a:t>dữ</a:t>
            </a:r>
            <a:r>
              <a:rPr lang="en-US" dirty="0">
                <a:solidFill>
                  <a:srgbClr val="0000CC"/>
                </a:solidFill>
              </a:rPr>
              <a:t> </a:t>
            </a:r>
            <a:r>
              <a:rPr lang="en-US" dirty="0" err="1">
                <a:solidFill>
                  <a:srgbClr val="0000CC"/>
                </a:solidFill>
              </a:rPr>
              <a:t>liệu</a:t>
            </a:r>
            <a:r>
              <a:rPr lang="en-US" dirty="0">
                <a:solidFill>
                  <a:srgbClr val="0000CC"/>
                </a:solidFill>
              </a:rPr>
              <a:t> </a:t>
            </a:r>
          </a:p>
        </p:txBody>
      </p:sp>
      <p:sp>
        <p:nvSpPr>
          <p:cNvPr id="3" name="Content Placeholder 2"/>
          <p:cNvSpPr>
            <a:spLocks noGrp="1"/>
          </p:cNvSpPr>
          <p:nvPr>
            <p:ph idx="1"/>
          </p:nvPr>
        </p:nvSpPr>
        <p:spPr/>
        <p:txBody>
          <a:bodyPr/>
          <a:lstStyle/>
          <a:p>
            <a:r>
              <a:rPr lang="en-US" sz="4400" dirty="0" err="1" smtClean="0"/>
              <a:t>Tổng</a:t>
            </a:r>
            <a:r>
              <a:rPr lang="en-US" sz="4400" dirty="0" smtClean="0"/>
              <a:t> </a:t>
            </a:r>
            <a:r>
              <a:rPr lang="en-US" sz="4400" dirty="0" err="1" smtClean="0"/>
              <a:t>quan</a:t>
            </a:r>
            <a:r>
              <a:rPr lang="en-US" sz="4400" dirty="0" smtClean="0"/>
              <a:t> </a:t>
            </a:r>
            <a:r>
              <a:rPr lang="en-US" sz="4400" dirty="0" err="1" smtClean="0"/>
              <a:t>về</a:t>
            </a:r>
            <a:r>
              <a:rPr lang="en-US" sz="4400" dirty="0" smtClean="0"/>
              <a:t> </a:t>
            </a:r>
            <a:r>
              <a:rPr lang="en-US" sz="4400" dirty="0" err="1" smtClean="0"/>
              <a:t>toán</a:t>
            </a:r>
            <a:r>
              <a:rPr lang="en-US" sz="4400" dirty="0" smtClean="0"/>
              <a:t> </a:t>
            </a:r>
            <a:r>
              <a:rPr lang="en-US" sz="4400" dirty="0" err="1" smtClean="0"/>
              <a:t>ứng</a:t>
            </a:r>
            <a:r>
              <a:rPr lang="en-US" sz="4400" dirty="0" smtClean="0"/>
              <a:t> </a:t>
            </a:r>
            <a:r>
              <a:rPr lang="en-US" sz="4400" dirty="0" err="1" smtClean="0"/>
              <a:t>dụng</a:t>
            </a:r>
            <a:endParaRPr lang="en-US" sz="4400" dirty="0" smtClean="0"/>
          </a:p>
          <a:p>
            <a:pPr marL="342900" lvl="1" indent="-342900">
              <a:buFont typeface="Arial" pitchFamily="34" charset="0"/>
              <a:buChar char="•"/>
            </a:pPr>
            <a:r>
              <a:rPr lang="en-US" sz="4400" dirty="0" err="1"/>
              <a:t>Tổng</a:t>
            </a:r>
            <a:r>
              <a:rPr lang="en-US" sz="4400" dirty="0"/>
              <a:t> </a:t>
            </a:r>
            <a:r>
              <a:rPr lang="en-US" sz="4400" dirty="0" err="1"/>
              <a:t>quan</a:t>
            </a:r>
            <a:r>
              <a:rPr lang="en-US" sz="4400" dirty="0"/>
              <a:t> </a:t>
            </a:r>
            <a:r>
              <a:rPr lang="en-US" sz="4400" dirty="0" err="1"/>
              <a:t>về</a:t>
            </a:r>
            <a:r>
              <a:rPr lang="en-US" sz="4400" dirty="0"/>
              <a:t> </a:t>
            </a:r>
            <a:r>
              <a:rPr lang="en-US" sz="4400" dirty="0" err="1"/>
              <a:t>khoa</a:t>
            </a:r>
            <a:r>
              <a:rPr lang="en-US" sz="4400" dirty="0"/>
              <a:t> học </a:t>
            </a:r>
            <a:r>
              <a:rPr lang="en-US" sz="4400" dirty="0" err="1"/>
              <a:t>dữ</a:t>
            </a:r>
            <a:r>
              <a:rPr lang="en-US" sz="4400" dirty="0"/>
              <a:t> </a:t>
            </a:r>
            <a:r>
              <a:rPr lang="en-US" sz="4400" dirty="0" err="1"/>
              <a:t>liệu</a:t>
            </a:r>
            <a:endParaRPr lang="en-US" sz="4400" dirty="0"/>
          </a:p>
          <a:p>
            <a:pPr marL="342900" lvl="1" indent="-342900">
              <a:buFont typeface="Arial" pitchFamily="34" charset="0"/>
              <a:buChar char="•"/>
            </a:pPr>
            <a:r>
              <a:rPr lang="en-US" sz="4400" dirty="0" err="1"/>
              <a:t>Giới</a:t>
            </a:r>
            <a:r>
              <a:rPr lang="en-US" sz="4400" dirty="0"/>
              <a:t> </a:t>
            </a:r>
            <a:r>
              <a:rPr lang="en-US" sz="4400" dirty="0" err="1"/>
              <a:t>thiệu</a:t>
            </a:r>
            <a:r>
              <a:rPr lang="en-US" sz="4400" dirty="0"/>
              <a:t> </a:t>
            </a:r>
            <a:r>
              <a:rPr lang="en-US" sz="4400" dirty="0" err="1"/>
              <a:t>các</a:t>
            </a:r>
            <a:r>
              <a:rPr lang="en-US" sz="4400" dirty="0"/>
              <a:t> </a:t>
            </a:r>
            <a:r>
              <a:rPr lang="en-US" sz="4400" dirty="0" err="1"/>
              <a:t>ngành</a:t>
            </a:r>
            <a:r>
              <a:rPr lang="en-US" sz="4400" dirty="0"/>
              <a:t> </a:t>
            </a:r>
            <a:r>
              <a:rPr lang="en-US" sz="4400" dirty="0" err="1"/>
              <a:t>liên</a:t>
            </a:r>
            <a:r>
              <a:rPr lang="en-US" sz="4400" dirty="0"/>
              <a:t> </a:t>
            </a:r>
            <a:r>
              <a:rPr lang="en-US" sz="4400" dirty="0" err="1"/>
              <a:t>quan</a:t>
            </a:r>
            <a:r>
              <a:rPr lang="en-US" sz="4400" dirty="0"/>
              <a:t> </a:t>
            </a:r>
            <a:r>
              <a:rPr lang="en-US" sz="4400" dirty="0" err="1"/>
              <a:t>gần</a:t>
            </a:r>
            <a:endParaRPr lang="en-US" sz="4400" dirty="0"/>
          </a:p>
          <a:p>
            <a:pPr marL="342900" lvl="1" indent="-342900">
              <a:buFont typeface="Arial" pitchFamily="34" charset="0"/>
              <a:buChar char="•"/>
            </a:pPr>
            <a:r>
              <a:rPr lang="en-US" sz="4400" dirty="0" err="1"/>
              <a:t>Vai</a:t>
            </a:r>
            <a:r>
              <a:rPr lang="en-US" sz="4400" dirty="0"/>
              <a:t> </a:t>
            </a:r>
            <a:r>
              <a:rPr lang="en-US" sz="4400" dirty="0" err="1"/>
              <a:t>trò</a:t>
            </a:r>
            <a:r>
              <a:rPr lang="en-US" sz="4400" dirty="0"/>
              <a:t> của </a:t>
            </a:r>
            <a:r>
              <a:rPr lang="en-US" sz="4400" dirty="0" err="1"/>
              <a:t>khoa</a:t>
            </a:r>
            <a:r>
              <a:rPr lang="en-US" sz="4400" dirty="0"/>
              <a:t> học </a:t>
            </a:r>
            <a:r>
              <a:rPr lang="en-US" sz="4400" dirty="0" err="1"/>
              <a:t>dữ</a:t>
            </a:r>
            <a:r>
              <a:rPr lang="en-US" sz="4400" dirty="0"/>
              <a:t> </a:t>
            </a:r>
            <a:r>
              <a:rPr lang="en-US" sz="4400" dirty="0" err="1"/>
              <a:t>liệu</a:t>
            </a:r>
            <a:endParaRPr lang="en-US" sz="4400" dirty="0"/>
          </a:p>
          <a:p>
            <a:r>
              <a:rPr lang="en-US" sz="4400" dirty="0" err="1" smtClean="0"/>
              <a:t>Cơ</a:t>
            </a:r>
            <a:r>
              <a:rPr lang="en-US" sz="4400" dirty="0" smtClean="0"/>
              <a:t> </a:t>
            </a:r>
            <a:r>
              <a:rPr lang="en-US" sz="4400" dirty="0" err="1"/>
              <a:t>hội</a:t>
            </a:r>
            <a:r>
              <a:rPr lang="en-US" sz="4400" dirty="0"/>
              <a:t> </a:t>
            </a:r>
            <a:r>
              <a:rPr lang="en-US" sz="4400" dirty="0" err="1"/>
              <a:t>và</a:t>
            </a:r>
            <a:r>
              <a:rPr lang="en-US" sz="4400" dirty="0"/>
              <a:t> </a:t>
            </a:r>
            <a:r>
              <a:rPr lang="en-US" sz="4400" dirty="0" err="1"/>
              <a:t>thách</a:t>
            </a:r>
            <a:r>
              <a:rPr lang="en-US" sz="4400" dirty="0"/>
              <a:t> </a:t>
            </a:r>
            <a:r>
              <a:rPr lang="en-US" sz="4400" dirty="0" err="1"/>
              <a:t>thức</a:t>
            </a:r>
            <a:endParaRPr lang="en-US" sz="4400"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434229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1.1 </a:t>
            </a:r>
            <a:r>
              <a:rPr lang="en-US" dirty="0" err="1"/>
              <a:t>Tổng</a:t>
            </a:r>
            <a:r>
              <a:rPr lang="en-US" dirty="0"/>
              <a:t> </a:t>
            </a:r>
            <a:r>
              <a:rPr lang="en-US" dirty="0" err="1"/>
              <a:t>quan</a:t>
            </a:r>
            <a:r>
              <a:rPr lang="en-US" dirty="0"/>
              <a:t> </a:t>
            </a:r>
            <a:r>
              <a:rPr lang="en-US" dirty="0" err="1"/>
              <a:t>về</a:t>
            </a:r>
            <a:r>
              <a:rPr lang="en-US" dirty="0"/>
              <a:t> </a:t>
            </a:r>
            <a:r>
              <a:rPr lang="en-US" dirty="0" err="1"/>
              <a:t>toán</a:t>
            </a:r>
            <a:r>
              <a:rPr lang="en-US" dirty="0"/>
              <a:t> </a:t>
            </a:r>
            <a:r>
              <a:rPr lang="en-US" dirty="0" err="1"/>
              <a:t>ứng</a:t>
            </a:r>
            <a:r>
              <a:rPr lang="en-US" dirty="0"/>
              <a:t> </a:t>
            </a:r>
            <a:r>
              <a:rPr lang="en-US" dirty="0" err="1" smtClean="0"/>
              <a:t>dụng</a:t>
            </a:r>
            <a:endParaRPr lang="en-US" dirty="0"/>
          </a:p>
        </p:txBody>
      </p:sp>
      <p:sp>
        <p:nvSpPr>
          <p:cNvPr id="3" name="Content Placeholder 2"/>
          <p:cNvSpPr>
            <a:spLocks noGrp="1"/>
          </p:cNvSpPr>
          <p:nvPr>
            <p:ph idx="1"/>
          </p:nvPr>
        </p:nvSpPr>
        <p:spPr/>
        <p:txBody>
          <a:bodyPr>
            <a:normAutofit fontScale="92500" lnSpcReduction="20000"/>
          </a:bodyPr>
          <a:lstStyle/>
          <a:p>
            <a:r>
              <a:rPr lang="vi-VN" dirty="0"/>
              <a:t>Toán học càng quan trọng khi đóng góp những công cụ không thể thay thế để phân tích, tổng hợp, tìm giải pháp quản lý trong các lĩnh vực kinh tế, kỹ thuật và công nghệ. Các chuyên gia được đào tạo bài bản trong lĩnh vực Toán Ứng dụng được các công ty, doanh nghiệp săn đón</a:t>
            </a:r>
            <a:r>
              <a:rPr lang="vi-VN" dirty="0" smtClean="0"/>
              <a:t>.</a:t>
            </a:r>
            <a:endParaRPr lang="en-US" dirty="0" smtClean="0"/>
          </a:p>
          <a:p>
            <a:r>
              <a:rPr lang="vi-VN" dirty="0"/>
              <a:t>Toán ứng dụng là ngành học ứng dụng các phương pháp, mô hình toán học vào giải quyết các vấn đề trong khoa học, kỹ thuật, kinh tế, tài chính, bảo hiểm, khoa học máy tính và công nghiệp</a:t>
            </a:r>
            <a:r>
              <a:rPr lang="vi-VN" dirty="0" smtClean="0"/>
              <a:t>…</a:t>
            </a:r>
            <a:endParaRPr lang="en-US" dirty="0" smtClean="0"/>
          </a:p>
          <a:p>
            <a:r>
              <a:rPr lang="en-US" dirty="0"/>
              <a:t>Toán </a:t>
            </a:r>
            <a:r>
              <a:rPr lang="en-US" dirty="0" err="1"/>
              <a:t>ứng</a:t>
            </a:r>
            <a:r>
              <a:rPr lang="en-US" dirty="0"/>
              <a:t> </a:t>
            </a:r>
            <a:r>
              <a:rPr lang="en-US" dirty="0" err="1"/>
              <a:t>dụng</a:t>
            </a:r>
            <a:r>
              <a:rPr lang="en-US" dirty="0"/>
              <a:t> </a:t>
            </a:r>
            <a:r>
              <a:rPr lang="en-US" dirty="0" err="1"/>
              <a:t>đóng</a:t>
            </a:r>
            <a:r>
              <a:rPr lang="en-US" dirty="0"/>
              <a:t> </a:t>
            </a:r>
            <a:r>
              <a:rPr lang="en-US" dirty="0" err="1"/>
              <a:t>vai</a:t>
            </a:r>
            <a:r>
              <a:rPr lang="en-US" dirty="0"/>
              <a:t> </a:t>
            </a:r>
            <a:r>
              <a:rPr lang="en-US" dirty="0" err="1"/>
              <a:t>trò</a:t>
            </a:r>
            <a:r>
              <a:rPr lang="en-US" dirty="0"/>
              <a:t> </a:t>
            </a:r>
            <a:r>
              <a:rPr lang="en-US" dirty="0" err="1"/>
              <a:t>cực</a:t>
            </a:r>
            <a:r>
              <a:rPr lang="en-US" dirty="0"/>
              <a:t> </a:t>
            </a:r>
            <a:r>
              <a:rPr lang="en-US" dirty="0" err="1"/>
              <a:t>kỳ</a:t>
            </a:r>
            <a:r>
              <a:rPr lang="en-US" dirty="0"/>
              <a:t> </a:t>
            </a:r>
            <a:r>
              <a:rPr lang="en-US" dirty="0" err="1"/>
              <a:t>quan</a:t>
            </a:r>
            <a:r>
              <a:rPr lang="en-US" dirty="0"/>
              <a:t> </a:t>
            </a:r>
            <a:r>
              <a:rPr lang="en-US" dirty="0" err="1"/>
              <a:t>trọng</a:t>
            </a:r>
            <a:r>
              <a:rPr lang="en-US" dirty="0"/>
              <a:t> </a:t>
            </a:r>
            <a:r>
              <a:rPr lang="en-US" dirty="0" err="1"/>
              <a:t>trong</a:t>
            </a:r>
            <a:r>
              <a:rPr lang="en-US" dirty="0"/>
              <a:t> </a:t>
            </a:r>
            <a:r>
              <a:rPr lang="en-US" dirty="0" err="1"/>
              <a:t>mọi</a:t>
            </a:r>
            <a:r>
              <a:rPr lang="en-US" dirty="0"/>
              <a:t> </a:t>
            </a:r>
            <a:r>
              <a:rPr lang="en-US" dirty="0" err="1"/>
              <a:t>lĩnh</a:t>
            </a:r>
            <a:r>
              <a:rPr lang="en-US" dirty="0"/>
              <a:t> </a:t>
            </a:r>
            <a:r>
              <a:rPr lang="en-US" dirty="0" err="1"/>
              <a:t>vực</a:t>
            </a:r>
            <a:r>
              <a:rPr lang="en-US" dirty="0"/>
              <a:t> </a:t>
            </a:r>
            <a:r>
              <a:rPr lang="en-US" dirty="0" err="1"/>
              <a:t>xã</a:t>
            </a:r>
            <a:r>
              <a:rPr lang="en-US" dirty="0"/>
              <a:t> </a:t>
            </a:r>
            <a:r>
              <a:rPr lang="en-US" dirty="0" err="1"/>
              <a:t>hội</a:t>
            </a:r>
            <a:r>
              <a:rPr lang="en-US" dirty="0"/>
              <a:t>, </a:t>
            </a:r>
            <a:r>
              <a:rPr lang="en-US" dirty="0" err="1"/>
              <a:t>đặc</a:t>
            </a:r>
            <a:r>
              <a:rPr lang="en-US" dirty="0"/>
              <a:t> </a:t>
            </a:r>
            <a:r>
              <a:rPr lang="en-US" dirty="0" err="1"/>
              <a:t>biệt</a:t>
            </a:r>
            <a:r>
              <a:rPr lang="en-US" dirty="0"/>
              <a:t> </a:t>
            </a:r>
            <a:r>
              <a:rPr lang="en-US" dirty="0" err="1"/>
              <a:t>trong</a:t>
            </a:r>
            <a:r>
              <a:rPr lang="en-US" dirty="0"/>
              <a:t> </a:t>
            </a:r>
            <a:r>
              <a:rPr lang="en-US" dirty="0" err="1"/>
              <a:t>thời</a:t>
            </a:r>
            <a:r>
              <a:rPr lang="en-US" dirty="0"/>
              <a:t> </a:t>
            </a:r>
            <a:r>
              <a:rPr lang="en-US" dirty="0" err="1"/>
              <a:t>đại</a:t>
            </a:r>
            <a:r>
              <a:rPr lang="en-US" dirty="0"/>
              <a:t> </a:t>
            </a:r>
            <a:r>
              <a:rPr lang="en-US" dirty="0" err="1"/>
              <a:t>công</a:t>
            </a:r>
            <a:r>
              <a:rPr lang="en-US" dirty="0"/>
              <a:t> </a:t>
            </a:r>
            <a:r>
              <a:rPr lang="en-US" dirty="0" err="1"/>
              <a:t>nghệ</a:t>
            </a:r>
            <a:r>
              <a:rPr lang="en-US" dirty="0"/>
              <a:t> 4.0.</a:t>
            </a:r>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47569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t>Chuyên viên phân tích đầu tư</a:t>
            </a:r>
            <a:endParaRPr lang="en-US" dirty="0"/>
          </a:p>
        </p:txBody>
      </p:sp>
      <p:sp>
        <p:nvSpPr>
          <p:cNvPr id="3" name="Content Placeholder 2"/>
          <p:cNvSpPr>
            <a:spLocks noGrp="1"/>
          </p:cNvSpPr>
          <p:nvPr>
            <p:ph idx="1"/>
          </p:nvPr>
        </p:nvSpPr>
        <p:spPr/>
        <p:txBody>
          <a:bodyPr>
            <a:normAutofit fontScale="92500" lnSpcReduction="20000"/>
          </a:bodyPr>
          <a:lstStyle/>
          <a:p>
            <a:r>
              <a:rPr lang="vi-VN" dirty="0" smtClean="0"/>
              <a:t>Việc </a:t>
            </a:r>
            <a:r>
              <a:rPr lang="vi-VN" dirty="0"/>
              <a:t>theo dõi những thăng trầm của thị trường tài chính có tạo cho bạn cảm giác hồi hộp không? </a:t>
            </a:r>
            <a:endParaRPr lang="en-US" dirty="0" smtClean="0"/>
          </a:p>
          <a:p>
            <a:r>
              <a:rPr lang="vi-VN" dirty="0" smtClean="0"/>
              <a:t>Các </a:t>
            </a:r>
            <a:r>
              <a:rPr lang="vi-VN" dirty="0"/>
              <a:t>nhà phân tích đầu tư sẽ nghiên cứu xu hướng kinh tế và đánh giá các cơ hội đầu tư cho các ngân hàng, tổ chức chứng khoán và các công ty bảo hiểm. </a:t>
            </a:r>
            <a:endParaRPr lang="en-US" dirty="0" smtClean="0"/>
          </a:p>
          <a:p>
            <a:r>
              <a:rPr lang="vi-VN" dirty="0" smtClean="0"/>
              <a:t>Để </a:t>
            </a:r>
            <a:r>
              <a:rPr lang="vi-VN" dirty="0"/>
              <a:t>thành công trong lĩnh vực này, bạn phải có kiến thức toán học, khả năng đánh giá mức độ rủi ro và tính toán giá trị của các khoản đầu tư khác nhau cũng như kỹ năng phân tích các kết quả đã nghiên cứu. </a:t>
            </a:r>
            <a:endParaRPr lang="en-US" dirty="0" smtClean="0"/>
          </a:p>
          <a:p>
            <a:r>
              <a:rPr lang="vi-VN" dirty="0" smtClean="0"/>
              <a:t>Các </a:t>
            </a:r>
            <a:r>
              <a:rPr lang="vi-VN" dirty="0"/>
              <a:t>công ty tài chính, bảo hiểm, chứng khoán hay ngân hàng là nơi làm việc lý tưởng cho vị trí này.</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495153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dirty="0"/>
              <a:t>Chuyên viên kế hoạch tài chính </a:t>
            </a:r>
            <a:endParaRPr lang="en-US" dirty="0"/>
          </a:p>
        </p:txBody>
      </p:sp>
      <p:sp>
        <p:nvSpPr>
          <p:cNvPr id="3" name="Content Placeholder 2"/>
          <p:cNvSpPr>
            <a:spLocks noGrp="1"/>
          </p:cNvSpPr>
          <p:nvPr>
            <p:ph idx="1"/>
          </p:nvPr>
        </p:nvSpPr>
        <p:spPr/>
        <p:txBody>
          <a:bodyPr>
            <a:normAutofit fontScale="85000" lnSpcReduction="20000"/>
          </a:bodyPr>
          <a:lstStyle/>
          <a:p>
            <a:r>
              <a:rPr lang="vi-VN" dirty="0"/>
              <a:t> Chuyên viên kế hoạch tài chính có thể làm việc cho công ty, đoàn thể hoặc cho cá nhân. Tại công ty, chuyên viên kế hoạch tài chính sẽ phụ trách lập kế hoạch và đánh giá thu-chi tài chính định kỳ theo yêu cầu của cơ quan, đơn vị; đánh giá nhanh các số liệu và kiểm soát chất lượng giải ngân theo định kỳ. </a:t>
            </a:r>
            <a:endParaRPr lang="en-US" dirty="0" smtClean="0"/>
          </a:p>
          <a:p>
            <a:r>
              <a:rPr lang="vi-VN" dirty="0" smtClean="0"/>
              <a:t>Khi </a:t>
            </a:r>
            <a:r>
              <a:rPr lang="vi-VN" dirty="0"/>
              <a:t>làm việc với các cá nhân, chuyên viên kế hoạch tài chính có thể giúp cấu trúc các khoản đầu tư của các cá nhân cho từng mục tiêu cụ thể. </a:t>
            </a:r>
            <a:endParaRPr lang="en-US" dirty="0" smtClean="0"/>
          </a:p>
          <a:p>
            <a:r>
              <a:rPr lang="vi-VN" dirty="0" smtClean="0"/>
              <a:t>Theo </a:t>
            </a:r>
            <a:r>
              <a:rPr lang="vi-VN" dirty="0"/>
              <a:t>đó, họ cần có kỹ năng giao tiếp, khả năng thiết lập niềm tin với khách hàng cùng với một nền tảng toán học vững chắc. Chuyên viên kế hoạch tài chính có thể làm việc tại các ngân hàng, các công ty cung cấp dịch vụ tài chính, các dự án, …</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253882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Chuyên viên phân tích nghiên cứu hoạt </a:t>
            </a:r>
            <a:r>
              <a:rPr lang="vi-VN" b="1" dirty="0" smtClean="0"/>
              <a:t>động</a:t>
            </a:r>
            <a:endParaRPr lang="en-US" dirty="0"/>
          </a:p>
        </p:txBody>
      </p:sp>
      <p:sp>
        <p:nvSpPr>
          <p:cNvPr id="3" name="Content Placeholder 2"/>
          <p:cNvSpPr>
            <a:spLocks noGrp="1"/>
          </p:cNvSpPr>
          <p:nvPr>
            <p:ph idx="1"/>
          </p:nvPr>
        </p:nvSpPr>
        <p:spPr/>
        <p:txBody>
          <a:bodyPr>
            <a:normAutofit fontScale="85000" lnSpcReduction="20000"/>
          </a:bodyPr>
          <a:lstStyle/>
          <a:p>
            <a:r>
              <a:rPr lang="vi-VN" dirty="0" smtClean="0"/>
              <a:t>Kỹ </a:t>
            </a:r>
            <a:r>
              <a:rPr lang="vi-VN" dirty="0"/>
              <a:t>năng phân tích đóng vai trò rất quan trọng đối với công việc của các nhà phân tích nghiên cứu hoạt động. </a:t>
            </a:r>
            <a:endParaRPr lang="en-US" dirty="0" smtClean="0"/>
          </a:p>
          <a:p>
            <a:r>
              <a:rPr lang="vi-VN" dirty="0" smtClean="0"/>
              <a:t>Họ </a:t>
            </a:r>
            <a:r>
              <a:rPr lang="vi-VN" dirty="0"/>
              <a:t>áp dụng phân tích thống kê cho các chức năng nghiệp vụ và sử dụng các kỹ thuật mô hình toán học để tìm ra cách một tổ chức có thể hoạt động hiệu quả hơn. </a:t>
            </a:r>
            <a:endParaRPr lang="en-US" dirty="0" smtClean="0"/>
          </a:p>
          <a:p>
            <a:r>
              <a:rPr lang="vi-VN" dirty="0" smtClean="0"/>
              <a:t>Chẳng </a:t>
            </a:r>
            <a:r>
              <a:rPr lang="vi-VN" dirty="0"/>
              <a:t>hạn, một chuyên viên phân tích nghiên cứu hoạt động có thể giúp các hãng hàng không phát triển lịch bay hoặc giúp các nhà sản xuất máy tính tối ưu hóa quy trình sản xuất của họ. </a:t>
            </a:r>
            <a:endParaRPr lang="en-US" dirty="0" smtClean="0"/>
          </a:p>
          <a:p>
            <a:r>
              <a:rPr lang="vi-VN" dirty="0" smtClean="0"/>
              <a:t>Các </a:t>
            </a:r>
            <a:r>
              <a:rPr lang="vi-VN" dirty="0"/>
              <a:t>đơn vị làm việc cho vị trí chuyên viên phân tích nghiên cứu hoạt động tương đối rộng khắp, từ các cơ quan chính phủ, tổ chức phi chính phủ, cho tới các công ty tư nhân nội địa và quốc tế.</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229799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dirty="0"/>
              <a:t>Kỹ sư hệ </a:t>
            </a:r>
            <a:r>
              <a:rPr lang="vi-VN" b="1" dirty="0" smtClean="0"/>
              <a:t>thống</a:t>
            </a:r>
            <a:endParaRPr lang="en-US" dirty="0"/>
          </a:p>
        </p:txBody>
      </p:sp>
      <p:sp>
        <p:nvSpPr>
          <p:cNvPr id="3" name="Content Placeholder 2"/>
          <p:cNvSpPr>
            <a:spLocks noGrp="1"/>
          </p:cNvSpPr>
          <p:nvPr>
            <p:ph idx="1"/>
          </p:nvPr>
        </p:nvSpPr>
        <p:spPr/>
        <p:txBody>
          <a:bodyPr>
            <a:normAutofit fontScale="85000" lnSpcReduction="10000"/>
          </a:bodyPr>
          <a:lstStyle/>
          <a:p>
            <a:r>
              <a:rPr lang="vi-VN" dirty="0"/>
              <a:t> Các cử nhân Toán Ứng dụng, đặc biệt là chuyên ngành Toán – Tin, sau khi ra trường có thể đảm nhiện vị trí kỹ sự hệ thống tại các công ty điện tử và truyền thông. </a:t>
            </a:r>
            <a:endParaRPr lang="en-US" dirty="0" smtClean="0"/>
          </a:p>
          <a:p>
            <a:r>
              <a:rPr lang="vi-VN" dirty="0" smtClean="0"/>
              <a:t>Phân </a:t>
            </a:r>
            <a:r>
              <a:rPr lang="vi-VN" dirty="0"/>
              <a:t>tích dữ liệu và kỹ năng giải quyết vấn đề là chìa khóa cho công việc này. </a:t>
            </a:r>
            <a:endParaRPr lang="en-US" dirty="0" smtClean="0"/>
          </a:p>
          <a:p>
            <a:r>
              <a:rPr lang="vi-VN" dirty="0" smtClean="0"/>
              <a:t>Làm </a:t>
            </a:r>
            <a:r>
              <a:rPr lang="vi-VN" dirty="0"/>
              <a:t>việc tại các cơ quan này, bạn cũng có nhiều cơ hội để tiếp cận và học hỏi các công nghệ điện tử mới nhất, qua đó bắt kịp với xu thế phát triển công nghệ của đất nước và thế giới. </a:t>
            </a:r>
            <a:endParaRPr lang="en-US" dirty="0" smtClean="0"/>
          </a:p>
          <a:p>
            <a:r>
              <a:rPr lang="vi-VN" dirty="0" smtClean="0"/>
              <a:t>Các </a:t>
            </a:r>
            <a:r>
              <a:rPr lang="vi-VN" dirty="0"/>
              <a:t>đơn vị làm việc tiêu biểu cho vị trí này như các công ty IT như TOPICA, Framgia, hay các công ty viên thông như Viettel, VNPT,...</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1110457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t>Chuyên viên phân tích ngân sách</a:t>
            </a:r>
            <a:endParaRPr lang="en-US" dirty="0"/>
          </a:p>
        </p:txBody>
      </p:sp>
      <p:sp>
        <p:nvSpPr>
          <p:cNvPr id="3" name="Content Placeholder 2"/>
          <p:cNvSpPr>
            <a:spLocks noGrp="1"/>
          </p:cNvSpPr>
          <p:nvPr>
            <p:ph idx="1"/>
          </p:nvPr>
        </p:nvSpPr>
        <p:spPr/>
        <p:txBody>
          <a:bodyPr>
            <a:normAutofit fontScale="77500" lnSpcReduction="20000"/>
          </a:bodyPr>
          <a:lstStyle/>
          <a:p>
            <a:endParaRPr lang="vi-VN" dirty="0"/>
          </a:p>
          <a:p>
            <a:r>
              <a:rPr lang="vi-VN" dirty="0"/>
              <a:t> Khi các cơ quan chính phủ, các công ty nghiên cứu hoặc các tổ chức học thuật cần phải quyết định cách phân bổ kinh phí giữa các dự án khác nhau, họ thường tìm tới các nhà phân tích ngân sách. </a:t>
            </a:r>
            <a:endParaRPr lang="en-US" dirty="0" smtClean="0"/>
          </a:p>
          <a:p>
            <a:r>
              <a:rPr lang="vi-VN" dirty="0" smtClean="0"/>
              <a:t>Các </a:t>
            </a:r>
            <a:r>
              <a:rPr lang="vi-VN" dirty="0"/>
              <a:t>chuyên gia này phân tích các chi phí gắn liền với các đề xuất ngân sách khác nhau và xác định tác động tiềm năng của chúng đối với tình trạng tài chính tổng thể của một tổ chức. </a:t>
            </a:r>
            <a:endParaRPr lang="en-US" dirty="0" smtClean="0"/>
          </a:p>
          <a:p>
            <a:r>
              <a:rPr lang="vi-VN" dirty="0" smtClean="0"/>
              <a:t>Sau </a:t>
            </a:r>
            <a:r>
              <a:rPr lang="vi-VN" dirty="0"/>
              <a:t>đó, họ đưa ra các khuyến nghị tài trợ dựa trên những phát hiện của họ. Làm việc tại vị trí này, ứng viên cần có kiến thức vững chắc về toán học, tài chính và kỹ năng phân tích. </a:t>
            </a:r>
            <a:endParaRPr lang="en-US" dirty="0" smtClean="0"/>
          </a:p>
          <a:p>
            <a:r>
              <a:rPr lang="vi-VN" dirty="0" smtClean="0"/>
              <a:t>Hầu </a:t>
            </a:r>
            <a:r>
              <a:rPr lang="vi-VN" dirty="0"/>
              <a:t>hết các nhà tuyển dụng tìm kiếm các ứng cử viên với bằng cử nhân ngành Toán Ứng dụng, nhưng một số yêu cầu bằng Thạc sĩ.</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426800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dirty="0"/>
              <a:t>Lập trình </a:t>
            </a:r>
            <a:r>
              <a:rPr lang="vi-VN" b="1" dirty="0" smtClean="0"/>
              <a:t>viên</a:t>
            </a:r>
            <a:endParaRPr lang="en-US" dirty="0"/>
          </a:p>
        </p:txBody>
      </p:sp>
      <p:sp>
        <p:nvSpPr>
          <p:cNvPr id="3" name="Content Placeholder 2"/>
          <p:cNvSpPr>
            <a:spLocks noGrp="1"/>
          </p:cNvSpPr>
          <p:nvPr>
            <p:ph idx="1"/>
          </p:nvPr>
        </p:nvSpPr>
        <p:spPr/>
        <p:txBody>
          <a:bodyPr>
            <a:normAutofit fontScale="92500" lnSpcReduction="20000"/>
          </a:bodyPr>
          <a:lstStyle/>
          <a:p>
            <a:r>
              <a:rPr lang="vi-VN" dirty="0" smtClean="0"/>
              <a:t>Tâm </a:t>
            </a:r>
            <a:r>
              <a:rPr lang="vi-VN" dirty="0"/>
              <a:t>bằng cử nhân về toán học, đặc biệt là chuyên ngành Toán – Tin có thể giúp bạn có được vị trí của một lập trình viên tại một số công ty công nghệ. </a:t>
            </a:r>
            <a:endParaRPr lang="en-US" dirty="0" smtClean="0"/>
          </a:p>
          <a:p>
            <a:r>
              <a:rPr lang="vi-VN" dirty="0" smtClean="0"/>
              <a:t>Vị </a:t>
            </a:r>
            <a:r>
              <a:rPr lang="vi-VN" dirty="0"/>
              <a:t>trí này có thể liên quan đến việc viết các đặc tả cho các ứng dụng phần mềm, thiết kế các truy vấn cơ sở dữ liệu, hoặc phát triển các thủ tục kiểm thử và gỡ lỗi. </a:t>
            </a:r>
            <a:endParaRPr lang="en-US" dirty="0" smtClean="0"/>
          </a:p>
          <a:p>
            <a:r>
              <a:rPr lang="vi-VN" dirty="0" smtClean="0"/>
              <a:t>Bạn </a:t>
            </a:r>
            <a:r>
              <a:rPr lang="vi-VN" dirty="0"/>
              <a:t>cũng có thể đảm nhiệm tùy chỉnh một phần mềm để đáp ứng các nhu cầu cụ thể của công ty hoặc khách hàng của bạn. </a:t>
            </a:r>
            <a:endParaRPr lang="en-US" dirty="0" smtClean="0"/>
          </a:p>
          <a:p>
            <a:r>
              <a:rPr lang="vi-VN" dirty="0" smtClean="0"/>
              <a:t>Các </a:t>
            </a:r>
            <a:r>
              <a:rPr lang="vi-VN" dirty="0"/>
              <a:t>kiến thức về toán tin, các ngôn ngữ lập trình và hệ điều hành sẽ giúp bạn phát triển trong lĩnh vực này.</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4287863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t>Chuyên viên thống kê</a:t>
            </a:r>
            <a:endParaRPr lang="en-US" dirty="0"/>
          </a:p>
        </p:txBody>
      </p:sp>
      <p:sp>
        <p:nvSpPr>
          <p:cNvPr id="3" name="Content Placeholder 2"/>
          <p:cNvSpPr>
            <a:spLocks noGrp="1"/>
          </p:cNvSpPr>
          <p:nvPr>
            <p:ph idx="1"/>
          </p:nvPr>
        </p:nvSpPr>
        <p:spPr/>
        <p:txBody>
          <a:bodyPr>
            <a:normAutofit fontScale="92500" lnSpcReduction="20000"/>
          </a:bodyPr>
          <a:lstStyle/>
          <a:p>
            <a:endParaRPr lang="vi-VN" dirty="0"/>
          </a:p>
          <a:p>
            <a:r>
              <a:rPr lang="en-US" dirty="0" smtClean="0"/>
              <a:t>C</a:t>
            </a:r>
            <a:r>
              <a:rPr lang="vi-VN" dirty="0" smtClean="0"/>
              <a:t>huyên </a:t>
            </a:r>
            <a:r>
              <a:rPr lang="vi-VN" dirty="0"/>
              <a:t>viên thống kê thu thập và phân tích dữ liệu để xác định hướng giải quyết vấn đề. Vị trí này sẽ tiến hành các hình thức thu thập dữ liệu như khảo sát qua điện thoại, bảng câu hỏi trực tuyến hoặc thử nghiệm, từ đó phân tích và rút ra kết luận dựa trên kết quả. </a:t>
            </a:r>
            <a:endParaRPr lang="en-US" dirty="0" smtClean="0"/>
          </a:p>
          <a:p>
            <a:r>
              <a:rPr lang="vi-VN" dirty="0" smtClean="0"/>
              <a:t>Theo </a:t>
            </a:r>
            <a:r>
              <a:rPr lang="vi-VN" dirty="0"/>
              <a:t>đó, chuyên viên thống kê cần có kiến thức về toán học, thống kê, kế toán hay quản trị kinh doanh. </a:t>
            </a:r>
            <a:endParaRPr lang="en-US" dirty="0" smtClean="0"/>
          </a:p>
          <a:p>
            <a:r>
              <a:rPr lang="vi-VN" dirty="0" smtClean="0"/>
              <a:t>Chuyên </a:t>
            </a:r>
            <a:r>
              <a:rPr lang="vi-VN" dirty="0"/>
              <a:t>viên thống kê có thể làm việc cho các cơ quan chính phủ, viện nghiên cứu, công ty bảo hiểm, công ty dược phẩm hoặc thậm chí là các tổ chức thể thao. </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242636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1.2 </a:t>
            </a:r>
            <a:r>
              <a:rPr lang="en-US" dirty="0" err="1"/>
              <a:t>Tổng</a:t>
            </a:r>
            <a:r>
              <a:rPr lang="en-US" dirty="0"/>
              <a:t> </a:t>
            </a:r>
            <a:r>
              <a:rPr lang="en-US" dirty="0" err="1"/>
              <a:t>quan</a:t>
            </a:r>
            <a:r>
              <a:rPr lang="en-US" dirty="0"/>
              <a:t> </a:t>
            </a:r>
            <a:r>
              <a:rPr lang="en-US" dirty="0" err="1"/>
              <a:t>về</a:t>
            </a:r>
            <a:r>
              <a:rPr lang="en-US" dirty="0"/>
              <a:t> </a:t>
            </a:r>
            <a:r>
              <a:rPr lang="en-US" dirty="0" err="1"/>
              <a:t>khoa</a:t>
            </a:r>
            <a:r>
              <a:rPr lang="en-US" dirty="0"/>
              <a:t> học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lstStyle/>
          <a:p>
            <a:r>
              <a:rPr lang="en-US" dirty="0" smtClean="0"/>
              <a:t>Khoa học </a:t>
            </a:r>
            <a:r>
              <a:rPr lang="en-US" dirty="0" err="1" smtClean="0"/>
              <a:t>dữ</a:t>
            </a:r>
            <a:r>
              <a:rPr lang="en-US" dirty="0" smtClean="0"/>
              <a:t> </a:t>
            </a:r>
            <a:r>
              <a:rPr lang="en-US" dirty="0" err="1" smtClean="0"/>
              <a:t>liệu</a:t>
            </a:r>
            <a:r>
              <a:rPr lang="en-US" dirty="0" smtClean="0"/>
              <a:t> (Data Scientist) </a:t>
            </a:r>
            <a:r>
              <a:rPr lang="en-US" dirty="0" err="1" smtClean="0"/>
              <a:t>là</a:t>
            </a:r>
            <a:r>
              <a:rPr lang="en-US" dirty="0" smtClean="0"/>
              <a:t> </a:t>
            </a:r>
            <a:r>
              <a:rPr lang="en-US" dirty="0" err="1" smtClean="0"/>
              <a:t>những</a:t>
            </a:r>
            <a:r>
              <a:rPr lang="en-US" dirty="0" smtClean="0"/>
              <a:t> </a:t>
            </a:r>
            <a:r>
              <a:rPr lang="en-US" dirty="0" err="1" smtClean="0"/>
              <a:t>người</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sắp</a:t>
            </a:r>
            <a:r>
              <a:rPr lang="en-US" dirty="0" smtClean="0"/>
              <a:t> </a:t>
            </a:r>
            <a:r>
              <a:rPr lang="en-US" dirty="0" err="1" smtClean="0"/>
              <a:t>xếp</a:t>
            </a:r>
            <a:r>
              <a:rPr lang="en-US" dirty="0" smtClean="0"/>
              <a:t> </a:t>
            </a:r>
            <a:r>
              <a:rPr lang="en-US" dirty="0" err="1" smtClean="0"/>
              <a:t>và</a:t>
            </a:r>
            <a:r>
              <a:rPr lang="en-US" dirty="0" smtClean="0"/>
              <a:t> </a:t>
            </a:r>
            <a:r>
              <a:rPr lang="en-US" dirty="0" err="1" smtClean="0"/>
              <a:t>thay</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kể</a:t>
            </a:r>
            <a:r>
              <a:rPr lang="en-US" dirty="0" smtClean="0"/>
              <a:t> </a:t>
            </a:r>
            <a:r>
              <a:rPr lang="en-US" dirty="0" err="1" smtClean="0"/>
              <a:t>chuyện</a:t>
            </a:r>
            <a:r>
              <a:rPr lang="en-US" dirty="0" smtClean="0"/>
              <a:t>”, </a:t>
            </a:r>
            <a:r>
              <a:rPr lang="en-US" dirty="0" err="1" smtClean="0"/>
              <a:t>bất</a:t>
            </a:r>
            <a:r>
              <a:rPr lang="en-US" dirty="0" smtClean="0"/>
              <a:t> </a:t>
            </a:r>
            <a:r>
              <a:rPr lang="en-US" dirty="0" err="1" smtClean="0"/>
              <a:t>kể</a:t>
            </a:r>
            <a:r>
              <a:rPr lang="en-US" dirty="0" smtClean="0"/>
              <a:t> </a:t>
            </a:r>
            <a:r>
              <a:rPr lang="en-US" dirty="0" err="1" smtClean="0"/>
              <a:t>nó</a:t>
            </a:r>
            <a:r>
              <a:rPr lang="en-US" dirty="0" smtClean="0"/>
              <a:t> </a:t>
            </a:r>
            <a:r>
              <a:rPr lang="en-US" dirty="0" err="1" smtClean="0"/>
              <a:t>có</a:t>
            </a:r>
            <a:r>
              <a:rPr lang="en-US" dirty="0" smtClean="0"/>
              <a:t> </a:t>
            </a:r>
            <a:r>
              <a:rPr lang="en-US" dirty="0" err="1" smtClean="0"/>
              <a:t>cấu</a:t>
            </a:r>
            <a:r>
              <a:rPr lang="en-US" dirty="0" smtClean="0"/>
              <a:t> </a:t>
            </a:r>
            <a:r>
              <a:rPr lang="en-US" dirty="0" err="1" smtClean="0"/>
              <a:t>trúc</a:t>
            </a:r>
            <a:r>
              <a:rPr lang="en-US" dirty="0" smtClean="0"/>
              <a:t> hay không.</a:t>
            </a:r>
          </a:p>
          <a:p>
            <a:r>
              <a:rPr lang="en-US" dirty="0" err="1" smtClean="0"/>
              <a:t>Công</a:t>
            </a:r>
            <a:r>
              <a:rPr lang="en-US" dirty="0" smtClean="0"/>
              <a:t> </a:t>
            </a:r>
            <a:r>
              <a:rPr lang="en-US" dirty="0" err="1" smtClean="0"/>
              <a:t>việc</a:t>
            </a:r>
            <a:r>
              <a:rPr lang="en-US" dirty="0" smtClean="0"/>
              <a:t> của </a:t>
            </a:r>
            <a:r>
              <a:rPr lang="en-US" dirty="0" err="1" smtClean="0"/>
              <a:t>họ</a:t>
            </a:r>
            <a:r>
              <a:rPr lang="en-US" dirty="0" smtClean="0"/>
              <a:t> </a:t>
            </a:r>
            <a:r>
              <a:rPr lang="en-US" dirty="0" err="1" smtClean="0"/>
              <a:t>sẽ</a:t>
            </a:r>
            <a:r>
              <a:rPr lang="en-US" dirty="0" smtClean="0"/>
              <a:t> </a:t>
            </a:r>
            <a:r>
              <a:rPr lang="en-US" dirty="0" err="1" smtClean="0"/>
              <a:t>cần</a:t>
            </a:r>
            <a:r>
              <a:rPr lang="en-US" dirty="0" smtClean="0"/>
              <a:t> </a:t>
            </a:r>
            <a:r>
              <a:rPr lang="en-US" dirty="0" err="1" smtClean="0"/>
              <a:t>phối</a:t>
            </a:r>
            <a:r>
              <a:rPr lang="en-US" dirty="0" smtClean="0"/>
              <a:t> </a:t>
            </a:r>
            <a:r>
              <a:rPr lang="en-US" dirty="0" err="1" smtClean="0"/>
              <a:t>hợp</a:t>
            </a:r>
            <a:r>
              <a:rPr lang="en-US" dirty="0" smtClean="0"/>
              <a:t> </a:t>
            </a:r>
            <a:r>
              <a:rPr lang="en-US" dirty="0" err="1" smtClean="0"/>
              <a:t>cả</a:t>
            </a:r>
            <a:r>
              <a:rPr lang="en-US" dirty="0" smtClean="0"/>
              <a:t> </a:t>
            </a:r>
            <a:r>
              <a:rPr lang="en-US" dirty="0" err="1" smtClean="0"/>
              <a:t>khoa</a:t>
            </a:r>
            <a:r>
              <a:rPr lang="en-US" dirty="0" smtClean="0"/>
              <a:t> học </a:t>
            </a:r>
            <a:r>
              <a:rPr lang="en-US" dirty="0" err="1" smtClean="0"/>
              <a:t>máy</a:t>
            </a:r>
            <a:r>
              <a:rPr lang="en-US" dirty="0" smtClean="0"/>
              <a:t> </a:t>
            </a:r>
            <a:r>
              <a:rPr lang="en-US" dirty="0" err="1" smtClean="0"/>
              <a:t>tính</a:t>
            </a:r>
            <a:r>
              <a:rPr lang="en-US" dirty="0" smtClean="0"/>
              <a:t>, </a:t>
            </a:r>
            <a:r>
              <a:rPr lang="en-US" dirty="0" err="1" smtClean="0"/>
              <a:t>thống</a:t>
            </a:r>
            <a:r>
              <a:rPr lang="en-US" dirty="0" smtClean="0"/>
              <a:t> </a:t>
            </a:r>
            <a:r>
              <a:rPr lang="en-US" dirty="0" err="1" smtClean="0"/>
              <a:t>kê</a:t>
            </a:r>
            <a:r>
              <a:rPr lang="en-US" dirty="0" smtClean="0"/>
              <a:t>, </a:t>
            </a:r>
            <a:r>
              <a:rPr lang="en-US" dirty="0" err="1" smtClean="0"/>
              <a:t>toán</a:t>
            </a:r>
            <a:r>
              <a:rPr lang="en-US" dirty="0" smtClean="0"/>
              <a:t> học. </a:t>
            </a:r>
          </a:p>
          <a:p>
            <a:r>
              <a:rPr lang="en-US" dirty="0" err="1" smtClean="0"/>
              <a:t>Nhà</a:t>
            </a:r>
            <a:r>
              <a:rPr lang="en-US" dirty="0" smtClean="0"/>
              <a:t> </a:t>
            </a:r>
            <a:r>
              <a:rPr lang="en-US" dirty="0" err="1" smtClean="0"/>
              <a:t>khoa</a:t>
            </a:r>
            <a:r>
              <a:rPr lang="en-US" dirty="0" smtClean="0"/>
              <a:t> học </a:t>
            </a:r>
            <a:r>
              <a:rPr lang="en-US" dirty="0" err="1" smtClean="0"/>
              <a:t>dữ</a:t>
            </a:r>
            <a:r>
              <a:rPr lang="en-US" dirty="0" smtClean="0"/>
              <a:t> </a:t>
            </a:r>
            <a:r>
              <a:rPr lang="en-US" dirty="0" err="1" smtClean="0"/>
              <a:t>liệu</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xử</a:t>
            </a:r>
            <a:r>
              <a:rPr lang="en-US" dirty="0" smtClean="0"/>
              <a:t> </a:t>
            </a:r>
            <a:r>
              <a:rPr lang="en-US" dirty="0" err="1" smtClean="0"/>
              <a:t>lý</a:t>
            </a:r>
            <a:r>
              <a:rPr lang="en-US" dirty="0" smtClean="0"/>
              <a:t> </a:t>
            </a:r>
            <a:r>
              <a:rPr lang="en-US" dirty="0" err="1" smtClean="0"/>
              <a:t>và</a:t>
            </a:r>
            <a:r>
              <a:rPr lang="en-US" dirty="0" smtClean="0"/>
              <a:t> </a:t>
            </a:r>
            <a:r>
              <a:rPr lang="en-US" dirty="0" err="1" smtClean="0"/>
              <a:t>mô</a:t>
            </a:r>
            <a:r>
              <a:rPr lang="en-US" dirty="0" smtClean="0"/>
              <a:t> </a:t>
            </a:r>
            <a:r>
              <a:rPr lang="en-US" dirty="0" err="1" smtClean="0"/>
              <a:t>hình</a:t>
            </a:r>
            <a:r>
              <a:rPr lang="en-US" dirty="0" smtClean="0"/>
              <a:t> </a:t>
            </a:r>
            <a:r>
              <a:rPr lang="en-US" dirty="0" err="1" smtClean="0"/>
              <a:t>hóa</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diễn</a:t>
            </a:r>
            <a:r>
              <a:rPr lang="en-US" dirty="0" smtClean="0"/>
              <a:t> </a:t>
            </a:r>
            <a:r>
              <a:rPr lang="en-US" dirty="0" err="1" smtClean="0"/>
              <a:t>giải</a:t>
            </a:r>
            <a:r>
              <a:rPr lang="en-US" dirty="0" smtClean="0"/>
              <a:t> </a:t>
            </a:r>
            <a:r>
              <a:rPr lang="en-US" dirty="0" err="1" smtClean="0"/>
              <a:t>các</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để</a:t>
            </a:r>
            <a:r>
              <a:rPr lang="en-US" dirty="0" smtClean="0"/>
              <a:t> tạo </a:t>
            </a:r>
            <a:r>
              <a:rPr lang="en-US" dirty="0" err="1" smtClean="0"/>
              <a:t>ra</a:t>
            </a:r>
            <a:r>
              <a:rPr lang="en-US" dirty="0" smtClean="0"/>
              <a:t> </a:t>
            </a:r>
            <a:r>
              <a:rPr lang="en-US" dirty="0" err="1" smtClean="0"/>
              <a:t>các</a:t>
            </a:r>
            <a:r>
              <a:rPr lang="en-US" dirty="0" smtClean="0"/>
              <a:t> </a:t>
            </a:r>
            <a:r>
              <a:rPr lang="en-US" dirty="0" err="1" smtClean="0"/>
              <a:t>kế</a:t>
            </a:r>
            <a:r>
              <a:rPr lang="en-US" dirty="0" smtClean="0"/>
              <a:t> </a:t>
            </a:r>
            <a:r>
              <a:rPr lang="en-US" dirty="0" err="1" smtClean="0"/>
              <a:t>hoạch</a:t>
            </a:r>
            <a:r>
              <a:rPr lang="en-US" dirty="0" smtClean="0"/>
              <a:t> </a:t>
            </a:r>
            <a:r>
              <a:rPr lang="en-US" dirty="0" err="1" smtClean="0"/>
              <a:t>hoạt</a:t>
            </a:r>
            <a:r>
              <a:rPr lang="en-US" dirty="0" smtClean="0"/>
              <a:t> </a:t>
            </a:r>
            <a:r>
              <a:rPr lang="en-US" dirty="0" err="1" smtClean="0"/>
              <a:t>động</a:t>
            </a:r>
            <a:r>
              <a:rPr lang="en-US" dirty="0" smtClean="0"/>
              <a:t> </a:t>
            </a:r>
            <a:r>
              <a:rPr lang="en-US" dirty="0" err="1" smtClean="0"/>
              <a:t>cho</a:t>
            </a:r>
            <a:r>
              <a:rPr lang="en-US" dirty="0" smtClean="0"/>
              <a:t> </a:t>
            </a:r>
            <a:r>
              <a:rPr lang="en-US" dirty="0" err="1" smtClean="0"/>
              <a:t>doanh</a:t>
            </a:r>
            <a:r>
              <a:rPr lang="en-US" dirty="0" smtClean="0"/>
              <a:t> </a:t>
            </a:r>
            <a:r>
              <a:rPr lang="en-US" dirty="0" err="1" smtClean="0"/>
              <a:t>nghiệp</a:t>
            </a:r>
            <a:r>
              <a:rPr lang="en-US" dirty="0" smtClean="0"/>
              <a:t>.</a:t>
            </a:r>
          </a:p>
          <a:p>
            <a:endParaRPr lang="en-US" dirty="0"/>
          </a:p>
          <a:p>
            <a:endParaRPr lang="en-US"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037103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KHOA HỌC DỮ LIỆU</a:t>
            </a:r>
            <a:endParaRPr lang="en-US" dirty="0"/>
          </a:p>
        </p:txBody>
      </p:sp>
      <p:sp>
        <p:nvSpPr>
          <p:cNvPr id="3" name="Content Placeholder 2"/>
          <p:cNvSpPr>
            <a:spLocks noGrp="1"/>
          </p:cNvSpPr>
          <p:nvPr>
            <p:ph idx="1"/>
          </p:nvPr>
        </p:nvSpPr>
        <p:spPr/>
        <p:txBody>
          <a:bodyPr/>
          <a:lstStyle/>
          <a:p>
            <a:r>
              <a:rPr lang="en-US" b="1" dirty="0" err="1">
                <a:latin typeface="Times New Roman" panose="02020603050405020304" pitchFamily="18" charset="0"/>
                <a:ea typeface="Times New Roman" panose="02020603050405020304" pitchFamily="18" charset="0"/>
              </a:rPr>
              <a:t>Khoa</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học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Dữ</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liệu</a:t>
            </a:r>
            <a:r>
              <a:rPr lang="en-US" b="1" dirty="0">
                <a:latin typeface="Times New Roman" panose="02020603050405020304" pitchFamily="18" charset="0"/>
                <a:ea typeface="Times New Roman" panose="02020603050405020304" pitchFamily="18" charset="0"/>
              </a:rPr>
              <a:t> (Data Science) </a:t>
            </a:r>
            <a:r>
              <a:rPr lang="en-US" b="1" dirty="0" err="1">
                <a:latin typeface="Times New Roman" panose="02020603050405020304" pitchFamily="18" charset="0"/>
                <a:ea typeface="Times New Roman" panose="02020603050405020304" pitchFamily="18" charset="0"/>
              </a:rPr>
              <a:t>là</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một</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lĩnh</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vực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liên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ngành</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tập</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trung</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vào</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việc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thu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thập</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lưu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trữ</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và</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phân</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tích</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một</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lượng</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lớn</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thông</a:t>
            </a:r>
            <a:r>
              <a:rPr lang="en-US" dirty="0">
                <a:latin typeface="Times New Roman" panose="02020603050405020304" pitchFamily="18" charset="0"/>
                <a:ea typeface="Times New Roman" panose="02020603050405020304" pitchFamily="18" charset="0"/>
              </a:rPr>
              <a:t> tin </a:t>
            </a:r>
            <a:r>
              <a:rPr lang="en-US" dirty="0" err="1">
                <a:latin typeface="Times New Roman" panose="02020603050405020304" pitchFamily="18" charset="0"/>
                <a:ea typeface="Times New Roman" panose="02020603050405020304" pitchFamily="18" charset="0"/>
              </a:rPr>
              <a:t>từ</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nhiều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lĩnh</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vực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khác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nhau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nhằm</a:t>
            </a:r>
            <a:r>
              <a:rPr lang="en-US"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mục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đích</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khai</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thác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giá</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trị</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từ</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dữ</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liệu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cho</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các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công</a:t>
            </a:r>
            <a:r>
              <a:rPr lang="en-US" dirty="0">
                <a:latin typeface="Times New Roman" panose="02020603050405020304" pitchFamily="18" charset="0"/>
                <a:ea typeface="Times New Roman" panose="02020603050405020304" pitchFamily="18" charset="0"/>
              </a:rPr>
              <a:t> ty </a:t>
            </a:r>
            <a:r>
              <a:rPr lang="en-US" dirty="0" err="1">
                <a:latin typeface="Times New Roman" panose="02020603050405020304" pitchFamily="18" charset="0"/>
                <a:ea typeface="Times New Roman" panose="02020603050405020304" pitchFamily="18" charset="0"/>
              </a:rPr>
              <a:t>và</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xã</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hội</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nói</a:t>
            </a:r>
            <a:r>
              <a:rPr lang="en-US" dirty="0">
                <a:latin typeface="Times New Roman" panose="02020603050405020304" pitchFamily="18" charset="0"/>
                <a:ea typeface="Times New Roman" panose="02020603050405020304" pitchFamily="18" charset="0"/>
              </a:rPr>
              <a:t> </a:t>
            </a:r>
            <a:r>
              <a:rPr lang="en-US" dirty="0" err="1" smtClean="0">
                <a:latin typeface="Times New Roman" panose="02020603050405020304" pitchFamily="18" charset="0"/>
                <a:ea typeface="Times New Roman" panose="02020603050405020304" pitchFamily="18" charset="0"/>
              </a:rPr>
              <a:t>chung</a:t>
            </a:r>
            <a:r>
              <a:rPr lang="en-US" dirty="0" smtClean="0">
                <a:latin typeface="Times New Roman" panose="02020603050405020304" pitchFamily="18" charset="0"/>
                <a:ea typeface="Times New Roman" panose="02020603050405020304" pitchFamily="18" charset="0"/>
              </a:rPr>
              <a:t>.</a:t>
            </a:r>
          </a:p>
          <a:p>
            <a:endParaRPr lang="en-US"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034858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KHOA HỌC DỮ LIỆU</a:t>
            </a:r>
            <a:endParaRPr lang="en-US" dirty="0"/>
          </a:p>
        </p:txBody>
      </p:sp>
      <p:sp>
        <p:nvSpPr>
          <p:cNvPr id="3" name="Content Placeholder 2"/>
          <p:cNvSpPr>
            <a:spLocks noGrp="1"/>
          </p:cNvSpPr>
          <p:nvPr>
            <p:ph idx="1"/>
          </p:nvPr>
        </p:nvSpPr>
        <p:spPr/>
        <p:txBody>
          <a:bodyPr>
            <a:normAutofit fontScale="92500" lnSpcReduction="10000"/>
          </a:bodyPr>
          <a:lstStyle/>
          <a:p>
            <a:pPr>
              <a:lnSpc>
                <a:spcPct val="107000"/>
              </a:lnSpc>
              <a:spcAft>
                <a:spcPts val="0"/>
              </a:spcAft>
            </a:pPr>
            <a:r>
              <a:rPr lang="en-US" dirty="0" err="1">
                <a:latin typeface="Times New Roman" panose="02020603050405020304" pitchFamily="18" charset="0"/>
                <a:ea typeface="Times New Roman" panose="02020603050405020304" pitchFamily="18" charset="0"/>
                <a:cs typeface="Times New Roman" panose="02020603050405020304" pitchFamily="18" charset="0"/>
              </a:rPr>
              <a:t>Khoa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học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Dữ</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liệu</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đòi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hỏi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sự</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tham</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gia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của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các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đội</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ngũ</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đa</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ngành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bao</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gồm</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các</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nhà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khoa</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học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máy</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tính</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nhà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thống</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kê</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nhà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học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nhà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sinh</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học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nhà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báo</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và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nhà</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xã</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hội</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học</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Times New Roman" panose="02020603050405020304" pitchFamily="18" charset="0"/>
            </a:endParaRPr>
          </a:p>
          <a:p>
            <a:r>
              <a:rPr lang="en-US" dirty="0" err="1">
                <a:latin typeface="Times New Roman" panose="02020603050405020304" pitchFamily="18" charset="0"/>
                <a:ea typeface="Times New Roman" panose="02020603050405020304" pitchFamily="18" charset="0"/>
              </a:rPr>
              <a:t>Mục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tiêu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chính</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của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lĩnh</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vực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này</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là</a:t>
            </a:r>
            <a:r>
              <a:rPr lang="en-US"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khám</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phá</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xác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định</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và</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khai</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thác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các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mối</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quan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hệ</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bền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vững</a:t>
            </a:r>
            <a:r>
              <a:rPr lang="en-US" dirty="0">
                <a:latin typeface="Times New Roman" panose="02020603050405020304" pitchFamily="18" charset="0"/>
                <a:ea typeface="Times New Roman" panose="02020603050405020304" pitchFamily="18" charset="0"/>
              </a:rPr>
              <a:t> (persistent relationships) </a:t>
            </a:r>
            <a:r>
              <a:rPr lang="en-US" dirty="0" err="1">
                <a:latin typeface="Times New Roman" panose="02020603050405020304" pitchFamily="18" charset="0"/>
                <a:ea typeface="Times New Roman" panose="02020603050405020304" pitchFamily="18" charset="0"/>
              </a:rPr>
              <a:t>giữa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các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biến</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số</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Các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mối</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quan</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hệ</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này</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sau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đó</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được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sử</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dụng</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cho</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mục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đích</a:t>
            </a:r>
            <a:r>
              <a:rPr lang="en-US"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giải</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thích</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và</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dự</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đoán</a:t>
            </a:r>
            <a:r>
              <a:rPr lang="en-US" dirty="0">
                <a:latin typeface="Times New Roman" panose="02020603050405020304" pitchFamily="18" charset="0"/>
                <a:ea typeface="Times New Roman" panose="02020603050405020304" pitchFamily="18" charset="0"/>
              </a:rPr>
              <a:t> (prediction). </a:t>
            </a:r>
            <a:endParaRPr lang="en-US" dirty="0" smtClean="0">
              <a:latin typeface="Times New Roman" panose="02020603050405020304" pitchFamily="18" charset="0"/>
              <a:ea typeface="Times New Roman" panose="02020603050405020304" pitchFamily="18" charset="0"/>
            </a:endParaRPr>
          </a:p>
          <a:p>
            <a:r>
              <a:rPr lang="en-US" dirty="0" err="1" smtClean="0">
                <a:latin typeface="Times New Roman" panose="02020603050405020304" pitchFamily="18" charset="0"/>
                <a:ea typeface="Times New Roman" panose="02020603050405020304" pitchFamily="18" charset="0"/>
              </a:rPr>
              <a:t>Mục</a:t>
            </a:r>
            <a:r>
              <a:rPr lang="en-US" dirty="0" smtClean="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tiêu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lớn</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của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nhà</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khoa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học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dữ</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liệu</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là</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giúp</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mọi</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người</a:t>
            </a:r>
            <a:r>
              <a:rPr lang="en-US"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chuyển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đổi</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dữ</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liệu</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thành</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thông</a:t>
            </a:r>
            <a:r>
              <a:rPr lang="en-US" b="1" dirty="0">
                <a:latin typeface="Times New Roman" panose="02020603050405020304" pitchFamily="18" charset="0"/>
                <a:ea typeface="Times New Roman" panose="02020603050405020304" pitchFamily="18" charset="0"/>
              </a:rPr>
              <a:t> tin, </a:t>
            </a:r>
            <a:r>
              <a:rPr lang="en-US" b="1" dirty="0" err="1">
                <a:latin typeface="Times New Roman" panose="02020603050405020304" pitchFamily="18" charset="0"/>
                <a:ea typeface="Times New Roman" panose="02020603050405020304" pitchFamily="18" charset="0"/>
              </a:rPr>
              <a:t>và</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từ</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đó</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tiến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lên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các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cấp</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độ</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cao</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hơn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như</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kiến</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thức</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sự</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hiểu</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biết</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và</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trí</a:t>
            </a:r>
            <a:r>
              <a:rPr lang="en-US" b="1" dirty="0">
                <a:latin typeface="Times New Roman" panose="02020603050405020304" pitchFamily="18" charset="0"/>
                <a:ea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rPr>
              <a:t>tuệ</a:t>
            </a:r>
            <a:r>
              <a:rPr lang="en-US" dirty="0">
                <a:latin typeface="Times New Roman" panose="02020603050405020304" pitchFamily="18" charset="0"/>
                <a:ea typeface="Times New Roman" panose="02020603050405020304" pitchFamily="18" charset="0"/>
              </a:rPr>
              <a:t> </a:t>
            </a:r>
            <a:endParaRPr lang="en-US" dirty="0"/>
          </a:p>
          <a:p>
            <a:endParaRPr lang="en-US"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058610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KHOA HỌC DỮ LIỆU</a:t>
            </a:r>
            <a:endParaRPr lang="en-US" dirty="0"/>
          </a:p>
        </p:txBody>
      </p:sp>
      <p:sp>
        <p:nvSpPr>
          <p:cNvPr id="3" name="Content Placeholder 2"/>
          <p:cNvSpPr>
            <a:spLocks noGrp="1"/>
          </p:cNvSpPr>
          <p:nvPr>
            <p:ph idx="1"/>
          </p:nvPr>
        </p:nvSpPr>
        <p:spPr/>
        <p:txBody>
          <a:bodyPr>
            <a:normAutofit/>
          </a:bodyPr>
          <a:lstStyle/>
          <a:p>
            <a:r>
              <a:rPr lang="en-US" dirty="0" err="1" smtClean="0"/>
              <a:t>Quy</a:t>
            </a:r>
            <a:r>
              <a:rPr lang="en-US" dirty="0" smtClean="0"/>
              <a:t> </a:t>
            </a:r>
            <a:r>
              <a:rPr lang="en-US" dirty="0" err="1" smtClean="0"/>
              <a:t>trình</a:t>
            </a:r>
            <a:r>
              <a:rPr lang="en-US" dirty="0" smtClean="0"/>
              <a:t> </a:t>
            </a:r>
            <a:r>
              <a:rPr lang="en-US" dirty="0" err="1">
                <a:latin typeface="Times New Roman" panose="02020603050405020304" pitchFamily="18" charset="0"/>
                <a:ea typeface="Times New Roman" panose="02020603050405020304" pitchFamily="18" charset="0"/>
              </a:rPr>
              <a:t>làm</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việc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trong</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Khoa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học</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Dữ</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liệu</a:t>
            </a:r>
            <a:r>
              <a:rPr lang="en-US" dirty="0">
                <a:latin typeface="Times New Roman" panose="02020603050405020304" pitchFamily="18" charset="0"/>
                <a:ea typeface="Times New Roman" panose="02020603050405020304" pitchFamily="18" charset="0"/>
              </a:rPr>
              <a:t> </a:t>
            </a:r>
            <a:endParaRPr lang="en-US" dirty="0"/>
          </a:p>
          <a:p>
            <a:pPr lvl="1">
              <a:lnSpc>
                <a:spcPct val="107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1.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Đặt</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câu</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hỏi</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phù</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hợp</a:t>
            </a:r>
            <a:r>
              <a:rPr lang="en-US" dirty="0">
                <a:latin typeface="Times New Roman" panose="02020603050405020304" pitchFamily="18" charset="0"/>
                <a:ea typeface="Times New Roman" panose="02020603050405020304" pitchFamily="18" charset="0"/>
                <a:cs typeface="Times New Roman" panose="02020603050405020304" pitchFamily="18" charset="0"/>
              </a:rPr>
              <a:t> (asking the right questions).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2. </a:t>
            </a:r>
            <a:r>
              <a:rPr lang="en-US" b="1"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Thu </a:t>
            </a:r>
            <a:r>
              <a:rPr lang="en-US" b="1" dirty="0" err="1">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thập</a:t>
            </a:r>
            <a:r>
              <a:rPr lang="en-US" b="1"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và</a:t>
            </a:r>
            <a:r>
              <a:rPr lang="en-US" b="1"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làm</a:t>
            </a:r>
            <a:r>
              <a:rPr lang="en-US" b="1"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sạch</a:t>
            </a:r>
            <a:r>
              <a:rPr lang="en-US" b="1"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dữ</a:t>
            </a:r>
            <a:r>
              <a:rPr lang="en-US" b="1"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liệu</a:t>
            </a:r>
            <a:r>
              <a:rPr lang="en-US" dirty="0">
                <a:solidFill>
                  <a:srgbClr val="0000CC"/>
                </a:solidFill>
                <a:latin typeface="Times New Roman" panose="02020603050405020304" pitchFamily="18" charset="0"/>
                <a:ea typeface="Times New Roman" panose="02020603050405020304" pitchFamily="18" charset="0"/>
                <a:cs typeface="Times New Roman" panose="02020603050405020304" pitchFamily="18" charset="0"/>
              </a:rPr>
              <a:t> (gathering and cleaning data).</a:t>
            </a:r>
            <a:endParaRPr lang="en-US" sz="2400" dirty="0">
              <a:solidFill>
                <a:srgbClr val="0000CC"/>
              </a:solidFill>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3.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Tạo</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giả</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thuyết</a:t>
            </a:r>
            <a:r>
              <a:rPr lang="en-US" dirty="0">
                <a:latin typeface="Times New Roman" panose="02020603050405020304" pitchFamily="18" charset="0"/>
                <a:ea typeface="Times New Roman" panose="02020603050405020304" pitchFamily="18" charset="0"/>
                <a:cs typeface="Times New Roman" panose="02020603050405020304" pitchFamily="18" charset="0"/>
              </a:rPr>
              <a:t> (generating hypothesis).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4.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Thực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suy</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luận</a:t>
            </a:r>
            <a:r>
              <a:rPr lang="en-US" dirty="0">
                <a:latin typeface="Times New Roman" panose="02020603050405020304" pitchFamily="18" charset="0"/>
                <a:ea typeface="Times New Roman" panose="02020603050405020304" pitchFamily="18" charset="0"/>
                <a:cs typeface="Times New Roman" panose="02020603050405020304" pitchFamily="18" charset="0"/>
              </a:rPr>
              <a:t> (making inferences).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5.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Trực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quan</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hóa</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dữ</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liệu</a:t>
            </a:r>
            <a:r>
              <a:rPr lang="en-US" dirty="0">
                <a:latin typeface="Times New Roman" panose="02020603050405020304" pitchFamily="18" charset="0"/>
                <a:ea typeface="Times New Roman" panose="02020603050405020304" pitchFamily="18" charset="0"/>
                <a:cs typeface="Times New Roman" panose="02020603050405020304" pitchFamily="18" charset="0"/>
              </a:rPr>
              <a:t> (visualizing data).</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6.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Đánh</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giá</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các</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giải</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ea typeface="Times New Roman" panose="02020603050405020304" pitchFamily="18" charset="0"/>
                <a:cs typeface="Times New Roman" panose="02020603050405020304" pitchFamily="18" charset="0"/>
              </a:rPr>
              <a:t>pháp</a:t>
            </a:r>
            <a:r>
              <a:rPr lang="en-US" dirty="0">
                <a:latin typeface="Times New Roman" panose="02020603050405020304" pitchFamily="18" charset="0"/>
                <a:ea typeface="Times New Roman" panose="02020603050405020304" pitchFamily="18" charset="0"/>
                <a:cs typeface="Times New Roman" panose="02020603050405020304" pitchFamily="18" charset="0"/>
              </a:rPr>
              <a:t> (assessing solutions).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09010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KHOA HỌC DỮ LIỆU</a:t>
            </a:r>
            <a:endParaRPr lang="en-US" dirty="0"/>
          </a:p>
        </p:txBody>
      </p:sp>
      <p:sp>
        <p:nvSpPr>
          <p:cNvPr id="3" name="Content Placeholder 2"/>
          <p:cNvSpPr>
            <a:spLocks noGrp="1"/>
          </p:cNvSpPr>
          <p:nvPr>
            <p:ph idx="1"/>
          </p:nvPr>
        </p:nvSpPr>
        <p:spPr/>
        <p:txBody>
          <a:bodyPr>
            <a:normAutofit lnSpcReduction="10000"/>
          </a:bodyPr>
          <a:lstStyle/>
          <a:p>
            <a:r>
              <a:rPr lang="en-US" dirty="0" err="1" smtClean="0"/>
              <a:t>Các</a:t>
            </a:r>
            <a:r>
              <a:rPr lang="en-US" dirty="0" smtClean="0"/>
              <a:t> </a:t>
            </a:r>
            <a:r>
              <a:rPr lang="en-US" dirty="0" err="1" smtClean="0"/>
              <a:t>trụ</a:t>
            </a:r>
            <a:r>
              <a:rPr lang="en-US" dirty="0" smtClean="0"/>
              <a:t> </a:t>
            </a:r>
            <a:r>
              <a:rPr lang="en-US" dirty="0" err="1" smtClean="0"/>
              <a:t>cột</a:t>
            </a:r>
            <a:r>
              <a:rPr lang="en-US" dirty="0" smtClean="0"/>
              <a:t> </a:t>
            </a:r>
            <a:r>
              <a:rPr lang="en-US" dirty="0" err="1" smtClean="0"/>
              <a:t>kỹ</a:t>
            </a:r>
            <a:r>
              <a:rPr lang="en-US" dirty="0" smtClean="0"/>
              <a:t> </a:t>
            </a:r>
            <a:r>
              <a:rPr lang="en-US" dirty="0" err="1" smtClean="0"/>
              <a:t>thuật</a:t>
            </a:r>
            <a:endParaRPr lang="en-US" dirty="0" smtClean="0"/>
          </a:p>
          <a:p>
            <a:pPr lvl="1"/>
            <a:r>
              <a:rPr lang="en-US" dirty="0" err="1" smtClean="0"/>
              <a:t>Học</a:t>
            </a:r>
            <a:r>
              <a:rPr lang="en-US" dirty="0" smtClean="0"/>
              <a:t> </a:t>
            </a:r>
            <a:r>
              <a:rPr lang="en-US" dirty="0" err="1" smtClean="0"/>
              <a:t>máy</a:t>
            </a:r>
            <a:r>
              <a:rPr lang="en-US" dirty="0" smtClean="0"/>
              <a:t> </a:t>
            </a:r>
          </a:p>
          <a:p>
            <a:pPr lvl="2"/>
            <a:r>
              <a:rPr lang="en-US" dirty="0" err="1" smtClean="0"/>
              <a:t>Học</a:t>
            </a:r>
            <a:r>
              <a:rPr lang="en-US" dirty="0" smtClean="0"/>
              <a:t> </a:t>
            </a:r>
            <a:r>
              <a:rPr lang="en-US" dirty="0" err="1" smtClean="0"/>
              <a:t>có</a:t>
            </a:r>
            <a:r>
              <a:rPr lang="en-US" dirty="0" smtClean="0"/>
              <a:t> </a:t>
            </a:r>
            <a:r>
              <a:rPr lang="en-US" dirty="0" err="1" smtClean="0"/>
              <a:t>giám</a:t>
            </a:r>
            <a:r>
              <a:rPr lang="en-US" dirty="0" smtClean="0"/>
              <a:t> </a:t>
            </a:r>
            <a:r>
              <a:rPr lang="en-US" dirty="0" err="1" smtClean="0"/>
              <a:t>sát</a:t>
            </a:r>
            <a:r>
              <a:rPr lang="en-US" dirty="0" smtClean="0"/>
              <a:t> (supervised learning)</a:t>
            </a:r>
          </a:p>
          <a:p>
            <a:pPr lvl="2"/>
            <a:r>
              <a:rPr lang="en-US" dirty="0" err="1" smtClean="0"/>
              <a:t>Học</a:t>
            </a:r>
            <a:r>
              <a:rPr lang="en-US" dirty="0" smtClean="0"/>
              <a:t> </a:t>
            </a:r>
            <a:r>
              <a:rPr lang="en-US" dirty="0" err="1" smtClean="0"/>
              <a:t>không</a:t>
            </a:r>
            <a:r>
              <a:rPr lang="en-US" dirty="0" smtClean="0"/>
              <a:t> </a:t>
            </a:r>
            <a:r>
              <a:rPr lang="en-US" dirty="0" err="1" smtClean="0"/>
              <a:t>giám</a:t>
            </a:r>
            <a:r>
              <a:rPr lang="en-US" dirty="0" smtClean="0"/>
              <a:t> </a:t>
            </a:r>
            <a:r>
              <a:rPr lang="en-US" dirty="0" err="1" smtClean="0"/>
              <a:t>sát</a:t>
            </a:r>
            <a:r>
              <a:rPr lang="en-US" dirty="0" smtClean="0"/>
              <a:t> (unsupervised learning)</a:t>
            </a:r>
          </a:p>
          <a:p>
            <a:pPr lvl="2"/>
            <a:r>
              <a:rPr lang="en-US" dirty="0" err="1" smtClean="0"/>
              <a:t>Học</a:t>
            </a:r>
            <a:r>
              <a:rPr lang="en-US" dirty="0" smtClean="0"/>
              <a:t> tang </a:t>
            </a:r>
            <a:r>
              <a:rPr lang="en-US" dirty="0" err="1" smtClean="0"/>
              <a:t>cường</a:t>
            </a:r>
            <a:r>
              <a:rPr lang="en-US" dirty="0" smtClean="0"/>
              <a:t> (Reinforcement learning)</a:t>
            </a:r>
          </a:p>
          <a:p>
            <a:pPr lvl="2"/>
            <a:r>
              <a:rPr lang="en-US" dirty="0" err="1" smtClean="0"/>
              <a:t>Học</a:t>
            </a:r>
            <a:r>
              <a:rPr lang="en-US" dirty="0" smtClean="0"/>
              <a:t> </a:t>
            </a:r>
            <a:r>
              <a:rPr lang="en-US" dirty="0" err="1" smtClean="0"/>
              <a:t>sâu</a:t>
            </a:r>
            <a:r>
              <a:rPr lang="en-US" dirty="0" smtClean="0"/>
              <a:t> (Deep learning)</a:t>
            </a:r>
            <a:endParaRPr lang="en-US" dirty="0"/>
          </a:p>
          <a:p>
            <a:pPr lvl="1"/>
            <a:r>
              <a:rPr lang="en-US" dirty="0" err="1" smtClean="0"/>
              <a:t>Thống</a:t>
            </a:r>
            <a:r>
              <a:rPr lang="en-US" dirty="0" smtClean="0"/>
              <a:t> </a:t>
            </a:r>
            <a:r>
              <a:rPr lang="en-US" dirty="0" err="1" smtClean="0"/>
              <a:t>kê</a:t>
            </a:r>
            <a:endParaRPr lang="en-US" dirty="0" smtClean="0"/>
          </a:p>
          <a:p>
            <a:pPr lvl="2"/>
            <a:r>
              <a:rPr lang="en-US" dirty="0" err="1" smtClean="0"/>
              <a:t>Thống</a:t>
            </a:r>
            <a:r>
              <a:rPr lang="en-US" dirty="0" smtClean="0"/>
              <a:t> </a:t>
            </a:r>
            <a:r>
              <a:rPr lang="en-US" dirty="0" err="1" smtClean="0"/>
              <a:t>kê</a:t>
            </a:r>
            <a:r>
              <a:rPr lang="en-US" dirty="0" smtClean="0"/>
              <a:t> </a:t>
            </a:r>
            <a:r>
              <a:rPr lang="en-US" dirty="0" err="1" smtClean="0"/>
              <a:t>mô</a:t>
            </a:r>
            <a:r>
              <a:rPr lang="en-US" dirty="0" smtClean="0"/>
              <a:t> </a:t>
            </a:r>
            <a:r>
              <a:rPr lang="en-US" dirty="0" err="1" smtClean="0"/>
              <a:t>tả</a:t>
            </a:r>
            <a:r>
              <a:rPr lang="en-US" dirty="0" smtClean="0"/>
              <a:t> (descriptive statistics)</a:t>
            </a:r>
          </a:p>
          <a:p>
            <a:pPr lvl="2"/>
            <a:r>
              <a:rPr lang="en-US" dirty="0" err="1" smtClean="0"/>
              <a:t>Suy</a:t>
            </a:r>
            <a:r>
              <a:rPr lang="en-US" dirty="0" smtClean="0"/>
              <a:t> </a:t>
            </a:r>
            <a:r>
              <a:rPr lang="en-US" dirty="0" err="1" smtClean="0"/>
              <a:t>luận</a:t>
            </a:r>
            <a:r>
              <a:rPr lang="en-US" dirty="0" smtClean="0"/>
              <a:t> </a:t>
            </a:r>
            <a:r>
              <a:rPr lang="en-US" dirty="0" err="1" smtClean="0"/>
              <a:t>thống</a:t>
            </a:r>
            <a:r>
              <a:rPr lang="en-US" dirty="0" smtClean="0"/>
              <a:t> </a:t>
            </a:r>
            <a:r>
              <a:rPr lang="en-US" dirty="0" err="1" smtClean="0"/>
              <a:t>kê</a:t>
            </a:r>
            <a:r>
              <a:rPr lang="en-US" dirty="0" smtClean="0"/>
              <a:t> (inferential statistics)</a:t>
            </a:r>
          </a:p>
          <a:p>
            <a:pPr marL="914400" lvl="2" indent="0">
              <a:buNone/>
            </a:pPr>
            <a:r>
              <a:rPr lang="en-US" dirty="0"/>
              <a:t>	</a:t>
            </a:r>
          </a:p>
          <a:p>
            <a:endParaRPr lang="en-US" dirty="0" smtClean="0"/>
          </a:p>
          <a:p>
            <a:endParaRPr lang="en-US" dirty="0"/>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037181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KHOA HỌC DỮ LIỆU</a:t>
            </a:r>
            <a:endParaRPr lang="en-US" dirty="0"/>
          </a:p>
        </p:txBody>
      </p:sp>
      <p:sp>
        <p:nvSpPr>
          <p:cNvPr id="3" name="Content Placeholder 2"/>
          <p:cNvSpPr>
            <a:spLocks noGrp="1"/>
          </p:cNvSpPr>
          <p:nvPr>
            <p:ph idx="1"/>
          </p:nvPr>
        </p:nvSpPr>
        <p:spPr/>
        <p:txBody>
          <a:bodyPr/>
          <a:lstStyle/>
          <a:p>
            <a:r>
              <a:rPr lang="en-US" dirty="0" err="1"/>
              <a:t>Các</a:t>
            </a:r>
            <a:r>
              <a:rPr lang="en-US" dirty="0"/>
              <a:t> </a:t>
            </a:r>
            <a:r>
              <a:rPr lang="en-US" dirty="0" err="1"/>
              <a:t>trụ</a:t>
            </a:r>
            <a:r>
              <a:rPr lang="en-US" dirty="0"/>
              <a:t> </a:t>
            </a:r>
            <a:r>
              <a:rPr lang="en-US" dirty="0" err="1"/>
              <a:t>cột</a:t>
            </a:r>
            <a:r>
              <a:rPr lang="en-US" dirty="0"/>
              <a:t> </a:t>
            </a:r>
            <a:r>
              <a:rPr lang="en-US" dirty="0" err="1"/>
              <a:t>kỹ</a:t>
            </a:r>
            <a:r>
              <a:rPr lang="en-US" dirty="0"/>
              <a:t> </a:t>
            </a:r>
            <a:r>
              <a:rPr lang="en-US" dirty="0" err="1"/>
              <a:t>thuật</a:t>
            </a:r>
            <a:endParaRPr lang="en-US" dirty="0"/>
          </a:p>
          <a:p>
            <a:pPr lvl="1"/>
            <a:r>
              <a:rPr lang="en-US" dirty="0" err="1" smtClean="0"/>
              <a:t>Dữ</a:t>
            </a:r>
            <a:r>
              <a:rPr lang="en-US" dirty="0" smtClean="0"/>
              <a:t> </a:t>
            </a:r>
            <a:r>
              <a:rPr lang="en-US" dirty="0" err="1" smtClean="0"/>
              <a:t>liệu</a:t>
            </a:r>
            <a:endParaRPr lang="en-US" dirty="0" smtClean="0"/>
          </a:p>
          <a:p>
            <a:pPr lvl="2"/>
            <a:r>
              <a:rPr lang="en-US" dirty="0" err="1" smtClean="0"/>
              <a:t>Có</a:t>
            </a:r>
            <a:r>
              <a:rPr lang="en-US" dirty="0" smtClean="0"/>
              <a:t> </a:t>
            </a:r>
            <a:r>
              <a:rPr lang="en-US" dirty="0" err="1" smtClean="0"/>
              <a:t>cấu</a:t>
            </a:r>
            <a:r>
              <a:rPr lang="en-US" dirty="0" smtClean="0"/>
              <a:t> </a:t>
            </a:r>
            <a:r>
              <a:rPr lang="en-US" dirty="0" err="1" smtClean="0"/>
              <a:t>trúc</a:t>
            </a:r>
            <a:endParaRPr lang="en-US" dirty="0"/>
          </a:p>
          <a:p>
            <a:pPr lvl="2"/>
            <a:r>
              <a:rPr lang="en-US" dirty="0" smtClean="0"/>
              <a:t>Phi </a:t>
            </a:r>
            <a:r>
              <a:rPr lang="en-US" dirty="0" err="1" smtClean="0"/>
              <a:t>cấu</a:t>
            </a:r>
            <a:r>
              <a:rPr lang="en-US" dirty="0" smtClean="0"/>
              <a:t> </a:t>
            </a:r>
            <a:r>
              <a:rPr lang="en-US" dirty="0" err="1" smtClean="0"/>
              <a:t>trúc</a:t>
            </a:r>
            <a:endParaRPr lang="en-US" dirty="0" smtClean="0"/>
          </a:p>
          <a:p>
            <a:pPr lvl="2"/>
            <a:r>
              <a:rPr lang="en-US" dirty="0" err="1" smtClean="0"/>
              <a:t>Dữ</a:t>
            </a:r>
            <a:r>
              <a:rPr lang="en-US" dirty="0" smtClean="0"/>
              <a:t> </a:t>
            </a:r>
            <a:r>
              <a:rPr lang="en-US" dirty="0" err="1" smtClean="0"/>
              <a:t>liệu</a:t>
            </a:r>
            <a:r>
              <a:rPr lang="en-US" dirty="0" smtClean="0"/>
              <a:t> </a:t>
            </a:r>
            <a:r>
              <a:rPr lang="en-US" dirty="0" err="1" smtClean="0"/>
              <a:t>lớn</a:t>
            </a:r>
            <a:endParaRPr lang="en-US" dirty="0"/>
          </a:p>
          <a:p>
            <a:pPr lvl="1"/>
            <a:r>
              <a:rPr lang="en-US" dirty="0" err="1" smtClean="0"/>
              <a:t>Công</a:t>
            </a:r>
            <a:r>
              <a:rPr lang="en-US" dirty="0" smtClean="0"/>
              <a:t> </a:t>
            </a:r>
            <a:r>
              <a:rPr lang="en-US" dirty="0" err="1" smtClean="0"/>
              <a:t>cụ</a:t>
            </a:r>
            <a:r>
              <a:rPr lang="en-US" dirty="0" smtClean="0"/>
              <a:t> </a:t>
            </a:r>
            <a:r>
              <a:rPr lang="en-US" dirty="0" err="1" smtClean="0"/>
              <a:t>và</a:t>
            </a:r>
            <a:r>
              <a:rPr lang="en-US" dirty="0" smtClean="0"/>
              <a:t> </a:t>
            </a:r>
            <a:r>
              <a:rPr lang="en-US" dirty="0" err="1" smtClean="0"/>
              <a:t>ngôn</a:t>
            </a:r>
            <a:r>
              <a:rPr lang="en-US" dirty="0" smtClean="0"/>
              <a:t> </a:t>
            </a:r>
            <a:r>
              <a:rPr lang="en-US" dirty="0" err="1" smtClean="0"/>
              <a:t>ngữ</a:t>
            </a:r>
            <a:r>
              <a:rPr lang="en-US" dirty="0" smtClean="0"/>
              <a:t> </a:t>
            </a:r>
            <a:r>
              <a:rPr lang="en-US" dirty="0" err="1" smtClean="0"/>
              <a:t>lập</a:t>
            </a:r>
            <a:r>
              <a:rPr lang="en-US" dirty="0" smtClean="0"/>
              <a:t> </a:t>
            </a:r>
            <a:r>
              <a:rPr lang="en-US" dirty="0" err="1" smtClean="0"/>
              <a:t>trình</a:t>
            </a:r>
            <a:endParaRPr lang="en-US" dirty="0" smtClean="0"/>
          </a:p>
          <a:p>
            <a:pPr lvl="2"/>
            <a:r>
              <a:rPr lang="en-US" dirty="0" smtClean="0"/>
              <a:t>Python</a:t>
            </a:r>
          </a:p>
          <a:p>
            <a:pPr lvl="2"/>
            <a:r>
              <a:rPr lang="en-US" dirty="0" smtClean="0"/>
              <a:t>R</a:t>
            </a:r>
          </a:p>
          <a:p>
            <a:pPr lvl="2"/>
            <a:r>
              <a:rPr lang="en-US" dirty="0" smtClean="0"/>
              <a:t>SQL</a:t>
            </a:r>
          </a:p>
          <a:p>
            <a:endParaRPr lang="en-US" dirty="0"/>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756626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KHOA HỌC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Khoa học </a:t>
            </a:r>
            <a:r>
              <a:rPr lang="en-US" dirty="0" err="1" smtClean="0"/>
              <a:t>dữ</a:t>
            </a:r>
            <a:r>
              <a:rPr lang="en-US" dirty="0" smtClean="0"/>
              <a:t> </a:t>
            </a:r>
            <a:r>
              <a:rPr lang="en-US" dirty="0" err="1" smtClean="0"/>
              <a:t>liệu</a:t>
            </a:r>
            <a:r>
              <a:rPr lang="en-US" dirty="0" smtClean="0"/>
              <a:t> </a:t>
            </a:r>
            <a:r>
              <a:rPr lang="en-US" dirty="0" err="1" smtClean="0"/>
              <a:t>khác</a:t>
            </a:r>
            <a:r>
              <a:rPr lang="en-US" dirty="0" smtClean="0"/>
              <a:t> </a:t>
            </a:r>
            <a:r>
              <a:rPr lang="en-US" dirty="0" err="1" smtClean="0"/>
              <a:t>biệt</a:t>
            </a:r>
            <a:r>
              <a:rPr lang="en-US" dirty="0" smtClean="0"/>
              <a:t> </a:t>
            </a:r>
            <a:r>
              <a:rPr lang="en-US" dirty="0" err="1" smtClean="0"/>
              <a:t>với</a:t>
            </a:r>
            <a:r>
              <a:rPr lang="en-US" dirty="0" smtClean="0"/>
              <a:t> </a:t>
            </a:r>
            <a:r>
              <a:rPr lang="en-US" dirty="0" err="1" smtClean="0"/>
              <a:t>khoa</a:t>
            </a:r>
            <a:r>
              <a:rPr lang="en-US" dirty="0" smtClean="0"/>
              <a:t> học </a:t>
            </a:r>
            <a:r>
              <a:rPr lang="en-US" dirty="0" err="1" smtClean="0"/>
              <a:t>thông</a:t>
            </a:r>
            <a:r>
              <a:rPr lang="en-US" dirty="0" smtClean="0"/>
              <a:t> </a:t>
            </a:r>
            <a:r>
              <a:rPr lang="en-US" dirty="0" err="1" smtClean="0"/>
              <a:t>thường</a:t>
            </a:r>
            <a:endParaRPr lang="en-US" dirty="0" smtClean="0"/>
          </a:p>
          <a:p>
            <a:r>
              <a:rPr lang="en-US" dirty="0" smtClean="0"/>
              <a:t>QUAN ĐIỂM</a:t>
            </a:r>
          </a:p>
          <a:p>
            <a:pPr lvl="1"/>
            <a:r>
              <a:rPr lang="en-US" dirty="0" err="1" smtClean="0"/>
              <a:t>Tìm</a:t>
            </a:r>
            <a:r>
              <a:rPr lang="en-US" dirty="0" smtClean="0"/>
              <a:t> tri </a:t>
            </a:r>
            <a:r>
              <a:rPr lang="en-US" dirty="0" err="1" smtClean="0"/>
              <a:t>thức</a:t>
            </a:r>
            <a:r>
              <a:rPr lang="en-US" dirty="0" smtClean="0"/>
              <a:t> </a:t>
            </a:r>
            <a:r>
              <a:rPr lang="en-US" dirty="0" err="1" smtClean="0"/>
              <a:t>từ</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dẫn</a:t>
            </a:r>
            <a:r>
              <a:rPr lang="en-US" dirty="0" smtClean="0"/>
              <a:t> </a:t>
            </a:r>
            <a:r>
              <a:rPr lang="en-US" dirty="0" err="1" smtClean="0"/>
              <a:t>dắt</a:t>
            </a:r>
            <a:r>
              <a:rPr lang="en-US" dirty="0" smtClean="0"/>
              <a:t> </a:t>
            </a:r>
            <a:r>
              <a:rPr lang="en-US" dirty="0" err="1" smtClean="0"/>
              <a:t>bởi</a:t>
            </a:r>
            <a:r>
              <a:rPr lang="en-US" dirty="0" smtClean="0"/>
              <a:t> </a:t>
            </a:r>
            <a:r>
              <a:rPr lang="en-US" dirty="0" err="1" smtClean="0"/>
              <a:t>dữ</a:t>
            </a:r>
            <a:r>
              <a:rPr lang="en-US" dirty="0" smtClean="0"/>
              <a:t> </a:t>
            </a:r>
            <a:r>
              <a:rPr lang="en-US" dirty="0" err="1" smtClean="0"/>
              <a:t>liệu</a:t>
            </a:r>
            <a:r>
              <a:rPr lang="en-US" dirty="0" smtClean="0"/>
              <a:t> data-driven)</a:t>
            </a:r>
          </a:p>
          <a:p>
            <a:pPr lvl="1"/>
            <a:r>
              <a:rPr lang="en-US" dirty="0" smtClean="0"/>
              <a:t>Tri </a:t>
            </a:r>
            <a:r>
              <a:rPr lang="en-US" dirty="0" err="1" smtClean="0"/>
              <a:t>thức</a:t>
            </a:r>
            <a:r>
              <a:rPr lang="en-US" dirty="0" smtClean="0"/>
              <a:t> được </a:t>
            </a:r>
            <a:r>
              <a:rPr lang="en-US" dirty="0" err="1" smtClean="0"/>
              <a:t>rút</a:t>
            </a:r>
            <a:r>
              <a:rPr lang="en-US" dirty="0" smtClean="0"/>
              <a:t> </a:t>
            </a:r>
            <a:r>
              <a:rPr lang="en-US" dirty="0" err="1" smtClean="0"/>
              <a:t>ra</a:t>
            </a:r>
            <a:r>
              <a:rPr lang="en-US" dirty="0" smtClean="0"/>
              <a:t> </a:t>
            </a:r>
            <a:r>
              <a:rPr lang="en-US" dirty="0" err="1" smtClean="0"/>
              <a:t>từ</a:t>
            </a:r>
            <a:r>
              <a:rPr lang="en-US" dirty="0" smtClean="0"/>
              <a:t> </a:t>
            </a:r>
            <a:r>
              <a:rPr lang="en-US" dirty="0" err="1" smtClean="0"/>
              <a:t>việc</a:t>
            </a:r>
            <a:r>
              <a:rPr lang="en-US" dirty="0" smtClean="0"/>
              <a:t> </a:t>
            </a:r>
            <a:r>
              <a:rPr lang="en-US" dirty="0" err="1" smtClean="0"/>
              <a:t>khai</a:t>
            </a:r>
            <a:r>
              <a:rPr lang="en-US" dirty="0" smtClean="0"/>
              <a:t> </a:t>
            </a:r>
            <a:r>
              <a:rPr lang="en-US" dirty="0" err="1" smtClean="0"/>
              <a:t>phá</a:t>
            </a:r>
            <a:r>
              <a:rPr lang="en-US" dirty="0" smtClean="0"/>
              <a:t>, </a:t>
            </a:r>
            <a:r>
              <a:rPr lang="en-US" dirty="0" err="1" smtClean="0"/>
              <a:t>tìm</a:t>
            </a:r>
            <a:r>
              <a:rPr lang="en-US" dirty="0" smtClean="0"/>
              <a:t> </a:t>
            </a:r>
            <a:r>
              <a:rPr lang="en-US" dirty="0" err="1" smtClean="0"/>
              <a:t>thông</a:t>
            </a:r>
            <a:r>
              <a:rPr lang="en-US" dirty="0" smtClean="0"/>
              <a:t> tin </a:t>
            </a:r>
            <a:r>
              <a:rPr lang="en-US" dirty="0" err="1" smtClean="0"/>
              <a:t>từ</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chứ</a:t>
            </a:r>
            <a:r>
              <a:rPr lang="en-US" dirty="0" smtClean="0"/>
              <a:t> không </a:t>
            </a:r>
            <a:r>
              <a:rPr lang="en-US" dirty="0" err="1" smtClean="0"/>
              <a:t>nhất</a:t>
            </a:r>
            <a:r>
              <a:rPr lang="en-US" dirty="0" smtClean="0"/>
              <a:t> </a:t>
            </a:r>
            <a:r>
              <a:rPr lang="en-US" dirty="0" err="1" smtClean="0"/>
              <a:t>thiết</a:t>
            </a:r>
            <a:r>
              <a:rPr lang="en-US" dirty="0" smtClean="0"/>
              <a:t> </a:t>
            </a:r>
            <a:r>
              <a:rPr lang="en-US" dirty="0" err="1" smtClean="0"/>
              <a:t>phải</a:t>
            </a:r>
            <a:r>
              <a:rPr lang="en-US" dirty="0" smtClean="0"/>
              <a:t> </a:t>
            </a:r>
            <a:r>
              <a:rPr lang="en-US" dirty="0" err="1" smtClean="0"/>
              <a:t>chứng</a:t>
            </a:r>
            <a:r>
              <a:rPr lang="en-US" dirty="0" smtClean="0"/>
              <a:t> minh </a:t>
            </a:r>
            <a:r>
              <a:rPr lang="en-US" dirty="0" err="1" smtClean="0"/>
              <a:t>nó</a:t>
            </a:r>
            <a:r>
              <a:rPr lang="en-US" dirty="0" smtClean="0"/>
              <a:t>.</a:t>
            </a:r>
          </a:p>
          <a:p>
            <a:pPr lvl="1"/>
            <a:r>
              <a:rPr lang="en-US" dirty="0" smtClean="0"/>
              <a:t>Tri </a:t>
            </a:r>
            <a:r>
              <a:rPr lang="en-US" dirty="0" err="1" smtClean="0"/>
              <a:t>thức</a:t>
            </a:r>
            <a:r>
              <a:rPr lang="en-US" dirty="0" smtClean="0"/>
              <a:t> </a:t>
            </a:r>
            <a:r>
              <a:rPr lang="en-US" dirty="0" err="1" smtClean="0"/>
              <a:t>tìm</a:t>
            </a:r>
            <a:r>
              <a:rPr lang="en-US" dirty="0" smtClean="0"/>
              <a:t> </a:t>
            </a:r>
            <a:r>
              <a:rPr lang="en-US" dirty="0" err="1" smtClean="0"/>
              <a:t>ra</a:t>
            </a:r>
            <a:r>
              <a:rPr lang="en-US" dirty="0" smtClean="0"/>
              <a:t> </a:t>
            </a:r>
            <a:r>
              <a:rPr lang="en-US" dirty="0" err="1" smtClean="0"/>
              <a:t>phải</a:t>
            </a:r>
            <a:r>
              <a:rPr lang="en-US" dirty="0" smtClean="0"/>
              <a:t> </a:t>
            </a:r>
            <a:r>
              <a:rPr lang="en-US" dirty="0" err="1" smtClean="0"/>
              <a:t>có</a:t>
            </a:r>
            <a:r>
              <a:rPr lang="en-US" dirty="0" smtClean="0"/>
              <a:t> </a:t>
            </a:r>
            <a:r>
              <a:rPr lang="en-US" dirty="0" err="1" smtClean="0"/>
              <a:t>tính</a:t>
            </a:r>
            <a:r>
              <a:rPr lang="en-US" dirty="0" smtClean="0"/>
              <a:t> </a:t>
            </a:r>
            <a:r>
              <a:rPr lang="en-US" dirty="0" err="1" smtClean="0"/>
              <a:t>ổn</a:t>
            </a:r>
            <a:r>
              <a:rPr lang="en-US" dirty="0" smtClean="0"/>
              <a:t> </a:t>
            </a:r>
            <a:r>
              <a:rPr lang="en-US" dirty="0" err="1" smtClean="0"/>
              <a:t>định</a:t>
            </a:r>
            <a:r>
              <a:rPr lang="en-US" dirty="0" smtClean="0"/>
              <a:t>, </a:t>
            </a:r>
            <a:r>
              <a:rPr lang="en-US" dirty="0" err="1" smtClean="0"/>
              <a:t>phổ</a:t>
            </a:r>
            <a:r>
              <a:rPr lang="en-US" dirty="0" smtClean="0"/>
              <a:t> </a:t>
            </a:r>
            <a:r>
              <a:rPr lang="en-US" dirty="0" err="1" smtClean="0"/>
              <a:t>quát</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1900260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Khoa học </a:t>
            </a:r>
            <a:r>
              <a:rPr lang="en-US" dirty="0" err="1" smtClean="0"/>
              <a:t>dữ</a:t>
            </a:r>
            <a:r>
              <a:rPr lang="en-US" dirty="0" smtClean="0"/>
              <a:t> </a:t>
            </a:r>
            <a:r>
              <a:rPr lang="en-US" dirty="0" err="1" smtClean="0"/>
              <a:t>liệu</a:t>
            </a:r>
            <a:r>
              <a:rPr lang="en-US" dirty="0" smtClean="0"/>
              <a:t> ở </a:t>
            </a:r>
            <a:r>
              <a:rPr lang="en-US" dirty="0" err="1" smtClean="0"/>
              <a:t>Việt</a:t>
            </a:r>
            <a:r>
              <a:rPr lang="en-US" dirty="0" smtClean="0"/>
              <a:t> Nam</a:t>
            </a:r>
            <a:endParaRPr lang="en-US" dirty="0"/>
          </a:p>
        </p:txBody>
      </p:sp>
      <p:sp>
        <p:nvSpPr>
          <p:cNvPr id="3" name="Content Placeholder 2"/>
          <p:cNvSpPr>
            <a:spLocks noGrp="1"/>
          </p:cNvSpPr>
          <p:nvPr>
            <p:ph idx="1"/>
          </p:nvPr>
        </p:nvSpPr>
        <p:spPr/>
        <p:txBody>
          <a:bodyPr/>
          <a:lstStyle/>
          <a:p>
            <a:r>
              <a:rPr lang="en-US" dirty="0" err="1" smtClean="0"/>
              <a:t>Ngành</a:t>
            </a:r>
            <a:r>
              <a:rPr lang="en-US" dirty="0" smtClean="0"/>
              <a:t> </a:t>
            </a:r>
            <a:r>
              <a:rPr lang="en-US" dirty="0" err="1" smtClean="0"/>
              <a:t>Công</a:t>
            </a:r>
            <a:r>
              <a:rPr lang="en-US" dirty="0" smtClean="0"/>
              <a:t> </a:t>
            </a:r>
            <a:r>
              <a:rPr lang="en-US" dirty="0" err="1" smtClean="0"/>
              <a:t>nghệ</a:t>
            </a:r>
            <a:r>
              <a:rPr lang="en-US" dirty="0" smtClean="0"/>
              <a:t> </a:t>
            </a:r>
            <a:r>
              <a:rPr lang="en-US" dirty="0" err="1" smtClean="0"/>
              <a:t>thông</a:t>
            </a:r>
            <a:r>
              <a:rPr lang="en-US" dirty="0" smtClean="0"/>
              <a:t> tin </a:t>
            </a:r>
            <a:r>
              <a:rPr lang="en-US" dirty="0" err="1" smtClean="0"/>
              <a:t>đang</a:t>
            </a:r>
            <a:r>
              <a:rPr lang="en-US" dirty="0" smtClean="0"/>
              <a:t> </a:t>
            </a:r>
            <a:r>
              <a:rPr lang="en-US" dirty="0" err="1" smtClean="0"/>
              <a:t>chứng</a:t>
            </a:r>
            <a:r>
              <a:rPr lang="en-US" dirty="0" smtClean="0"/>
              <a:t> </a:t>
            </a:r>
            <a:r>
              <a:rPr lang="en-US" dirty="0" err="1" smtClean="0"/>
              <a:t>kiến</a:t>
            </a:r>
            <a:r>
              <a:rPr lang="en-US" dirty="0" smtClean="0"/>
              <a:t> </a:t>
            </a:r>
            <a:r>
              <a:rPr lang="en-US" dirty="0" err="1" smtClean="0"/>
              <a:t>sự</a:t>
            </a:r>
            <a:r>
              <a:rPr lang="en-US" dirty="0" smtClean="0"/>
              <a:t> </a:t>
            </a:r>
            <a:r>
              <a:rPr lang="en-US" dirty="0" err="1" smtClean="0"/>
              <a:t>tăng</a:t>
            </a:r>
            <a:r>
              <a:rPr lang="en-US" dirty="0" smtClean="0"/>
              <a:t> </a:t>
            </a:r>
            <a:r>
              <a:rPr lang="en-US" dirty="0" err="1" smtClean="0"/>
              <a:t>trưởng</a:t>
            </a:r>
            <a:r>
              <a:rPr lang="en-US" dirty="0" smtClean="0"/>
              <a:t> </a:t>
            </a:r>
            <a:r>
              <a:rPr lang="en-US" dirty="0" err="1" smtClean="0"/>
              <a:t>tiềm</a:t>
            </a:r>
            <a:r>
              <a:rPr lang="en-US" dirty="0" smtClean="0"/>
              <a:t> </a:t>
            </a:r>
            <a:r>
              <a:rPr lang="en-US" dirty="0" err="1" smtClean="0"/>
              <a:t>năng</a:t>
            </a:r>
            <a:r>
              <a:rPr lang="en-US" dirty="0" smtClean="0"/>
              <a:t> của </a:t>
            </a:r>
            <a:r>
              <a:rPr lang="en-US" dirty="0" err="1" smtClean="0"/>
              <a:t>ngành</a:t>
            </a:r>
            <a:r>
              <a:rPr lang="en-US" dirty="0" smtClean="0"/>
              <a:t> </a:t>
            </a:r>
            <a:r>
              <a:rPr lang="en-US" dirty="0" smtClean="0">
                <a:latin typeface="Times New Roman" panose="02020603050405020304" pitchFamily="18" charset="0"/>
                <a:cs typeface="Times New Roman" panose="02020603050405020304" pitchFamily="18" charset="0"/>
              </a:rPr>
              <a:t>KHOA HỌC DỮ LIỆU</a:t>
            </a:r>
          </a:p>
          <a:p>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doanh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nghiệp</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quan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tâm</a:t>
            </a:r>
            <a:r>
              <a:rPr lang="en-US" dirty="0" smtClean="0">
                <a:latin typeface="Times New Roman" panose="02020603050405020304" pitchFamily="18" charset="0"/>
                <a:cs typeface="Times New Roman" panose="02020603050405020304" pitchFamily="18" charset="0"/>
              </a:rPr>
              <a:t> nhiều </a:t>
            </a:r>
            <a:r>
              <a:rPr lang="en-US" dirty="0" err="1" smtClean="0">
                <a:latin typeface="Times New Roman" panose="02020603050405020304" pitchFamily="18" charset="0"/>
                <a:cs typeface="Times New Roman" panose="02020603050405020304" pitchFamily="18" charset="0"/>
              </a:rPr>
              <a:t>tới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ngành</a:t>
            </a:r>
            <a:r>
              <a:rPr lang="en-US" dirty="0" smtClean="0">
                <a:latin typeface="Times New Roman" panose="02020603050405020304" pitchFamily="18" charset="0"/>
                <a:cs typeface="Times New Roman" panose="02020603050405020304" pitchFamily="18" charset="0"/>
              </a:rPr>
              <a:t> KHOA HỌC DỮ LIỆU, </a:t>
            </a:r>
            <a:r>
              <a:rPr lang="en-US" dirty="0" err="1" smtClean="0">
                <a:latin typeface="Times New Roman" panose="02020603050405020304" pitchFamily="18" charset="0"/>
                <a:cs typeface="Times New Roman" panose="02020603050405020304" pitchFamily="18" charset="0"/>
              </a:rPr>
              <a:t>họ</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sẵn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sàng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đầu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tư</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việc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cứu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phát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triển</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861636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Facebook </a:t>
            </a:r>
            <a:br>
              <a:rPr lang="en-US" b="1" dirty="0" smtClean="0"/>
            </a:br>
            <a:r>
              <a:rPr lang="en-US" sz="3600" b="1" dirty="0" err="1" smtClean="0"/>
              <a:t>Sử</a:t>
            </a:r>
            <a:r>
              <a:rPr lang="en-US" sz="3600" b="1" dirty="0" smtClean="0"/>
              <a:t> </a:t>
            </a:r>
            <a:r>
              <a:rPr lang="en-US" sz="3600" b="1" dirty="0" err="1"/>
              <a:t>dụng</a:t>
            </a:r>
            <a:r>
              <a:rPr lang="en-US" sz="3600" b="1" dirty="0"/>
              <a:t> </a:t>
            </a:r>
            <a:r>
              <a:rPr lang="en-US" sz="3600" b="1" dirty="0" err="1"/>
              <a:t>dữ</a:t>
            </a:r>
            <a:r>
              <a:rPr lang="en-US" sz="3600" b="1" dirty="0"/>
              <a:t> </a:t>
            </a:r>
            <a:r>
              <a:rPr lang="en-US" sz="3600" b="1" dirty="0" err="1"/>
              <a:t>liệu</a:t>
            </a:r>
            <a:r>
              <a:rPr lang="en-US" sz="3600" b="1" dirty="0"/>
              <a:t> </a:t>
            </a:r>
            <a:r>
              <a:rPr lang="en-US" sz="3600" b="1" dirty="0" err="1"/>
              <a:t>để</a:t>
            </a:r>
            <a:r>
              <a:rPr lang="en-US" sz="3600" b="1" dirty="0"/>
              <a:t> </a:t>
            </a:r>
            <a:r>
              <a:rPr lang="en-US" sz="3600" b="1" dirty="0" err="1"/>
              <a:t>cách</a:t>
            </a:r>
            <a:r>
              <a:rPr lang="en-US" sz="3600" b="1" dirty="0"/>
              <a:t> </a:t>
            </a:r>
            <a:r>
              <a:rPr lang="en-US" sz="3600" b="1" dirty="0" err="1"/>
              <a:t>mạng</a:t>
            </a:r>
            <a:r>
              <a:rPr lang="en-US" sz="3600" b="1" dirty="0"/>
              <a:t> </a:t>
            </a:r>
            <a:r>
              <a:rPr lang="en-US" sz="3600" b="1" dirty="0" err="1"/>
              <a:t>hóa</a:t>
            </a:r>
            <a:r>
              <a:rPr lang="en-US" sz="3600" b="1" dirty="0"/>
              <a:t> </a:t>
            </a:r>
            <a:r>
              <a:rPr lang="en-US" sz="3600" b="1" dirty="0" err="1"/>
              <a:t>Mạng</a:t>
            </a:r>
            <a:r>
              <a:rPr lang="en-US" sz="3600" b="1" dirty="0"/>
              <a:t> </a:t>
            </a:r>
            <a:r>
              <a:rPr lang="en-US" sz="3600" b="1" dirty="0" err="1"/>
              <a:t>xã</a:t>
            </a:r>
            <a:r>
              <a:rPr lang="en-US" sz="3600" b="1" dirty="0"/>
              <a:t> </a:t>
            </a:r>
            <a:r>
              <a:rPr lang="en-US" sz="3600" b="1" dirty="0" err="1"/>
              <a:t>hội</a:t>
            </a:r>
            <a:r>
              <a:rPr lang="en-US" sz="3600" b="1" dirty="0"/>
              <a:t> &amp; </a:t>
            </a:r>
            <a:r>
              <a:rPr lang="en-US" sz="3600" b="1" dirty="0" err="1"/>
              <a:t>Quảng</a:t>
            </a:r>
            <a:r>
              <a:rPr lang="en-US" sz="3600" b="1" dirty="0"/>
              <a:t> </a:t>
            </a:r>
            <a:r>
              <a:rPr lang="en-US" sz="3600" b="1" dirty="0" err="1"/>
              <a:t>cáo</a:t>
            </a:r>
            <a:r>
              <a:rPr lang="en-US" dirty="0"/>
              <a: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7" name="Picture 6"/>
          <p:cNvPicPr>
            <a:picLocks noChangeAspect="1"/>
          </p:cNvPicPr>
          <p:nvPr/>
        </p:nvPicPr>
        <p:blipFill>
          <a:blip r:embed="rId2"/>
          <a:stretch>
            <a:fillRect/>
          </a:stretch>
        </p:blipFill>
        <p:spPr>
          <a:xfrm>
            <a:off x="2928936" y="1929607"/>
            <a:ext cx="6677025" cy="3914775"/>
          </a:xfrm>
          <a:prstGeom prst="rect">
            <a:avLst/>
          </a:prstGeom>
        </p:spPr>
      </p:pic>
    </p:spTree>
    <p:extLst>
      <p:ext uri="{BB962C8B-B14F-4D97-AF65-F5344CB8AC3E}">
        <p14:creationId xmlns:p14="http://schemas.microsoft.com/office/powerpoint/2010/main" val="836437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Amazon </a:t>
            </a:r>
            <a:r>
              <a:rPr lang="vi-VN" b="1" dirty="0" smtClean="0"/>
              <a:t> </a:t>
            </a:r>
            <a:r>
              <a:rPr lang="en-US" b="1" dirty="0" smtClean="0"/>
              <a:t/>
            </a:r>
            <a:br>
              <a:rPr lang="en-US" b="1" dirty="0" smtClean="0"/>
            </a:br>
            <a:r>
              <a:rPr lang="vi-VN" sz="3800" b="1" dirty="0" smtClean="0"/>
              <a:t>Chuyển </a:t>
            </a:r>
            <a:r>
              <a:rPr lang="vi-VN" sz="3800" b="1" dirty="0"/>
              <a:t>đổi thương mại điện tử với Data </a:t>
            </a:r>
            <a:r>
              <a:rPr lang="en-US" sz="3800" b="1" dirty="0" smtClean="0"/>
              <a:t>S</a:t>
            </a:r>
            <a:r>
              <a:rPr lang="vi-VN" sz="3800" b="1" dirty="0" smtClean="0"/>
              <a:t>cience</a:t>
            </a:r>
            <a:r>
              <a:rPr lang="vi-VN" sz="3800" dirty="0" smtClean="0"/>
              <a:t> </a:t>
            </a:r>
            <a:r>
              <a:rPr lang="vi-VN" dirty="0"/>
              <a:t/>
            </a:r>
            <a:br>
              <a:rPr lang="vi-VN" dirty="0"/>
            </a:br>
            <a:endParaRPr lang="en-US" dirty="0"/>
          </a:p>
        </p:txBody>
      </p:sp>
      <p:pic>
        <p:nvPicPr>
          <p:cNvPr id="7" name="Content Placeholder 6"/>
          <p:cNvPicPr>
            <a:picLocks noGrp="1" noChangeAspect="1"/>
          </p:cNvPicPr>
          <p:nvPr>
            <p:ph idx="1"/>
          </p:nvPr>
        </p:nvPicPr>
        <p:blipFill>
          <a:blip r:embed="rId2"/>
          <a:stretch>
            <a:fillRect/>
          </a:stretch>
        </p:blipFill>
        <p:spPr>
          <a:xfrm>
            <a:off x="2079254" y="1417637"/>
            <a:ext cx="8817346" cy="4721715"/>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962759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Uber </a:t>
            </a:r>
            <a:r>
              <a:rPr lang="en-US" b="1" dirty="0" smtClean="0"/>
              <a:t/>
            </a:r>
            <a:br>
              <a:rPr lang="en-US" b="1" dirty="0" smtClean="0"/>
            </a:br>
            <a:r>
              <a:rPr lang="vi-VN" b="1" dirty="0" smtClean="0"/>
              <a:t>Sử </a:t>
            </a:r>
            <a:r>
              <a:rPr lang="vi-VN" b="1" dirty="0"/>
              <a:t>dụng dữ liệu để thực hiện chuyến đi tốt hơn</a:t>
            </a:r>
            <a:r>
              <a:rPr lang="vi-VN" dirty="0"/>
              <a:t> </a:t>
            </a:r>
            <a:endParaRPr lang="en-US" dirty="0"/>
          </a:p>
        </p:txBody>
      </p:sp>
      <p:pic>
        <p:nvPicPr>
          <p:cNvPr id="7" name="Content Placeholder 6"/>
          <p:cNvPicPr>
            <a:picLocks noGrp="1" noChangeAspect="1"/>
          </p:cNvPicPr>
          <p:nvPr>
            <p:ph idx="1"/>
          </p:nvPr>
        </p:nvPicPr>
        <p:blipFill>
          <a:blip r:embed="rId2"/>
          <a:stretch>
            <a:fillRect/>
          </a:stretch>
        </p:blipFill>
        <p:spPr>
          <a:xfrm>
            <a:off x="3564731" y="1801019"/>
            <a:ext cx="6162675" cy="4124325"/>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842921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Bank of America </a:t>
            </a:r>
            <a:r>
              <a:rPr lang="en-US" b="1" dirty="0"/>
              <a:t/>
            </a:r>
            <a:br>
              <a:rPr lang="en-US" b="1" dirty="0"/>
            </a:br>
            <a:r>
              <a:rPr lang="vi-VN" sz="3600" b="1" dirty="0" smtClean="0"/>
              <a:t>Sử </a:t>
            </a:r>
            <a:r>
              <a:rPr lang="vi-VN" sz="3600" b="1" dirty="0"/>
              <a:t>dụng Data để tăng cường lợi thế trải nghiệm khách hàng</a:t>
            </a:r>
            <a:r>
              <a:rPr lang="vi-VN" sz="3600" dirty="0"/>
              <a:t> </a:t>
            </a:r>
            <a:r>
              <a:rPr lang="vi-VN" dirty="0"/>
              <a:t/>
            </a:r>
            <a:br>
              <a:rPr lang="vi-VN" dirty="0"/>
            </a:br>
            <a:endParaRPr lang="en-US" dirty="0"/>
          </a:p>
        </p:txBody>
      </p:sp>
      <p:pic>
        <p:nvPicPr>
          <p:cNvPr id="7" name="Content Placeholder 6"/>
          <p:cNvPicPr>
            <a:picLocks noGrp="1" noChangeAspect="1"/>
          </p:cNvPicPr>
          <p:nvPr>
            <p:ph idx="1"/>
          </p:nvPr>
        </p:nvPicPr>
        <p:blipFill>
          <a:blip r:embed="rId2"/>
          <a:stretch>
            <a:fillRect/>
          </a:stretch>
        </p:blipFill>
        <p:spPr>
          <a:xfrm>
            <a:off x="3293269" y="1620044"/>
            <a:ext cx="6705600" cy="4486275"/>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58695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Airbnb </a:t>
            </a:r>
            <a:r>
              <a:rPr lang="vi-VN" b="1" dirty="0" smtClean="0"/>
              <a:t> </a:t>
            </a:r>
            <a:r>
              <a:rPr lang="en-US" b="1" dirty="0" smtClean="0"/>
              <a:t/>
            </a:r>
            <a:br>
              <a:rPr lang="en-US" b="1" dirty="0" smtClean="0"/>
            </a:br>
            <a:r>
              <a:rPr lang="vi-VN" sz="3800" b="1" dirty="0" smtClean="0"/>
              <a:t>Sử </a:t>
            </a:r>
            <a:r>
              <a:rPr lang="vi-VN" sz="3800" b="1" dirty="0"/>
              <a:t>dụng Data để việc cho thuê và đặt chỗ ở tiện lợi hơn</a:t>
            </a:r>
            <a:r>
              <a:rPr lang="vi-VN" sz="3800" dirty="0"/>
              <a:t> </a:t>
            </a:r>
            <a:r>
              <a:rPr lang="vi-VN" dirty="0"/>
              <a:t/>
            </a:r>
            <a:br>
              <a:rPr lang="vi-VN" dirty="0"/>
            </a:br>
            <a:endParaRPr lang="en-US" dirty="0"/>
          </a:p>
        </p:txBody>
      </p:sp>
      <p:pic>
        <p:nvPicPr>
          <p:cNvPr id="7" name="Content Placeholder 6"/>
          <p:cNvPicPr>
            <a:picLocks noGrp="1" noChangeAspect="1"/>
          </p:cNvPicPr>
          <p:nvPr>
            <p:ph idx="1"/>
          </p:nvPr>
        </p:nvPicPr>
        <p:blipFill>
          <a:blip r:embed="rId2"/>
          <a:stretch>
            <a:fillRect/>
          </a:stretch>
        </p:blipFill>
        <p:spPr>
          <a:xfrm>
            <a:off x="2346548" y="1417639"/>
            <a:ext cx="8016652" cy="4559826"/>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677112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Spotify </a:t>
            </a:r>
            <a:br>
              <a:rPr lang="en-US" b="1" dirty="0"/>
            </a:br>
            <a:r>
              <a:rPr lang="en-US" sz="3800" b="1" dirty="0" err="1" smtClean="0"/>
              <a:t>Cách</a:t>
            </a:r>
            <a:r>
              <a:rPr lang="en-US" sz="3800" b="1" dirty="0" smtClean="0"/>
              <a:t> </a:t>
            </a:r>
            <a:r>
              <a:rPr lang="en-US" sz="3800" b="1" dirty="0" err="1"/>
              <a:t>mạng</a:t>
            </a:r>
            <a:r>
              <a:rPr lang="en-US" sz="3800" b="1" dirty="0"/>
              <a:t> </a:t>
            </a:r>
            <a:r>
              <a:rPr lang="en-US" sz="3800" b="1" dirty="0" err="1"/>
              <a:t>hóa</a:t>
            </a:r>
            <a:r>
              <a:rPr lang="en-US" sz="3800" b="1" dirty="0"/>
              <a:t> stream </a:t>
            </a:r>
            <a:r>
              <a:rPr lang="en-US" sz="3800" b="1" dirty="0" err="1"/>
              <a:t>nhạc</a:t>
            </a:r>
            <a:r>
              <a:rPr lang="en-US" dirty="0"/>
              <a:t> </a:t>
            </a:r>
            <a:br>
              <a:rPr lang="en-US" dirty="0"/>
            </a:br>
            <a:endParaRPr lang="en-US" dirty="0"/>
          </a:p>
        </p:txBody>
      </p:sp>
      <p:pic>
        <p:nvPicPr>
          <p:cNvPr id="7" name="Content Placeholder 6"/>
          <p:cNvPicPr>
            <a:picLocks noGrp="1" noChangeAspect="1"/>
          </p:cNvPicPr>
          <p:nvPr>
            <p:ph idx="1"/>
          </p:nvPr>
        </p:nvPicPr>
        <p:blipFill>
          <a:blip r:embed="rId2"/>
          <a:stretch>
            <a:fillRect/>
          </a:stretch>
        </p:blipFill>
        <p:spPr>
          <a:xfrm>
            <a:off x="2743200" y="1362906"/>
            <a:ext cx="7255669" cy="464816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587131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a:t>
            </a:r>
            <a:r>
              <a:rPr lang="en-US" dirty="0" err="1"/>
              <a:t>Giới</a:t>
            </a:r>
            <a:r>
              <a:rPr lang="en-US" dirty="0"/>
              <a:t> </a:t>
            </a:r>
            <a:r>
              <a:rPr lang="en-US" dirty="0" err="1"/>
              <a:t>thiệu</a:t>
            </a:r>
            <a:r>
              <a:rPr lang="en-US" dirty="0"/>
              <a:t> </a:t>
            </a:r>
            <a:r>
              <a:rPr lang="en-US" dirty="0" err="1"/>
              <a:t>các</a:t>
            </a:r>
            <a:r>
              <a:rPr lang="en-US" dirty="0"/>
              <a:t> </a:t>
            </a:r>
            <a:r>
              <a:rPr lang="en-US" dirty="0" err="1"/>
              <a:t>ngành</a:t>
            </a:r>
            <a:r>
              <a:rPr lang="en-US" dirty="0"/>
              <a:t> </a:t>
            </a:r>
            <a:r>
              <a:rPr lang="en-US" dirty="0" err="1"/>
              <a:t>liên</a:t>
            </a:r>
            <a:r>
              <a:rPr lang="en-US" dirty="0"/>
              <a:t> </a:t>
            </a:r>
            <a:r>
              <a:rPr lang="en-US" dirty="0" err="1"/>
              <a:t>quan</a:t>
            </a:r>
            <a:r>
              <a:rPr lang="en-US" dirty="0"/>
              <a:t> </a:t>
            </a:r>
            <a:r>
              <a:rPr lang="en-US" dirty="0" err="1"/>
              <a:t>gần</a:t>
            </a:r>
            <a:r>
              <a:rPr lang="en-US" dirty="0" smtClean="0"/>
              <a:t> </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pic>
        <p:nvPicPr>
          <p:cNvPr id="1028" name="Picture 4" descr="KHDL Venn TTH"/>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53398" y="1600200"/>
            <a:ext cx="4585341"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002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TOÁN HỌC</a:t>
            </a:r>
            <a:endParaRPr lang="en-US" dirty="0"/>
          </a:p>
        </p:txBody>
      </p:sp>
      <p:sp>
        <p:nvSpPr>
          <p:cNvPr id="3" name="Content Placeholder 2"/>
          <p:cNvSpPr>
            <a:spLocks noGrp="1"/>
          </p:cNvSpPr>
          <p:nvPr>
            <p:ph idx="1"/>
          </p:nvPr>
        </p:nvSpPr>
        <p:spPr/>
        <p:txBody>
          <a:bodyPr/>
          <a:lstStyle/>
          <a:p>
            <a:r>
              <a:rPr lang="en-US" dirty="0" err="1" smtClean="0"/>
              <a:t>Đại</a:t>
            </a:r>
            <a:r>
              <a:rPr lang="en-US" dirty="0" smtClean="0"/>
              <a:t> </a:t>
            </a:r>
            <a:r>
              <a:rPr lang="en-US" dirty="0" err="1" smtClean="0"/>
              <a:t>số</a:t>
            </a:r>
            <a:r>
              <a:rPr lang="en-US" dirty="0" smtClean="0"/>
              <a:t> </a:t>
            </a:r>
            <a:r>
              <a:rPr lang="en-US" dirty="0" err="1" smtClean="0"/>
              <a:t>tuyến</a:t>
            </a:r>
            <a:r>
              <a:rPr lang="en-US" dirty="0" smtClean="0"/>
              <a:t> </a:t>
            </a:r>
            <a:r>
              <a:rPr lang="en-US" dirty="0" err="1" smtClean="0"/>
              <a:t>tính</a:t>
            </a:r>
            <a:endParaRPr lang="en-US" dirty="0" smtClean="0"/>
          </a:p>
          <a:p>
            <a:r>
              <a:rPr lang="en-US" dirty="0" err="1" smtClean="0"/>
              <a:t>Lý</a:t>
            </a:r>
            <a:r>
              <a:rPr lang="en-US" dirty="0" smtClean="0"/>
              <a:t> </a:t>
            </a:r>
            <a:r>
              <a:rPr lang="en-US" dirty="0" err="1" smtClean="0"/>
              <a:t>thuyết</a:t>
            </a:r>
            <a:r>
              <a:rPr lang="en-US" dirty="0" smtClean="0"/>
              <a:t> </a:t>
            </a:r>
            <a:r>
              <a:rPr lang="en-US" dirty="0" err="1" smtClean="0"/>
              <a:t>xác</a:t>
            </a:r>
            <a:r>
              <a:rPr lang="en-US" dirty="0" smtClean="0"/>
              <a:t> </a:t>
            </a:r>
            <a:r>
              <a:rPr lang="en-US" dirty="0" err="1" smtClean="0"/>
              <a:t>suất</a:t>
            </a:r>
            <a:r>
              <a:rPr lang="en-US" dirty="0" smtClean="0"/>
              <a:t> </a:t>
            </a:r>
            <a:r>
              <a:rPr lang="en-US" dirty="0" err="1" smtClean="0"/>
              <a:t>và</a:t>
            </a:r>
            <a:r>
              <a:rPr lang="en-US" dirty="0" smtClean="0"/>
              <a:t> </a:t>
            </a:r>
            <a:r>
              <a:rPr lang="en-US" dirty="0" err="1" smtClean="0"/>
              <a:t>thống</a:t>
            </a:r>
            <a:r>
              <a:rPr lang="en-US" dirty="0" smtClean="0"/>
              <a:t> </a:t>
            </a:r>
            <a:r>
              <a:rPr lang="en-US" dirty="0" err="1" smtClean="0"/>
              <a:t>kê</a:t>
            </a:r>
            <a:r>
              <a:rPr lang="en-US" dirty="0" smtClean="0"/>
              <a:t> </a:t>
            </a:r>
            <a:r>
              <a:rPr lang="en-US" dirty="0" err="1" smtClean="0"/>
              <a:t>toán</a:t>
            </a:r>
            <a:r>
              <a:rPr lang="en-US" dirty="0" smtClean="0"/>
              <a:t> học</a:t>
            </a:r>
          </a:p>
          <a:p>
            <a:r>
              <a:rPr lang="en-US" dirty="0" err="1" smtClean="0"/>
              <a:t>Lý</a:t>
            </a:r>
            <a:r>
              <a:rPr lang="en-US" dirty="0" smtClean="0"/>
              <a:t> </a:t>
            </a:r>
            <a:r>
              <a:rPr lang="en-US" dirty="0" err="1" smtClean="0"/>
              <a:t>thuyết</a:t>
            </a:r>
            <a:r>
              <a:rPr lang="en-US" dirty="0" smtClean="0"/>
              <a:t> </a:t>
            </a:r>
            <a:r>
              <a:rPr lang="en-US" dirty="0" err="1" smtClean="0"/>
              <a:t>tối</a:t>
            </a:r>
            <a:r>
              <a:rPr lang="en-US" dirty="0" smtClean="0"/>
              <a:t> </a:t>
            </a:r>
            <a:r>
              <a:rPr lang="en-US" dirty="0" err="1" smtClean="0"/>
              <a:t>ưu</a:t>
            </a:r>
            <a:endParaRPr lang="en-US" dirty="0" smtClean="0"/>
          </a:p>
          <a:p>
            <a:r>
              <a:rPr lang="en-US" dirty="0" err="1" smtClean="0"/>
              <a:t>Mô</a:t>
            </a:r>
            <a:r>
              <a:rPr lang="en-US" dirty="0" smtClean="0"/>
              <a:t> </a:t>
            </a:r>
            <a:r>
              <a:rPr lang="en-US" dirty="0" err="1" smtClean="0"/>
              <a:t>hình</a:t>
            </a:r>
            <a:r>
              <a:rPr lang="en-US" dirty="0" smtClean="0"/>
              <a:t> </a:t>
            </a:r>
            <a:r>
              <a:rPr lang="en-US" dirty="0" err="1" smtClean="0"/>
              <a:t>toán</a:t>
            </a:r>
            <a:r>
              <a:rPr lang="en-US" dirty="0" smtClean="0"/>
              <a:t> học</a:t>
            </a:r>
          </a:p>
          <a:p>
            <a:r>
              <a:rPr lang="en-US" dirty="0"/>
              <a:t>Học </a:t>
            </a:r>
            <a:r>
              <a:rPr lang="en-US" dirty="0" err="1"/>
              <a:t>máy</a:t>
            </a:r>
            <a:r>
              <a:rPr lang="en-US" dirty="0"/>
              <a:t>, </a:t>
            </a:r>
            <a:r>
              <a:rPr lang="en-US" dirty="0" err="1"/>
              <a:t>trí</a:t>
            </a:r>
            <a:r>
              <a:rPr lang="en-US" dirty="0"/>
              <a:t> </a:t>
            </a:r>
            <a:r>
              <a:rPr lang="en-US" dirty="0" err="1"/>
              <a:t>tuệ</a:t>
            </a:r>
            <a:r>
              <a:rPr lang="en-US"/>
              <a:t> nhận tạo</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831301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NGÔN NGỮ LẬP TRÌNH</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Python </a:t>
            </a:r>
          </a:p>
          <a:p>
            <a:pPr lvl="1"/>
            <a:r>
              <a:rPr lang="en-US" dirty="0" err="1" smtClean="0"/>
              <a:t>xử</a:t>
            </a:r>
            <a:r>
              <a:rPr lang="en-US" dirty="0" smtClean="0"/>
              <a:t> </a:t>
            </a:r>
            <a:r>
              <a:rPr lang="en-US" dirty="0" err="1" smtClean="0"/>
              <a:t>lý</a:t>
            </a:r>
            <a:r>
              <a:rPr lang="en-US" dirty="0" smtClean="0"/>
              <a:t> </a:t>
            </a:r>
            <a:r>
              <a:rPr lang="en-US" dirty="0" err="1" smtClean="0"/>
              <a:t>dữ</a:t>
            </a:r>
            <a:r>
              <a:rPr lang="en-US" dirty="0" smtClean="0"/>
              <a:t> </a:t>
            </a:r>
            <a:r>
              <a:rPr lang="en-US" dirty="0" err="1" smtClean="0"/>
              <a:t>liệu</a:t>
            </a:r>
            <a:r>
              <a:rPr lang="en-US" dirty="0" smtClean="0"/>
              <a:t>, </a:t>
            </a:r>
          </a:p>
          <a:p>
            <a:pPr lvl="1"/>
            <a:r>
              <a:rPr lang="en-US" dirty="0" err="1" smtClean="0"/>
              <a:t>trực</a:t>
            </a:r>
            <a:r>
              <a:rPr lang="en-US" dirty="0" smtClean="0"/>
              <a:t> </a:t>
            </a:r>
            <a:r>
              <a:rPr lang="en-US" dirty="0" err="1" smtClean="0"/>
              <a:t>quan</a:t>
            </a:r>
            <a:r>
              <a:rPr lang="en-US" dirty="0" smtClean="0"/>
              <a:t> </a:t>
            </a:r>
            <a:r>
              <a:rPr lang="en-US" dirty="0" err="1" smtClean="0"/>
              <a:t>hóa</a:t>
            </a:r>
            <a:r>
              <a:rPr lang="en-US" dirty="0" smtClean="0"/>
              <a:t> </a:t>
            </a:r>
            <a:r>
              <a:rPr lang="en-US" dirty="0" err="1" smtClean="0"/>
              <a:t>dữ</a:t>
            </a:r>
            <a:r>
              <a:rPr lang="en-US" dirty="0" smtClean="0"/>
              <a:t> </a:t>
            </a:r>
            <a:r>
              <a:rPr lang="en-US" dirty="0" err="1" smtClean="0"/>
              <a:t>liệu</a:t>
            </a:r>
            <a:r>
              <a:rPr lang="en-US" dirty="0" smtClean="0"/>
              <a:t>, </a:t>
            </a:r>
          </a:p>
          <a:p>
            <a:pPr lvl="1"/>
            <a:r>
              <a:rPr lang="en-US" dirty="0" err="1" smtClean="0"/>
              <a:t>phân</a:t>
            </a:r>
            <a:r>
              <a:rPr lang="en-US" dirty="0" smtClean="0"/>
              <a:t> </a:t>
            </a:r>
            <a:r>
              <a:rPr lang="en-US" dirty="0" err="1" smtClean="0"/>
              <a:t>tích</a:t>
            </a:r>
            <a:r>
              <a:rPr lang="en-US" dirty="0" smtClean="0"/>
              <a:t> </a:t>
            </a:r>
            <a:r>
              <a:rPr lang="en-US" dirty="0" err="1" smtClean="0"/>
              <a:t>dữ</a:t>
            </a:r>
            <a:r>
              <a:rPr lang="en-US" dirty="0" smtClean="0"/>
              <a:t> </a:t>
            </a:r>
            <a:r>
              <a:rPr lang="en-US" dirty="0" err="1" smtClean="0"/>
              <a:t>liệu</a:t>
            </a:r>
            <a:r>
              <a:rPr lang="en-US" dirty="0"/>
              <a:t>.</a:t>
            </a:r>
            <a:endParaRPr lang="en-US" dirty="0" smtClean="0"/>
          </a:p>
          <a:p>
            <a:r>
              <a:rPr lang="en-US" dirty="0" smtClean="0"/>
              <a:t>R </a:t>
            </a:r>
          </a:p>
          <a:p>
            <a:pPr lvl="1"/>
            <a:r>
              <a:rPr lang="en-US" dirty="0" err="1" smtClean="0"/>
              <a:t>phân</a:t>
            </a:r>
            <a:r>
              <a:rPr lang="en-US" dirty="0" smtClean="0"/>
              <a:t> </a:t>
            </a:r>
            <a:r>
              <a:rPr lang="en-US" dirty="0" err="1" smtClean="0"/>
              <a:t>tích</a:t>
            </a:r>
            <a:r>
              <a:rPr lang="en-US" dirty="0" smtClean="0"/>
              <a:t> </a:t>
            </a:r>
            <a:r>
              <a:rPr lang="en-US" dirty="0" err="1" smtClean="0"/>
              <a:t>thống</a:t>
            </a:r>
            <a:r>
              <a:rPr lang="en-US" dirty="0" smtClean="0"/>
              <a:t> </a:t>
            </a:r>
            <a:r>
              <a:rPr lang="en-US" dirty="0" err="1" smtClean="0"/>
              <a:t>kê</a:t>
            </a:r>
            <a:r>
              <a:rPr lang="en-US" dirty="0" smtClean="0"/>
              <a:t>,</a:t>
            </a:r>
            <a:endParaRPr lang="en-US" dirty="0"/>
          </a:p>
          <a:p>
            <a:pPr lvl="1"/>
            <a:r>
              <a:rPr lang="en-US" dirty="0" err="1" smtClean="0"/>
              <a:t>Trực</a:t>
            </a:r>
            <a:r>
              <a:rPr lang="en-US" dirty="0" smtClean="0"/>
              <a:t> </a:t>
            </a:r>
            <a:r>
              <a:rPr lang="en-US" dirty="0" err="1" smtClean="0"/>
              <a:t>quan</a:t>
            </a:r>
            <a:r>
              <a:rPr lang="en-US" dirty="0" smtClean="0"/>
              <a:t> </a:t>
            </a:r>
            <a:r>
              <a:rPr lang="en-US" dirty="0" err="1" smtClean="0"/>
              <a:t>hoá</a:t>
            </a:r>
            <a:r>
              <a:rPr lang="en-US" dirty="0" smtClean="0"/>
              <a:t> </a:t>
            </a:r>
            <a:r>
              <a:rPr lang="en-US" dirty="0" err="1" smtClean="0"/>
              <a:t>dữ</a:t>
            </a:r>
            <a:r>
              <a:rPr lang="en-US" dirty="0" smtClean="0"/>
              <a:t> </a:t>
            </a:r>
            <a:r>
              <a:rPr lang="en-US" dirty="0" err="1" smtClean="0"/>
              <a:t>liệu</a:t>
            </a:r>
            <a:r>
              <a:rPr lang="en-US" dirty="0" smtClean="0"/>
              <a:t>.</a:t>
            </a:r>
          </a:p>
          <a:p>
            <a:r>
              <a:rPr lang="en-US" dirty="0" smtClean="0"/>
              <a:t>MATLAB </a:t>
            </a:r>
          </a:p>
          <a:p>
            <a:pPr lvl="1"/>
            <a:r>
              <a:rPr lang="en-US" dirty="0" err="1" smtClean="0"/>
              <a:t>mô</a:t>
            </a:r>
            <a:r>
              <a:rPr lang="en-US" dirty="0" smtClean="0"/>
              <a:t> </a:t>
            </a:r>
            <a:r>
              <a:rPr lang="en-US" dirty="0" err="1" smtClean="0"/>
              <a:t>hình</a:t>
            </a:r>
            <a:r>
              <a:rPr lang="en-US" dirty="0" smtClean="0"/>
              <a:t> </a:t>
            </a:r>
            <a:r>
              <a:rPr lang="en-US" dirty="0" err="1" smtClean="0"/>
              <a:t>toán</a:t>
            </a:r>
            <a:r>
              <a:rPr lang="en-US" dirty="0" smtClean="0"/>
              <a:t>, </a:t>
            </a:r>
          </a:p>
          <a:p>
            <a:pPr lvl="1"/>
            <a:r>
              <a:rPr lang="en-US" dirty="0" err="1" smtClean="0"/>
              <a:t>mô</a:t>
            </a:r>
            <a:r>
              <a:rPr lang="en-US" dirty="0" smtClean="0"/>
              <a:t> </a:t>
            </a:r>
            <a:r>
              <a:rPr lang="en-US" dirty="0" err="1" smtClean="0"/>
              <a:t>phỏng</a:t>
            </a:r>
            <a:r>
              <a:rPr lang="en-US" dirty="0"/>
              <a:t>.</a:t>
            </a:r>
            <a:endParaRPr lang="en-US" dirty="0" smtClean="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848293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KIẾN THỨC CHUYÊN MÔN VỀ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smtClean="0"/>
              <a:t>Dữ</a:t>
            </a:r>
            <a:r>
              <a:rPr lang="en-US" dirty="0" smtClean="0"/>
              <a:t> </a:t>
            </a:r>
            <a:r>
              <a:rPr lang="en-US" dirty="0" err="1" smtClean="0"/>
              <a:t>liệu</a:t>
            </a:r>
            <a:r>
              <a:rPr lang="en-US" dirty="0" smtClean="0"/>
              <a:t> </a:t>
            </a:r>
            <a:r>
              <a:rPr lang="en-US" dirty="0" err="1" smtClean="0"/>
              <a:t>kinh</a:t>
            </a:r>
            <a:r>
              <a:rPr lang="en-US" dirty="0" smtClean="0"/>
              <a:t> </a:t>
            </a:r>
            <a:r>
              <a:rPr lang="en-US" dirty="0" err="1" smtClean="0"/>
              <a:t>tế</a:t>
            </a:r>
            <a:r>
              <a:rPr lang="en-US" dirty="0" smtClean="0"/>
              <a:t>, </a:t>
            </a:r>
            <a:r>
              <a:rPr lang="en-US" dirty="0" err="1" smtClean="0"/>
              <a:t>tài</a:t>
            </a:r>
            <a:r>
              <a:rPr lang="en-US" dirty="0" smtClean="0"/>
              <a:t> </a:t>
            </a:r>
            <a:r>
              <a:rPr lang="en-US" dirty="0" err="1" smtClean="0"/>
              <a:t>chính</a:t>
            </a:r>
            <a:endParaRPr lang="en-US" dirty="0" smtClean="0"/>
          </a:p>
          <a:p>
            <a:r>
              <a:rPr lang="en-US" dirty="0" err="1" smtClean="0"/>
              <a:t>Dữ</a:t>
            </a:r>
            <a:r>
              <a:rPr lang="en-US" dirty="0" smtClean="0"/>
              <a:t> </a:t>
            </a:r>
            <a:r>
              <a:rPr lang="en-US" dirty="0" err="1" smtClean="0"/>
              <a:t>liệu</a:t>
            </a:r>
            <a:r>
              <a:rPr lang="en-US" dirty="0" smtClean="0"/>
              <a:t> y </a:t>
            </a:r>
            <a:r>
              <a:rPr lang="en-US" dirty="0" err="1" smtClean="0"/>
              <a:t>tế</a:t>
            </a:r>
            <a:endParaRPr lang="en-US" dirty="0" smtClean="0"/>
          </a:p>
          <a:p>
            <a:r>
              <a:rPr lang="en-US" dirty="0" err="1" smtClean="0"/>
              <a:t>Dữ</a:t>
            </a:r>
            <a:r>
              <a:rPr lang="en-US" dirty="0" smtClean="0"/>
              <a:t> </a:t>
            </a:r>
            <a:r>
              <a:rPr lang="en-US" dirty="0" err="1" smtClean="0"/>
              <a:t>liệu</a:t>
            </a:r>
            <a:r>
              <a:rPr lang="en-US" dirty="0" smtClean="0"/>
              <a:t> </a:t>
            </a:r>
            <a:r>
              <a:rPr lang="en-US" dirty="0" err="1" smtClean="0"/>
              <a:t>giáo</a:t>
            </a:r>
            <a:r>
              <a:rPr lang="en-US" dirty="0" smtClean="0"/>
              <a:t> </a:t>
            </a:r>
            <a:r>
              <a:rPr lang="en-US" dirty="0" err="1" smtClean="0"/>
              <a:t>dục</a:t>
            </a:r>
            <a:endParaRPr lang="en-US" dirty="0" smtClean="0"/>
          </a:p>
          <a:p>
            <a:r>
              <a:rPr lang="en-US" dirty="0" err="1" smtClean="0"/>
              <a:t>Dữ</a:t>
            </a:r>
            <a:r>
              <a:rPr lang="en-US" dirty="0" smtClean="0"/>
              <a:t> </a:t>
            </a:r>
            <a:r>
              <a:rPr lang="en-US" dirty="0" err="1" smtClean="0"/>
              <a:t>liệu</a:t>
            </a:r>
            <a:r>
              <a:rPr lang="en-US" dirty="0" smtClean="0"/>
              <a:t> </a:t>
            </a:r>
            <a:r>
              <a:rPr lang="en-US" dirty="0" err="1" smtClean="0"/>
              <a:t>giao</a:t>
            </a:r>
            <a:r>
              <a:rPr lang="en-US" dirty="0" smtClean="0"/>
              <a:t> </a:t>
            </a:r>
            <a:r>
              <a:rPr lang="en-US" dirty="0" err="1" smtClean="0"/>
              <a:t>thông</a:t>
            </a:r>
            <a:r>
              <a:rPr lang="en-US" dirty="0" smtClean="0"/>
              <a:t> </a:t>
            </a:r>
            <a:r>
              <a:rPr lang="en-US" dirty="0" err="1" smtClean="0"/>
              <a:t>vận</a:t>
            </a:r>
            <a:r>
              <a:rPr lang="en-US" dirty="0" smtClean="0"/>
              <a:t> </a:t>
            </a:r>
            <a:r>
              <a:rPr lang="en-US" dirty="0" err="1" smtClean="0"/>
              <a:t>tải</a:t>
            </a:r>
            <a:endParaRPr lang="en-US" dirty="0" smtClean="0"/>
          </a:p>
          <a:p>
            <a:r>
              <a:rPr lang="en-US" dirty="0" err="1" smtClean="0"/>
              <a:t>Dữ</a:t>
            </a:r>
            <a:r>
              <a:rPr lang="en-US" dirty="0" smtClean="0"/>
              <a:t> </a:t>
            </a:r>
            <a:r>
              <a:rPr lang="en-US" dirty="0" err="1" smtClean="0"/>
              <a:t>liệu</a:t>
            </a:r>
            <a:r>
              <a:rPr lang="en-US" dirty="0" smtClean="0"/>
              <a:t> </a:t>
            </a:r>
            <a:r>
              <a:rPr lang="en-US" dirty="0" err="1" smtClean="0"/>
              <a:t>về</a:t>
            </a:r>
            <a:r>
              <a:rPr lang="en-US" dirty="0" smtClean="0"/>
              <a:t> </a:t>
            </a:r>
            <a:r>
              <a:rPr lang="en-US" dirty="0" err="1" smtClean="0"/>
              <a:t>khoa</a:t>
            </a:r>
            <a:r>
              <a:rPr lang="en-US" dirty="0" smtClean="0"/>
              <a:t> học </a:t>
            </a:r>
            <a:r>
              <a:rPr lang="en-US" dirty="0" err="1" smtClean="0"/>
              <a:t>kỹ</a:t>
            </a:r>
            <a:r>
              <a:rPr lang="en-US" dirty="0" smtClean="0"/>
              <a:t> </a:t>
            </a:r>
            <a:r>
              <a:rPr lang="en-US" dirty="0" err="1" smtClean="0"/>
              <a:t>thuật</a:t>
            </a:r>
            <a:endParaRPr lang="en-US" dirty="0" smtClean="0"/>
          </a:p>
          <a:p>
            <a:r>
              <a:rPr lang="en-US" dirty="0" err="1" smtClean="0"/>
              <a:t>Dữ</a:t>
            </a:r>
            <a:r>
              <a:rPr lang="en-US" dirty="0" smtClean="0"/>
              <a:t> </a:t>
            </a:r>
            <a:r>
              <a:rPr lang="en-US" dirty="0" err="1" smtClean="0"/>
              <a:t>liệu</a:t>
            </a:r>
            <a:r>
              <a:rPr lang="en-US" dirty="0" smtClean="0"/>
              <a:t> </a:t>
            </a:r>
            <a:r>
              <a:rPr lang="en-US" dirty="0" err="1" smtClean="0"/>
              <a:t>về</a:t>
            </a:r>
            <a:r>
              <a:rPr lang="en-US" dirty="0" smtClean="0"/>
              <a:t> </a:t>
            </a:r>
            <a:r>
              <a:rPr lang="en-US" dirty="0" err="1" smtClean="0"/>
              <a:t>ngôn</a:t>
            </a:r>
            <a:r>
              <a:rPr lang="en-US" dirty="0" smtClean="0"/>
              <a:t> </a:t>
            </a:r>
            <a:r>
              <a:rPr lang="en-US" dirty="0" err="1" smtClean="0"/>
              <a:t>ngữ</a:t>
            </a:r>
            <a:endParaRPr lang="en-US" dirty="0" smtClean="0"/>
          </a:p>
          <a:p>
            <a:r>
              <a:rPr lang="en-US" dirty="0" err="1" smtClean="0"/>
              <a:t>Dữ</a:t>
            </a:r>
            <a:r>
              <a:rPr lang="en-US" dirty="0" smtClean="0"/>
              <a:t> </a:t>
            </a:r>
            <a:r>
              <a:rPr lang="en-US" dirty="0" err="1" smtClean="0"/>
              <a:t>liệu</a:t>
            </a:r>
            <a:r>
              <a:rPr lang="en-US" dirty="0" smtClean="0"/>
              <a:t> </a:t>
            </a:r>
            <a:r>
              <a:rPr lang="en-US" dirty="0" err="1" smtClean="0"/>
              <a:t>về</a:t>
            </a:r>
            <a:r>
              <a:rPr lang="en-US" dirty="0" smtClean="0"/>
              <a:t> </a:t>
            </a:r>
            <a:r>
              <a:rPr lang="en-US" dirty="0" err="1" smtClean="0"/>
              <a:t>mạng</a:t>
            </a:r>
            <a:r>
              <a:rPr lang="en-US" dirty="0" smtClean="0"/>
              <a:t> </a:t>
            </a:r>
            <a:r>
              <a:rPr lang="en-US" dirty="0" err="1" smtClean="0"/>
              <a:t>xã</a:t>
            </a:r>
            <a:r>
              <a:rPr lang="en-US" dirty="0" smtClean="0"/>
              <a:t> </a:t>
            </a:r>
            <a:r>
              <a:rPr lang="en-US" dirty="0" err="1" smtClean="0"/>
              <a:t>hội</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224354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Hồ</a:t>
            </a:r>
            <a:r>
              <a:rPr lang="en-US" dirty="0" smtClean="0"/>
              <a:t> </a:t>
            </a:r>
            <a:r>
              <a:rPr lang="en-US" dirty="0" err="1" smtClean="0"/>
              <a:t>sơ</a:t>
            </a:r>
            <a:r>
              <a:rPr lang="en-US" dirty="0" smtClean="0"/>
              <a:t> của </a:t>
            </a:r>
            <a:r>
              <a:rPr lang="en-US" dirty="0" err="1" smtClean="0"/>
              <a:t>nhà</a:t>
            </a:r>
            <a:r>
              <a:rPr lang="en-US" dirty="0" smtClean="0"/>
              <a:t> </a:t>
            </a:r>
            <a:r>
              <a:rPr lang="en-US" dirty="0" err="1" smtClean="0"/>
              <a:t>khoa</a:t>
            </a:r>
            <a:r>
              <a:rPr lang="en-US" dirty="0" smtClean="0"/>
              <a:t> học </a:t>
            </a:r>
            <a:r>
              <a:rPr lang="en-US" dirty="0" err="1" smtClean="0"/>
              <a:t>dữ</a:t>
            </a:r>
            <a:r>
              <a:rPr lang="en-US" dirty="0" smtClean="0"/>
              <a:t> </a:t>
            </a:r>
            <a:r>
              <a:rPr lang="en-US" dirty="0" err="1" smtClean="0"/>
              <a:t>liệu</a:t>
            </a:r>
            <a:endParaRPr lang="en-US" dirty="0"/>
          </a:p>
        </p:txBody>
      </p:sp>
      <p:pic>
        <p:nvPicPr>
          <p:cNvPr id="7" name="Content Placeholder 6"/>
          <p:cNvPicPr>
            <a:picLocks noGrp="1" noChangeAspect="1"/>
          </p:cNvPicPr>
          <p:nvPr>
            <p:ph idx="1"/>
          </p:nvPr>
        </p:nvPicPr>
        <p:blipFill>
          <a:blip r:embed="rId2"/>
          <a:stretch>
            <a:fillRect/>
          </a:stretch>
        </p:blipFill>
        <p:spPr>
          <a:xfrm>
            <a:off x="1981200" y="1417638"/>
            <a:ext cx="8839199" cy="457914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247069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LÀM VIỆC THEO NHÓM</a:t>
            </a:r>
            <a:endParaRPr lang="en-US" dirty="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a:blip r:embed="rId2"/>
          <a:stretch>
            <a:fillRect/>
          </a:stretch>
        </p:blipFill>
        <p:spPr>
          <a:xfrm>
            <a:off x="2514600" y="1219200"/>
            <a:ext cx="8305800" cy="5137151"/>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797804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1.4 </a:t>
            </a:r>
            <a:r>
              <a:rPr lang="en-US" dirty="0" err="1"/>
              <a:t>Vai</a:t>
            </a:r>
            <a:r>
              <a:rPr lang="en-US" dirty="0"/>
              <a:t> </a:t>
            </a:r>
            <a:r>
              <a:rPr lang="en-US" dirty="0" err="1"/>
              <a:t>trò</a:t>
            </a:r>
            <a:r>
              <a:rPr lang="en-US" dirty="0"/>
              <a:t> của </a:t>
            </a:r>
            <a:r>
              <a:rPr lang="en-US" dirty="0" err="1"/>
              <a:t>khoa</a:t>
            </a:r>
            <a:r>
              <a:rPr lang="en-US" dirty="0"/>
              <a:t> học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lstStyle/>
          <a:p>
            <a:r>
              <a:rPr lang="en-US" dirty="0" err="1"/>
              <a:t>Mục</a:t>
            </a:r>
            <a:r>
              <a:rPr lang="en-US" dirty="0"/>
              <a:t> </a:t>
            </a:r>
            <a:r>
              <a:rPr lang="en-US" dirty="0" err="1"/>
              <a:t>tiêu</a:t>
            </a:r>
            <a:r>
              <a:rPr lang="en-US" dirty="0"/>
              <a:t> của </a:t>
            </a:r>
            <a:r>
              <a:rPr lang="en-US" dirty="0">
                <a:latin typeface="Times New Roman" panose="02020603050405020304" pitchFamily="18" charset="0"/>
                <a:cs typeface="Times New Roman" panose="02020603050405020304" pitchFamily="18" charset="0"/>
              </a:rPr>
              <a:t>KHOA HỌC DỮ LIỆU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KHOA HỌC DỮ LIỆU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của </a:t>
            </a:r>
            <a:r>
              <a:rPr lang="en-US" dirty="0" err="1">
                <a:latin typeface="Times New Roman" panose="02020603050405020304" pitchFamily="18" charset="0"/>
                <a:cs typeface="Times New Roman" panose="02020603050405020304" pitchFamily="18" charset="0"/>
              </a:rPr>
              <a:t>doanh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a:t>
            </a:r>
          </a:p>
          <a:p>
            <a:pPr marL="0" indent="0">
              <a:buNone/>
            </a:pP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823510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1.4 </a:t>
            </a:r>
            <a:r>
              <a:rPr lang="en-US" dirty="0" err="1"/>
              <a:t>Vai</a:t>
            </a:r>
            <a:r>
              <a:rPr lang="en-US" dirty="0"/>
              <a:t> </a:t>
            </a:r>
            <a:r>
              <a:rPr lang="en-US" dirty="0" err="1"/>
              <a:t>trò</a:t>
            </a:r>
            <a:r>
              <a:rPr lang="en-US" dirty="0"/>
              <a:t> của </a:t>
            </a:r>
            <a:r>
              <a:rPr lang="en-US" dirty="0" err="1"/>
              <a:t>khoa</a:t>
            </a:r>
            <a:r>
              <a:rPr lang="en-US" dirty="0"/>
              <a:t> học </a:t>
            </a:r>
            <a:r>
              <a:rPr lang="en-US" dirty="0" err="1"/>
              <a:t>dữ</a:t>
            </a:r>
            <a:r>
              <a:rPr lang="en-US" dirty="0"/>
              <a:t> </a:t>
            </a:r>
            <a:r>
              <a:rPr lang="en-US" dirty="0" err="1"/>
              <a:t>liệu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Thu </a:t>
            </a:r>
            <a:r>
              <a:rPr lang="en-US" dirty="0" err="1" smtClean="0">
                <a:latin typeface="Times New Roman" panose="02020603050405020304" pitchFamily="18" charset="0"/>
                <a:cs typeface="Times New Roman" panose="02020603050405020304" pitchFamily="18" charset="0"/>
              </a:rPr>
              <a:t>thập</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xử</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lý</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dữ</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liệu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để</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tìm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giá</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trị</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trong</a:t>
            </a:r>
            <a:endParaRPr lang="en-US" dirty="0" smtClean="0">
              <a:latin typeface="Times New Roman" panose="02020603050405020304" pitchFamily="18" charset="0"/>
              <a:cs typeface="Times New Roman" panose="02020603050405020304" pitchFamily="18" charset="0"/>
            </a:endParaRPr>
          </a:p>
          <a:p>
            <a:pPr lvl="1"/>
            <a:r>
              <a:rPr lang="en-US" dirty="0" err="1" smtClean="0">
                <a:latin typeface="Times New Roman" panose="02020603050405020304" pitchFamily="18" charset="0"/>
                <a:cs typeface="Times New Roman" panose="02020603050405020304" pitchFamily="18" charset="0"/>
              </a:rPr>
              <a:t>Dựa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tin </a:t>
            </a:r>
            <a:r>
              <a:rPr lang="en-US" dirty="0" err="1" smtClean="0">
                <a:latin typeface="Times New Roman" panose="02020603050405020304" pitchFamily="18" charset="0"/>
                <a:cs typeface="Times New Roman" panose="02020603050405020304" pitchFamily="18" charset="0"/>
              </a:rPr>
              <a:t>từ</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mạng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xã</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hội</a:t>
            </a:r>
            <a:endParaRPr lang="en-US" dirty="0" smtClean="0">
              <a:latin typeface="Times New Roman" panose="02020603050405020304" pitchFamily="18" charset="0"/>
              <a:cs typeface="Times New Roman" panose="02020603050405020304" pitchFamily="18" charset="0"/>
            </a:endParaRPr>
          </a:p>
          <a:p>
            <a:pPr lvl="1"/>
            <a:r>
              <a:rPr lang="en-US" dirty="0" err="1" smtClean="0">
                <a:latin typeface="Times New Roman" panose="02020603050405020304" pitchFamily="18" charset="0"/>
                <a:cs typeface="Times New Roman" panose="02020603050405020304" pitchFamily="18" charset="0"/>
              </a:rPr>
              <a:t>Nhà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khoa</a:t>
            </a:r>
            <a:r>
              <a:rPr lang="en-US" dirty="0" smtClean="0">
                <a:latin typeface="Times New Roman" panose="02020603050405020304" pitchFamily="18" charset="0"/>
                <a:cs typeface="Times New Roman" panose="02020603050405020304" pitchFamily="18" charset="0"/>
              </a:rPr>
              <a:t> học </a:t>
            </a:r>
            <a:r>
              <a:rPr lang="en-US" dirty="0" err="1" smtClean="0">
                <a:latin typeface="Times New Roman" panose="02020603050405020304" pitchFamily="18" charset="0"/>
                <a:cs typeface="Times New Roman" panose="02020603050405020304" pitchFamily="18" charset="0"/>
              </a:rPr>
              <a:t>dữ</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liệu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tìm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thấy</a:t>
            </a:r>
            <a:r>
              <a:rPr lang="en-US" dirty="0" smtClean="0">
                <a:latin typeface="Times New Roman" panose="02020603050405020304" pitchFamily="18" charset="0"/>
                <a:cs typeface="Times New Roman" panose="02020603050405020304" pitchFamily="18" charset="0"/>
              </a:rPr>
              <a:t>:</a:t>
            </a:r>
          </a:p>
          <a:p>
            <a:pPr lvl="2"/>
            <a:r>
              <a:rPr lang="en-US" dirty="0" err="1" smtClean="0">
                <a:latin typeface="Times New Roman" panose="02020603050405020304" pitchFamily="18" charset="0"/>
                <a:cs typeface="Times New Roman" panose="02020603050405020304" pitchFamily="18" charset="0"/>
              </a:rPr>
              <a:t>Gần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ngày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lễ</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tình</a:t>
            </a:r>
            <a:r>
              <a:rPr lang="en-US" dirty="0" smtClean="0">
                <a:latin typeface="Times New Roman" panose="02020603050405020304" pitchFamily="18" charset="0"/>
                <a:cs typeface="Times New Roman" panose="02020603050405020304" pitchFamily="18" charset="0"/>
              </a:rPr>
              <a:t> nhận: </a:t>
            </a:r>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mặt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hàng</a:t>
            </a:r>
            <a:r>
              <a:rPr lang="en-US" dirty="0" smtClean="0">
                <a:latin typeface="Times New Roman" panose="02020603050405020304" pitchFamily="18" charset="0"/>
                <a:cs typeface="Times New Roman" panose="02020603050405020304" pitchFamily="18" charset="0"/>
              </a:rPr>
              <a:t> A,B,C … </a:t>
            </a:r>
            <a:r>
              <a:rPr lang="en-US" dirty="0" err="1" smtClean="0">
                <a:latin typeface="Times New Roman" panose="02020603050405020304" pitchFamily="18" charset="0"/>
                <a:cs typeface="Times New Roman" panose="02020603050405020304" pitchFamily="18" charset="0"/>
              </a:rPr>
              <a:t>xuất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hiện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với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tần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suất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cao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hơn</a:t>
            </a:r>
            <a:endParaRPr lang="en-US" dirty="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Giải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thích</a:t>
            </a:r>
            <a:r>
              <a:rPr lang="en-US" dirty="0" smtClean="0">
                <a:latin typeface="Times New Roman" panose="02020603050405020304" pitchFamily="18" charset="0"/>
                <a:cs typeface="Times New Roman" panose="02020603050405020304" pitchFamily="18" charset="0"/>
              </a:rPr>
              <a:t>, trình </a:t>
            </a:r>
            <a:r>
              <a:rPr lang="en-US" dirty="0" err="1" smtClean="0">
                <a:latin typeface="Times New Roman" panose="02020603050405020304" pitchFamily="18" charset="0"/>
                <a:cs typeface="Times New Roman" panose="02020603050405020304" pitchFamily="18" charset="0"/>
              </a:rPr>
              <a:t>bày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những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giá</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trị</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trong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liên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quan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chuyển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hóa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thành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hành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động</a:t>
            </a:r>
            <a:endParaRPr lang="en-US" dirty="0" smtClean="0">
              <a:latin typeface="Times New Roman" panose="02020603050405020304" pitchFamily="18" charset="0"/>
              <a:cs typeface="Times New Roman" panose="02020603050405020304" pitchFamily="18" charset="0"/>
            </a:endParaRPr>
          </a:p>
          <a:p>
            <a:pPr lvl="1"/>
            <a:r>
              <a:rPr lang="en-US" dirty="0" err="1" smtClean="0">
                <a:latin typeface="Times New Roman" panose="02020603050405020304" pitchFamily="18" charset="0"/>
                <a:cs typeface="Times New Roman" panose="02020603050405020304" pitchFamily="18" charset="0"/>
              </a:rPr>
              <a:t>Từ</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tin </a:t>
            </a:r>
            <a:r>
              <a:rPr lang="en-US" dirty="0" err="1" smtClean="0">
                <a:latin typeface="Times New Roman" panose="02020603050405020304" pitchFamily="18" charset="0"/>
                <a:cs typeface="Times New Roman" panose="02020603050405020304" pitchFamily="18" charset="0"/>
              </a:rPr>
              <a:t>tìm</a:t>
            </a:r>
            <a:r>
              <a:rPr lang="en-US" dirty="0" smtClean="0">
                <a:latin typeface="Times New Roman" panose="02020603050405020304" pitchFamily="18" charset="0"/>
                <a:cs typeface="Times New Roman" panose="02020603050405020304" pitchFamily="18" charset="0"/>
              </a:rPr>
              <a:t> được </a:t>
            </a:r>
            <a:r>
              <a:rPr lang="en-US" dirty="0" err="1" smtClean="0">
                <a:latin typeface="Times New Roman" panose="02020603050405020304" pitchFamily="18" charset="0"/>
                <a:cs typeface="Times New Roman" panose="02020603050405020304" pitchFamily="18" charset="0"/>
              </a:rPr>
              <a:t>đưa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hành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động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công</a:t>
            </a:r>
            <a:r>
              <a:rPr lang="en-US" dirty="0" smtClean="0">
                <a:latin typeface="Times New Roman" panose="02020603050405020304" pitchFamily="18" charset="0"/>
                <a:cs typeface="Times New Roman" panose="02020603050405020304" pitchFamily="18" charset="0"/>
              </a:rPr>
              <a:t> ty, </a:t>
            </a:r>
            <a:r>
              <a:rPr lang="en-US" dirty="0" err="1" smtClean="0">
                <a:latin typeface="Times New Roman" panose="02020603050405020304" pitchFamily="18" charset="0"/>
                <a:cs typeface="Times New Roman" panose="02020603050405020304" pitchFamily="18" charset="0"/>
              </a:rPr>
              <a:t>doanh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nghiệp</a:t>
            </a:r>
            <a:endParaRPr lang="en-US" dirty="0" smtClean="0">
              <a:latin typeface="Times New Roman" panose="02020603050405020304" pitchFamily="18" charset="0"/>
              <a:cs typeface="Times New Roman" panose="02020603050405020304" pitchFamily="18" charset="0"/>
            </a:endParaRPr>
          </a:p>
          <a:p>
            <a:pPr lvl="2"/>
            <a:r>
              <a:rPr lang="en-US" dirty="0" err="1" smtClean="0">
                <a:latin typeface="Times New Roman" panose="02020603050405020304" pitchFamily="18" charset="0"/>
                <a:cs typeface="Times New Roman" panose="02020603050405020304" pitchFamily="18" charset="0"/>
              </a:rPr>
              <a:t>Giảm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giá</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khuyến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mại</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034090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1.4 </a:t>
            </a:r>
            <a:r>
              <a:rPr lang="en-US" dirty="0" err="1"/>
              <a:t>Vai</a:t>
            </a:r>
            <a:r>
              <a:rPr lang="en-US" dirty="0"/>
              <a:t> </a:t>
            </a:r>
            <a:r>
              <a:rPr lang="en-US" dirty="0" err="1"/>
              <a:t>trò</a:t>
            </a:r>
            <a:r>
              <a:rPr lang="en-US" dirty="0"/>
              <a:t> của </a:t>
            </a:r>
            <a:r>
              <a:rPr lang="en-US" dirty="0" err="1"/>
              <a:t>khoa</a:t>
            </a:r>
            <a:r>
              <a:rPr lang="en-US" dirty="0"/>
              <a:t> học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lstStyle/>
          <a:p>
            <a:r>
              <a:rPr lang="en-US" dirty="0" err="1" smtClean="0"/>
              <a:t>Sản</a:t>
            </a:r>
            <a:r>
              <a:rPr lang="en-US" dirty="0" smtClean="0"/>
              <a:t> </a:t>
            </a:r>
            <a:r>
              <a:rPr lang="en-US" dirty="0" err="1" smtClean="0"/>
              <a:t>phẩm</a:t>
            </a:r>
            <a:r>
              <a:rPr lang="en-US" dirty="0" smtClean="0"/>
              <a:t> của </a:t>
            </a:r>
            <a:r>
              <a:rPr lang="en-US" dirty="0" err="1" smtClean="0"/>
              <a:t>khoa</a:t>
            </a:r>
            <a:r>
              <a:rPr lang="en-US" dirty="0" smtClean="0"/>
              <a:t> học </a:t>
            </a:r>
            <a:r>
              <a:rPr lang="en-US" dirty="0" err="1" smtClean="0"/>
              <a:t>dữ</a:t>
            </a:r>
            <a:r>
              <a:rPr lang="en-US" dirty="0" smtClean="0"/>
              <a:t> </a:t>
            </a:r>
            <a:r>
              <a:rPr lang="en-US" dirty="0" err="1" smtClean="0"/>
              <a:t>liệu</a:t>
            </a:r>
            <a:endParaRPr lang="en-US" dirty="0" smtClean="0"/>
          </a:p>
          <a:p>
            <a:pPr lvl="1"/>
            <a:r>
              <a:rPr lang="en-US" dirty="0" err="1" smtClean="0"/>
              <a:t>Tính</a:t>
            </a:r>
            <a:r>
              <a:rPr lang="en-US" dirty="0" smtClean="0"/>
              <a:t> </a:t>
            </a:r>
            <a:r>
              <a:rPr lang="en-US" dirty="0" err="1" smtClean="0"/>
              <a:t>năng</a:t>
            </a:r>
            <a:r>
              <a:rPr lang="en-US" dirty="0" smtClean="0"/>
              <a:t> Facebook </a:t>
            </a:r>
            <a:r>
              <a:rPr lang="en-US" dirty="0" err="1" smtClean="0"/>
              <a:t>tự</a:t>
            </a:r>
            <a:r>
              <a:rPr lang="en-US" dirty="0" smtClean="0"/>
              <a:t> </a:t>
            </a:r>
            <a:r>
              <a:rPr lang="en-US" dirty="0" err="1" smtClean="0"/>
              <a:t>động</a:t>
            </a:r>
            <a:r>
              <a:rPr lang="en-US" dirty="0" smtClean="0"/>
              <a:t>, </a:t>
            </a:r>
            <a:r>
              <a:rPr lang="en-US" dirty="0" err="1" smtClean="0"/>
              <a:t>gợi</a:t>
            </a:r>
            <a:r>
              <a:rPr lang="en-US" dirty="0" smtClean="0"/>
              <a:t> ý </a:t>
            </a:r>
            <a:r>
              <a:rPr lang="en-US" dirty="0" err="1" smtClean="0"/>
              <a:t>kết</a:t>
            </a:r>
            <a:r>
              <a:rPr lang="en-US" dirty="0" smtClean="0"/>
              <a:t> </a:t>
            </a:r>
            <a:r>
              <a:rPr lang="en-US" dirty="0" err="1" smtClean="0"/>
              <a:t>nối</a:t>
            </a:r>
            <a:r>
              <a:rPr lang="en-US" dirty="0" smtClean="0"/>
              <a:t> </a:t>
            </a:r>
            <a:r>
              <a:rPr lang="en-US" dirty="0" err="1" smtClean="0"/>
              <a:t>bạn</a:t>
            </a:r>
            <a:r>
              <a:rPr lang="en-US" dirty="0" smtClean="0"/>
              <a:t> </a:t>
            </a:r>
            <a:r>
              <a:rPr lang="en-US" dirty="0" err="1" smtClean="0"/>
              <a:t>bè</a:t>
            </a:r>
            <a:r>
              <a:rPr lang="en-US" dirty="0" smtClean="0"/>
              <a:t> </a:t>
            </a:r>
            <a:r>
              <a:rPr lang="en-US" dirty="0" err="1" smtClean="0"/>
              <a:t>dựa</a:t>
            </a:r>
            <a:r>
              <a:rPr lang="en-US" dirty="0" smtClean="0"/>
              <a:t> </a:t>
            </a:r>
            <a:r>
              <a:rPr lang="en-US" dirty="0" err="1" smtClean="0"/>
              <a:t>vào</a:t>
            </a:r>
            <a:r>
              <a:rPr lang="en-US" dirty="0" smtClean="0"/>
              <a:t> </a:t>
            </a:r>
            <a:r>
              <a:rPr lang="en-US" dirty="0" err="1" smtClean="0"/>
              <a:t>số</a:t>
            </a:r>
            <a:r>
              <a:rPr lang="en-US" dirty="0" smtClean="0"/>
              <a:t> </a:t>
            </a:r>
            <a:r>
              <a:rPr lang="en-US" dirty="0" err="1" smtClean="0"/>
              <a:t>bạn</a:t>
            </a:r>
            <a:r>
              <a:rPr lang="en-US" dirty="0" smtClean="0"/>
              <a:t> </a:t>
            </a:r>
            <a:r>
              <a:rPr lang="en-US" dirty="0" err="1" smtClean="0"/>
              <a:t>bè</a:t>
            </a:r>
            <a:endParaRPr lang="en-US" dirty="0" smtClean="0"/>
          </a:p>
          <a:p>
            <a:pPr lvl="1"/>
            <a:r>
              <a:rPr lang="en-US" dirty="0" err="1" smtClean="0"/>
              <a:t>Tính</a:t>
            </a:r>
            <a:r>
              <a:rPr lang="en-US" dirty="0" smtClean="0"/>
              <a:t> </a:t>
            </a:r>
            <a:r>
              <a:rPr lang="en-US" dirty="0" err="1" smtClean="0"/>
              <a:t>năng</a:t>
            </a:r>
            <a:r>
              <a:rPr lang="en-US" dirty="0" smtClean="0"/>
              <a:t> </a:t>
            </a:r>
            <a:r>
              <a:rPr lang="en-US" dirty="0" err="1" smtClean="0"/>
              <a:t>gợi</a:t>
            </a:r>
            <a:r>
              <a:rPr lang="en-US" dirty="0" smtClean="0"/>
              <a:t> ý của Amazon: </a:t>
            </a:r>
            <a:r>
              <a:rPr lang="en-US" dirty="0" err="1" smtClean="0"/>
              <a:t>khi</a:t>
            </a:r>
            <a:r>
              <a:rPr lang="en-US" dirty="0" smtClean="0"/>
              <a:t> </a:t>
            </a:r>
            <a:r>
              <a:rPr lang="en-US" dirty="0" err="1" smtClean="0"/>
              <a:t>khách</a:t>
            </a:r>
            <a:r>
              <a:rPr lang="en-US" dirty="0" smtClean="0"/>
              <a:t> </a:t>
            </a:r>
            <a:r>
              <a:rPr lang="en-US" dirty="0" err="1" smtClean="0"/>
              <a:t>hàng</a:t>
            </a:r>
            <a:r>
              <a:rPr lang="en-US" dirty="0" smtClean="0"/>
              <a:t> </a:t>
            </a:r>
            <a:r>
              <a:rPr lang="en-US" dirty="0" err="1" smtClean="0"/>
              <a:t>mua</a:t>
            </a:r>
            <a:r>
              <a:rPr lang="en-US" dirty="0" smtClean="0"/>
              <a:t> </a:t>
            </a:r>
            <a:r>
              <a:rPr lang="en-US" dirty="0" err="1" smtClean="0"/>
              <a:t>hàng</a:t>
            </a:r>
            <a:r>
              <a:rPr lang="en-US" dirty="0" smtClean="0"/>
              <a:t> </a:t>
            </a:r>
            <a:r>
              <a:rPr lang="en-US" dirty="0" err="1" smtClean="0"/>
              <a:t>gợi</a:t>
            </a:r>
            <a:r>
              <a:rPr lang="en-US" dirty="0" smtClean="0"/>
              <a:t> ý </a:t>
            </a:r>
            <a:r>
              <a:rPr lang="en-US" dirty="0" err="1" smtClean="0"/>
              <a:t>các</a:t>
            </a:r>
            <a:r>
              <a:rPr lang="en-US" dirty="0" smtClean="0"/>
              <a:t> </a:t>
            </a:r>
            <a:r>
              <a:rPr lang="en-US" dirty="0" err="1" smtClean="0"/>
              <a:t>mặt</a:t>
            </a:r>
            <a:r>
              <a:rPr lang="en-US" dirty="0" smtClean="0"/>
              <a:t> </a:t>
            </a:r>
            <a:r>
              <a:rPr lang="en-US" dirty="0" err="1" smtClean="0"/>
              <a:t>hàng</a:t>
            </a:r>
            <a:r>
              <a:rPr lang="en-US" dirty="0" smtClean="0"/>
              <a:t> </a:t>
            </a:r>
            <a:r>
              <a:rPr lang="en-US" dirty="0" err="1" smtClean="0"/>
              <a:t>liên</a:t>
            </a:r>
            <a:r>
              <a:rPr lang="en-US" dirty="0" smtClean="0"/>
              <a:t> </a:t>
            </a:r>
            <a:r>
              <a:rPr lang="en-US" dirty="0" err="1" smtClean="0"/>
              <a:t>quan</a:t>
            </a:r>
            <a:r>
              <a:rPr lang="en-US" dirty="0" smtClean="0"/>
              <a:t> </a:t>
            </a:r>
            <a:r>
              <a:rPr lang="en-US" dirty="0" err="1" smtClean="0"/>
              <a:t>cho</a:t>
            </a:r>
            <a:r>
              <a:rPr lang="en-US" dirty="0" smtClean="0"/>
              <a:t> </a:t>
            </a:r>
            <a:r>
              <a:rPr lang="en-US" dirty="0" err="1" smtClean="0"/>
              <a:t>khách</a:t>
            </a:r>
            <a:r>
              <a:rPr lang="en-US" dirty="0" smtClean="0"/>
              <a:t> </a:t>
            </a:r>
            <a:r>
              <a:rPr lang="en-US" dirty="0" err="1" smtClean="0"/>
              <a:t>hàng</a:t>
            </a:r>
            <a:endParaRPr lang="en-US" dirty="0" smtClean="0"/>
          </a:p>
          <a:p>
            <a:pPr lvl="1"/>
            <a:r>
              <a:rPr lang="en-US" dirty="0" err="1" smtClean="0"/>
              <a:t>Hệ</a:t>
            </a:r>
            <a:r>
              <a:rPr lang="en-US" dirty="0" smtClean="0"/>
              <a:t> </a:t>
            </a:r>
            <a:r>
              <a:rPr lang="en-US" dirty="0" err="1" smtClean="0"/>
              <a:t>thống</a:t>
            </a:r>
            <a:r>
              <a:rPr lang="en-US" dirty="0" smtClean="0"/>
              <a:t> </a:t>
            </a:r>
            <a:r>
              <a:rPr lang="en-US" dirty="0" err="1" smtClean="0"/>
              <a:t>chuẩn</a:t>
            </a:r>
            <a:r>
              <a:rPr lang="en-US" dirty="0" smtClean="0"/>
              <a:t> </a:t>
            </a:r>
            <a:r>
              <a:rPr lang="en-US" dirty="0" err="1" smtClean="0"/>
              <a:t>đoán</a:t>
            </a:r>
            <a:r>
              <a:rPr lang="en-US" dirty="0" smtClean="0"/>
              <a:t> </a:t>
            </a:r>
            <a:r>
              <a:rPr lang="en-US" dirty="0" err="1" smtClean="0"/>
              <a:t>bệnh</a:t>
            </a:r>
            <a:r>
              <a:rPr lang="en-US" dirty="0" smtClean="0"/>
              <a:t> </a:t>
            </a:r>
            <a:r>
              <a:rPr lang="en-US" dirty="0" err="1" smtClean="0"/>
              <a:t>trong</a:t>
            </a:r>
            <a:r>
              <a:rPr lang="en-US" dirty="0" smtClean="0"/>
              <a:t> </a:t>
            </a:r>
            <a:r>
              <a:rPr lang="en-US" dirty="0" err="1" smtClean="0"/>
              <a:t>lĩnh</a:t>
            </a:r>
            <a:r>
              <a:rPr lang="en-US" dirty="0" smtClean="0"/>
              <a:t> </a:t>
            </a:r>
            <a:r>
              <a:rPr lang="en-US" dirty="0" err="1" smtClean="0"/>
              <a:t>vực</a:t>
            </a:r>
            <a:r>
              <a:rPr lang="en-US" dirty="0" smtClean="0"/>
              <a:t> y </a:t>
            </a:r>
            <a:r>
              <a:rPr lang="en-US" dirty="0" err="1" smtClean="0"/>
              <a:t>tế</a:t>
            </a:r>
            <a:endParaRPr lang="en-US" dirty="0" smtClean="0"/>
          </a:p>
          <a:p>
            <a:pPr lvl="1"/>
            <a:r>
              <a:rPr lang="en-US" dirty="0" err="1" smtClean="0"/>
              <a:t>Hệ</a:t>
            </a:r>
            <a:r>
              <a:rPr lang="en-US" dirty="0" smtClean="0"/>
              <a:t> </a:t>
            </a:r>
            <a:r>
              <a:rPr lang="en-US" dirty="0" err="1" smtClean="0"/>
              <a:t>thống</a:t>
            </a:r>
            <a:r>
              <a:rPr lang="en-US" dirty="0" smtClean="0"/>
              <a:t> </a:t>
            </a:r>
            <a:r>
              <a:rPr lang="en-US" dirty="0" err="1" smtClean="0"/>
              <a:t>lái</a:t>
            </a:r>
            <a:r>
              <a:rPr lang="en-US" dirty="0" smtClean="0"/>
              <a:t> </a:t>
            </a:r>
            <a:r>
              <a:rPr lang="en-US" dirty="0" err="1" smtClean="0"/>
              <a:t>xe</a:t>
            </a:r>
            <a:r>
              <a:rPr lang="en-US" dirty="0" smtClean="0"/>
              <a:t> </a:t>
            </a:r>
            <a:r>
              <a:rPr lang="en-US" dirty="0" err="1" smtClean="0"/>
              <a:t>tự</a:t>
            </a:r>
            <a:r>
              <a:rPr lang="en-US" dirty="0" smtClean="0"/>
              <a:t> </a:t>
            </a:r>
            <a:r>
              <a:rPr lang="en-US" dirty="0" err="1" smtClean="0"/>
              <a:t>động</a:t>
            </a:r>
            <a:endParaRPr lang="en-US" dirty="0" smtClean="0"/>
          </a:p>
          <a:p>
            <a:pPr lvl="1"/>
            <a:r>
              <a:rPr lang="en-US" dirty="0" err="1" smtClean="0"/>
              <a:t>Hệ</a:t>
            </a:r>
            <a:r>
              <a:rPr lang="en-US" dirty="0" smtClean="0"/>
              <a:t> </a:t>
            </a:r>
            <a:r>
              <a:rPr lang="en-US" dirty="0" err="1" smtClean="0"/>
              <a:t>thống</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giao</a:t>
            </a:r>
            <a:r>
              <a:rPr lang="en-US" dirty="0" smtClean="0"/>
              <a:t> </a:t>
            </a:r>
            <a:r>
              <a:rPr lang="en-US" dirty="0" err="1" smtClean="0"/>
              <a:t>thông</a:t>
            </a:r>
            <a:r>
              <a:rPr lang="en-US" dirty="0" smtClean="0"/>
              <a:t> </a:t>
            </a:r>
          </a:p>
          <a:p>
            <a:pPr marL="457200" lvl="1" indent="0">
              <a:buNone/>
            </a:pPr>
            <a:r>
              <a:rPr lang="en-US" dirty="0" smtClean="0"/>
              <a:t> </a:t>
            </a:r>
            <a:endParaRPr lang="en-US" dirty="0"/>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162975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MỘT SỐ ỨNG DỤNG CỦA KHDL</a:t>
            </a:r>
            <a:endParaRPr lang="en-US" dirty="0"/>
          </a:p>
        </p:txBody>
      </p:sp>
      <p:pic>
        <p:nvPicPr>
          <p:cNvPr id="7" name="Content Placeholder 6"/>
          <p:cNvPicPr>
            <a:picLocks noGrp="1" noChangeAspect="1"/>
          </p:cNvPicPr>
          <p:nvPr>
            <p:ph idx="1"/>
          </p:nvPr>
        </p:nvPicPr>
        <p:blipFill>
          <a:blip r:embed="rId2"/>
          <a:stretch>
            <a:fillRect/>
          </a:stretch>
        </p:blipFill>
        <p:spPr>
          <a:xfrm>
            <a:off x="2286502" y="1600200"/>
            <a:ext cx="8719134" cy="452596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01584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1.5 </a:t>
            </a:r>
            <a:r>
              <a:rPr lang="en-US" dirty="0" err="1"/>
              <a:t>Cơ</a:t>
            </a:r>
            <a:r>
              <a:rPr lang="en-US" dirty="0"/>
              <a:t> </a:t>
            </a:r>
            <a:r>
              <a:rPr lang="en-US" dirty="0" err="1"/>
              <a:t>hội</a:t>
            </a:r>
            <a:r>
              <a:rPr lang="en-US" dirty="0"/>
              <a:t> </a:t>
            </a:r>
            <a:r>
              <a:rPr lang="en-US" dirty="0" err="1"/>
              <a:t>và</a:t>
            </a:r>
            <a:r>
              <a:rPr lang="en-US" dirty="0"/>
              <a:t> </a:t>
            </a:r>
            <a:r>
              <a:rPr lang="en-US" dirty="0" err="1"/>
              <a:t>thách</a:t>
            </a:r>
            <a:r>
              <a:rPr lang="en-US" dirty="0"/>
              <a:t> </a:t>
            </a:r>
            <a:r>
              <a:rPr lang="en-US" dirty="0" err="1"/>
              <a:t>thức</a:t>
            </a:r>
            <a:endParaRPr lang="en-US" dirty="0"/>
          </a:p>
        </p:txBody>
      </p:sp>
      <p:sp>
        <p:nvSpPr>
          <p:cNvPr id="3" name="Content Placeholder 2"/>
          <p:cNvSpPr>
            <a:spLocks noGrp="1"/>
          </p:cNvSpPr>
          <p:nvPr>
            <p:ph idx="1"/>
          </p:nvPr>
        </p:nvSpPr>
        <p:spPr/>
        <p:txBody>
          <a:bodyPr>
            <a:normAutofit fontScale="85000" lnSpcReduction="20000"/>
          </a:bodyPr>
          <a:lstStyle/>
          <a:p>
            <a:r>
              <a:rPr lang="en-US" b="1" dirty="0" err="1"/>
              <a:t>Nhà</a:t>
            </a:r>
            <a:r>
              <a:rPr lang="en-US" b="1" dirty="0"/>
              <a:t> </a:t>
            </a:r>
            <a:r>
              <a:rPr lang="en-US" b="1" dirty="0" err="1"/>
              <a:t>khoa</a:t>
            </a:r>
            <a:r>
              <a:rPr lang="en-US" b="1" dirty="0"/>
              <a:t> học </a:t>
            </a:r>
            <a:r>
              <a:rPr lang="en-US" b="1" dirty="0" err="1"/>
              <a:t>dữ</a:t>
            </a:r>
            <a:r>
              <a:rPr lang="en-US" b="1" dirty="0"/>
              <a:t> </a:t>
            </a:r>
            <a:r>
              <a:rPr lang="en-US" b="1" dirty="0" err="1"/>
              <a:t>liệu</a:t>
            </a:r>
            <a:r>
              <a:rPr lang="en-US" b="1" dirty="0"/>
              <a:t>, </a:t>
            </a:r>
            <a:r>
              <a:rPr lang="en-US" b="1" dirty="0" err="1"/>
              <a:t>nghề</a:t>
            </a:r>
            <a:r>
              <a:rPr lang="en-US" b="1" dirty="0"/>
              <a:t> </a:t>
            </a:r>
            <a:r>
              <a:rPr lang="en-US" b="1" dirty="0" err="1"/>
              <a:t>quyến</a:t>
            </a:r>
            <a:r>
              <a:rPr lang="en-US" b="1" dirty="0"/>
              <a:t> </a:t>
            </a:r>
            <a:r>
              <a:rPr lang="en-US" b="1" dirty="0" err="1"/>
              <a:t>rũ</a:t>
            </a:r>
            <a:r>
              <a:rPr lang="en-US" b="1" dirty="0"/>
              <a:t> </a:t>
            </a:r>
            <a:r>
              <a:rPr lang="en-US" b="1" dirty="0" err="1"/>
              <a:t>nhất</a:t>
            </a:r>
            <a:r>
              <a:rPr lang="en-US" b="1" dirty="0"/>
              <a:t> </a:t>
            </a:r>
            <a:r>
              <a:rPr lang="en-US" b="1" dirty="0" err="1"/>
              <a:t>thế</a:t>
            </a:r>
            <a:r>
              <a:rPr lang="en-US" b="1" dirty="0"/>
              <a:t> </a:t>
            </a:r>
            <a:r>
              <a:rPr lang="en-US" b="1" dirty="0" err="1" smtClean="0"/>
              <a:t>kỷ</a:t>
            </a:r>
            <a:endParaRPr lang="en-US" b="1" dirty="0" smtClean="0"/>
          </a:p>
          <a:p>
            <a:pPr lvl="1"/>
            <a:r>
              <a:rPr lang="en-US" b="1" dirty="0" err="1"/>
              <a:t>T</a:t>
            </a:r>
            <a:r>
              <a:rPr lang="en-US" b="1" dirty="0" err="1" smtClean="0"/>
              <a:t>ạp</a:t>
            </a:r>
            <a:r>
              <a:rPr lang="en-US" b="1" dirty="0" smtClean="0"/>
              <a:t> </a:t>
            </a:r>
            <a:r>
              <a:rPr lang="en-US" b="1" dirty="0" err="1"/>
              <a:t>chí</a:t>
            </a:r>
            <a:r>
              <a:rPr lang="en-US" b="1" dirty="0"/>
              <a:t> Harvard Business </a:t>
            </a:r>
            <a:r>
              <a:rPr lang="en-US" b="1" dirty="0" smtClean="0"/>
              <a:t>Review</a:t>
            </a:r>
          </a:p>
          <a:p>
            <a:pPr lvl="1"/>
            <a:r>
              <a:rPr lang="en-US" dirty="0" err="1"/>
              <a:t>Viện</a:t>
            </a:r>
            <a:r>
              <a:rPr lang="en-US" dirty="0"/>
              <a:t> </a:t>
            </a:r>
            <a:r>
              <a:rPr lang="en-US" dirty="0" err="1"/>
              <a:t>nghiên</a:t>
            </a:r>
            <a:r>
              <a:rPr lang="en-US" dirty="0"/>
              <a:t> </a:t>
            </a:r>
            <a:r>
              <a:rPr lang="en-US" dirty="0" err="1"/>
              <a:t>cứu</a:t>
            </a:r>
            <a:r>
              <a:rPr lang="en-US" dirty="0"/>
              <a:t> McKinsey </a:t>
            </a:r>
            <a:r>
              <a:rPr lang="en-US" dirty="0" err="1"/>
              <a:t>toàn</a:t>
            </a:r>
            <a:r>
              <a:rPr lang="en-US" dirty="0"/>
              <a:t> </a:t>
            </a:r>
            <a:r>
              <a:rPr lang="en-US" dirty="0" err="1"/>
              <a:t>cầu</a:t>
            </a:r>
            <a:r>
              <a:rPr lang="en-US" dirty="0"/>
              <a:t> </a:t>
            </a:r>
            <a:r>
              <a:rPr lang="en-US" dirty="0" err="1"/>
              <a:t>vào</a:t>
            </a:r>
            <a:r>
              <a:rPr lang="en-US" dirty="0"/>
              <a:t> </a:t>
            </a:r>
            <a:r>
              <a:rPr lang="en-US" dirty="0" err="1"/>
              <a:t>năm</a:t>
            </a:r>
            <a:r>
              <a:rPr lang="en-US" dirty="0"/>
              <a:t> </a:t>
            </a:r>
            <a:r>
              <a:rPr lang="en-US" dirty="0" smtClean="0"/>
              <a:t>2014</a:t>
            </a:r>
          </a:p>
          <a:p>
            <a:pPr lvl="1"/>
            <a:r>
              <a:rPr lang="vi-VN" dirty="0" smtClean="0"/>
              <a:t>nước </a:t>
            </a:r>
            <a:r>
              <a:rPr lang="vi-VN" dirty="0"/>
              <a:t>Mỹ sẽ có 250.000 vị trí tuyển dụng nhà khoa học dữ liệu vào năm 2024</a:t>
            </a:r>
            <a:r>
              <a:rPr lang="vi-VN" dirty="0" smtClean="0"/>
              <a:t>.</a:t>
            </a:r>
            <a:endParaRPr lang="en-US" dirty="0" smtClean="0"/>
          </a:p>
          <a:p>
            <a:r>
              <a:rPr lang="vi-VN" dirty="0"/>
              <a:t>Theo </a:t>
            </a:r>
            <a:r>
              <a:rPr lang="vi-VN" dirty="0" smtClean="0"/>
              <a:t>Topdev,</a:t>
            </a:r>
            <a:r>
              <a:rPr lang="en-US" dirty="0" smtClean="0"/>
              <a:t> </a:t>
            </a:r>
            <a:r>
              <a:rPr lang="vi-VN" dirty="0" smtClean="0"/>
              <a:t>nhu </a:t>
            </a:r>
            <a:r>
              <a:rPr lang="vi-VN" dirty="0"/>
              <a:t>cầu kỹ sư công nghệ thông tin là khoảng 500.000 kỹ sư vào năm 2021-2022. </a:t>
            </a:r>
            <a:endParaRPr lang="en-US" dirty="0" smtClean="0"/>
          </a:p>
          <a:p>
            <a:pPr lvl="1"/>
            <a:r>
              <a:rPr lang="vi-VN" dirty="0" smtClean="0"/>
              <a:t>Như </a:t>
            </a:r>
            <a:r>
              <a:rPr lang="vi-VN" dirty="0"/>
              <a:t>vậy nếu hình dung khoảng 20% doanh nghiệp sẽ bắt đầu làm các sản phẩm có tính AI trong 1-2 năm tới, </a:t>
            </a:r>
            <a:endParaRPr lang="en-US" dirty="0" smtClean="0"/>
          </a:p>
          <a:p>
            <a:pPr lvl="1"/>
            <a:r>
              <a:rPr lang="vi-VN" dirty="0" smtClean="0"/>
              <a:t>tương </a:t>
            </a:r>
            <a:r>
              <a:rPr lang="vi-VN" dirty="0"/>
              <a:t>đương 100.000 kỹ sư liên quan, </a:t>
            </a:r>
            <a:endParaRPr lang="en-US" dirty="0" smtClean="0"/>
          </a:p>
          <a:p>
            <a:pPr lvl="1"/>
            <a:r>
              <a:rPr lang="vi-VN" dirty="0" smtClean="0"/>
              <a:t>nhu </a:t>
            </a:r>
            <a:r>
              <a:rPr lang="vi-VN" dirty="0"/>
              <a:t>cầu khoảng 5.000 nhà khoa học dữ liệu cho Việt Nam (5%) trong năm 2021 này.</a:t>
            </a:r>
            <a:endParaRPr lang="en-US" dirty="0"/>
          </a:p>
          <a:p>
            <a:endParaRPr lang="en-US" b="1" dirty="0" smtClean="0"/>
          </a:p>
          <a:p>
            <a:endParaRPr lang="en-US" b="1" dirty="0"/>
          </a:p>
          <a:p>
            <a:endParaRPr lang="en-US" b="1" dirty="0" smtClean="0"/>
          </a:p>
          <a:p>
            <a:endParaRPr lang="en-US" b="1"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579614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Khoa học </a:t>
            </a:r>
            <a:r>
              <a:rPr lang="en-US" b="1" dirty="0" err="1"/>
              <a:t>dữ</a:t>
            </a:r>
            <a:r>
              <a:rPr lang="en-US" b="1" dirty="0"/>
              <a:t> </a:t>
            </a:r>
            <a:r>
              <a:rPr lang="en-US" b="1" dirty="0" err="1"/>
              <a:t>liệu</a:t>
            </a:r>
            <a:r>
              <a:rPr lang="en-US" b="1" dirty="0"/>
              <a:t>: </a:t>
            </a:r>
            <a:r>
              <a:rPr lang="en-US" b="1" dirty="0" err="1"/>
              <a:t>Nghề</a:t>
            </a:r>
            <a:r>
              <a:rPr lang="en-US" b="1" dirty="0"/>
              <a:t> </a:t>
            </a:r>
            <a:r>
              <a:rPr lang="en-US" b="1" dirty="0" err="1"/>
              <a:t>quyến</a:t>
            </a:r>
            <a:r>
              <a:rPr lang="en-US" b="1" dirty="0"/>
              <a:t> </a:t>
            </a:r>
            <a:r>
              <a:rPr lang="en-US" b="1" dirty="0" err="1"/>
              <a:t>rũ</a:t>
            </a:r>
            <a:r>
              <a:rPr lang="en-US" b="1" dirty="0"/>
              <a:t> </a:t>
            </a:r>
            <a:r>
              <a:rPr lang="en-US" b="1" dirty="0" err="1"/>
              <a:t>nhất</a:t>
            </a:r>
            <a:r>
              <a:rPr lang="en-US" b="1" dirty="0"/>
              <a:t> </a:t>
            </a:r>
            <a:r>
              <a:rPr lang="en-US" b="1" dirty="0" err="1"/>
              <a:t>thế</a:t>
            </a:r>
            <a:r>
              <a:rPr lang="en-US" b="1" dirty="0"/>
              <a:t> </a:t>
            </a:r>
            <a:r>
              <a:rPr lang="en-US" b="1" dirty="0" err="1"/>
              <a:t>kỷ</a:t>
            </a:r>
            <a:r>
              <a:rPr lang="en-US" b="1" dirty="0"/>
              <a:t> </a:t>
            </a:r>
            <a:r>
              <a:rPr lang="en-US" b="1" dirty="0" smtClean="0"/>
              <a:t>21</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pic>
        <p:nvPicPr>
          <p:cNvPr id="1026" name="Picture 2" descr="https://hbr.org/resources/images/article_assets/2008/01/04Oct12_Davenport_data-scientist.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3657600"/>
            <a:ext cx="8001000" cy="246856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tiasang.com.vn/Portals/0/Anh%20bai%20KHD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311" y="1612657"/>
            <a:ext cx="9820275" cy="147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937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nhất: </a:t>
            </a:r>
            <a:r>
              <a:rPr lang="en-US" b="1" dirty="0" smtClean="0"/>
              <a:t/>
            </a:r>
            <a:br>
              <a:rPr lang="en-US" b="1" dirty="0" smtClean="0"/>
            </a:br>
            <a:r>
              <a:rPr lang="vi-VN" b="1" dirty="0" smtClean="0"/>
              <a:t>tập </a:t>
            </a:r>
            <a:r>
              <a:rPr lang="vi-VN" b="1" dirty="0"/>
              <a:t>trung vào dữ liệu thay vì thuật toán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Content Placeholder 6"/>
          <p:cNvSpPr>
            <a:spLocks noGrp="1"/>
          </p:cNvSpPr>
          <p:nvPr>
            <p:ph idx="1"/>
          </p:nvPr>
        </p:nvSpPr>
        <p:spPr/>
        <p:txBody>
          <a:bodyPr>
            <a:noAutofit/>
          </a:bodyPr>
          <a:lstStyle/>
          <a:p>
            <a:r>
              <a:rPr lang="vi-VN" sz="2800" dirty="0">
                <a:latin typeface="Times New Roman" panose="02020603050405020304" pitchFamily="18" charset="0"/>
                <a:cs typeface="Times New Roman" panose="02020603050405020304" pitchFamily="18" charset="0"/>
              </a:rPr>
              <a:t>Nhiệm vụ chính của một nhà khoa học dữ liệu là khai thác ra giá trị từ dữ liệu và một sản phẩm AI thường được mô tả nổi bật bởi những tính năng thông minh ví dụ như nhận dạng giọng nói và trả lời từ động. </a:t>
            </a:r>
            <a:endParaRPr lang="en-US" sz="28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Thực </a:t>
            </a:r>
            <a:r>
              <a:rPr lang="vi-VN" sz="2800" dirty="0">
                <a:latin typeface="Times New Roman" panose="02020603050405020304" pitchFamily="18" charset="0"/>
                <a:cs typeface="Times New Roman" panose="02020603050405020304" pitchFamily="18" charset="0"/>
              </a:rPr>
              <a:t>tế ngày nay các công cụ mô hình hóa đã được hỗ trợ rất nhiều bởi các nền tảng, việc có được dữ liệu trở nên khó gấp 10 lần việc khai thác dữ liệu. </a:t>
            </a:r>
            <a:endParaRPr lang="en-US" sz="28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Như </a:t>
            </a:r>
            <a:r>
              <a:rPr lang="vi-VN" sz="2800" dirty="0">
                <a:latin typeface="Times New Roman" panose="02020603050405020304" pitchFamily="18" charset="0"/>
                <a:cs typeface="Times New Roman" panose="02020603050405020304" pitchFamily="18" charset="0"/>
              </a:rPr>
              <a:t>vậy các nhà khoa học dữ liệu chỉ tham gia vào một phân đoạn nhỏ (số 4) trong cả một quá trình dài từ xây dựng mô hình kinh doanh, marketing, thiết kế phần mềm, chuẩn bị dữ liệu, khai thác dữ liệu, và triển khai và chỉ chiếm chưa quá 5% tổng số nhân sự của dự án</a:t>
            </a:r>
            <a:r>
              <a:rPr lang="vi-VN"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3123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nhất: </a:t>
            </a:r>
            <a:r>
              <a:rPr lang="en-US" b="1" dirty="0" smtClean="0"/>
              <a:t/>
            </a:r>
            <a:br>
              <a:rPr lang="en-US" b="1" dirty="0" smtClean="0"/>
            </a:br>
            <a:r>
              <a:rPr lang="vi-VN" b="1" dirty="0" smtClean="0"/>
              <a:t>tập </a:t>
            </a:r>
            <a:r>
              <a:rPr lang="vi-VN" b="1" dirty="0"/>
              <a:t>trung vào dữ liệu thay vì thuật toán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Content Placeholder 6"/>
          <p:cNvSpPr>
            <a:spLocks noGrp="1"/>
          </p:cNvSpPr>
          <p:nvPr>
            <p:ph idx="1"/>
          </p:nvPr>
        </p:nvSpPr>
        <p:spPr/>
        <p:txBody>
          <a:bodyPr>
            <a:normAutofit/>
          </a:bodyPr>
          <a:lstStyle/>
          <a:p>
            <a:r>
              <a:rPr lang="en-US" sz="2800" dirty="0" err="1" smtClean="0">
                <a:latin typeface="Times New Roman" panose="02020603050405020304" pitchFamily="18" charset="0"/>
                <a:cs typeface="Times New Roman" panose="02020603050405020304" pitchFamily="18" charset="0"/>
              </a:rPr>
              <a:t>Các</a:t>
            </a:r>
            <a:r>
              <a:rPr lang="en-US" sz="2800" dirty="0" smtClean="0">
                <a:latin typeface="Times New Roman" panose="02020603050405020304" pitchFamily="18" charset="0"/>
                <a:cs typeface="Times New Roman" panose="02020603050405020304" pitchFamily="18" charset="0"/>
              </a:rPr>
              <a:t> </a:t>
            </a:r>
            <a:r>
              <a:rPr lang="vi-VN" sz="2800" dirty="0" smtClean="0">
                <a:latin typeface="Times New Roman" panose="02020603050405020304" pitchFamily="18" charset="0"/>
                <a:cs typeface="Times New Roman" panose="02020603050405020304" pitchFamily="18" charset="0"/>
              </a:rPr>
              <a:t>doanh </a:t>
            </a:r>
            <a:r>
              <a:rPr lang="vi-VN" sz="2800" dirty="0">
                <a:latin typeface="Times New Roman" panose="02020603050405020304" pitchFamily="18" charset="0"/>
                <a:cs typeface="Times New Roman" panose="02020603050405020304" pitchFamily="18" charset="0"/>
              </a:rPr>
              <a:t>nghiệp có thể nhận định quá số lượng nhà khoa học dữ liệu cần có và tuyển dụng nhiều hơn cần thiết. </a:t>
            </a:r>
            <a:endParaRPr lang="en-US" sz="28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Sau </a:t>
            </a:r>
            <a:r>
              <a:rPr lang="vi-VN" sz="2800" dirty="0">
                <a:latin typeface="Times New Roman" panose="02020603050405020304" pitchFamily="18" charset="0"/>
                <a:cs typeface="Times New Roman" panose="02020603050405020304" pitchFamily="18" charset="0"/>
              </a:rPr>
              <a:t>khi được tuyển một số nhà khoa học dữ liệu có thể bị giao việc của giai đoạn ba vốn của kỹ sư dữ liệu (cần nhiều kỹ năng về cơ sở dữ liệu và công nghệ phần mềm), họ vẫn có thể giữ chức danh nhà khoa học dữ liệu nhưng bản chất là một kỹ sư dữ liệu</a:t>
            </a:r>
            <a:r>
              <a:rPr lang="vi-VN"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332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nhất: </a:t>
            </a:r>
            <a:r>
              <a:rPr lang="en-US" b="1" dirty="0" smtClean="0"/>
              <a:t/>
            </a:r>
            <a:br>
              <a:rPr lang="en-US" b="1" dirty="0" smtClean="0"/>
            </a:br>
            <a:r>
              <a:rPr lang="vi-VN" b="1" dirty="0" smtClean="0"/>
              <a:t>tập </a:t>
            </a:r>
            <a:r>
              <a:rPr lang="vi-VN" b="1" dirty="0"/>
              <a:t>trung vào dữ liệu thay vì thuật toán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Content Placeholder 6"/>
          <p:cNvSpPr>
            <a:spLocks noGrp="1"/>
          </p:cNvSpPr>
          <p:nvPr>
            <p:ph idx="1"/>
          </p:nvPr>
        </p:nvSpPr>
        <p:spPr/>
        <p:txBody>
          <a:bodyPr>
            <a:noAutofit/>
          </a:bodyPr>
          <a:lstStyle/>
          <a:p>
            <a:r>
              <a:rPr lang="en-US" sz="2800" dirty="0" smtClean="0">
                <a:latin typeface="Times New Roman" panose="02020603050405020304" pitchFamily="18" charset="0"/>
                <a:cs typeface="Times New Roman" panose="02020603050405020304" pitchFamily="18" charset="0"/>
              </a:rPr>
              <a:t>M</a:t>
            </a:r>
            <a:r>
              <a:rPr lang="vi-VN" sz="2800" dirty="0" smtClean="0">
                <a:latin typeface="Times New Roman" panose="02020603050405020304" pitchFamily="18" charset="0"/>
                <a:cs typeface="Times New Roman" panose="02020603050405020304" pitchFamily="18" charset="0"/>
              </a:rPr>
              <a:t>ột </a:t>
            </a:r>
            <a:r>
              <a:rPr lang="vi-VN" sz="2800" dirty="0">
                <a:latin typeface="Times New Roman" panose="02020603050405020304" pitchFamily="18" charset="0"/>
                <a:cs typeface="Times New Roman" panose="02020603050405020304" pitchFamily="18" charset="0"/>
              </a:rPr>
              <a:t>data scientist cần làm tốt những việc cơ </a:t>
            </a:r>
            <a:r>
              <a:rPr lang="vi-VN" sz="2800" dirty="0" smtClean="0">
                <a:latin typeface="Times New Roman" panose="02020603050405020304" pitchFamily="18" charset="0"/>
                <a:cs typeface="Times New Roman" panose="02020603050405020304" pitchFamily="18" charset="0"/>
              </a:rPr>
              <a:t>bản</a:t>
            </a:r>
            <a:r>
              <a:rPr lang="en-US" sz="2800" dirty="0" smtClean="0">
                <a:latin typeface="Times New Roman" panose="02020603050405020304" pitchFamily="18" charset="0"/>
                <a:cs typeface="Times New Roman" panose="02020603050405020304" pitchFamily="18" charset="0"/>
              </a:rPr>
              <a:t>:</a:t>
            </a:r>
          </a:p>
          <a:p>
            <a:pPr lvl="1"/>
            <a:r>
              <a:rPr lang="vi-VN" sz="2400" dirty="0" smtClean="0">
                <a:latin typeface="Times New Roman" panose="02020603050405020304" pitchFamily="18" charset="0"/>
                <a:cs typeface="Times New Roman" panose="02020603050405020304" pitchFamily="18" charset="0"/>
              </a:rPr>
              <a:t>như </a:t>
            </a:r>
            <a:r>
              <a:rPr lang="vi-VN" sz="2400" dirty="0">
                <a:latin typeface="Times New Roman" panose="02020603050405020304" pitchFamily="18" charset="0"/>
                <a:cs typeface="Times New Roman" panose="02020603050405020304" pitchFamily="18" charset="0"/>
              </a:rPr>
              <a:t>làm sạch dữ liệu hay biểu diễn hình ảnh, </a:t>
            </a:r>
            <a:endParaRPr lang="en-US" sz="2400" dirty="0" smtClean="0">
              <a:latin typeface="Times New Roman" panose="02020603050405020304" pitchFamily="18" charset="0"/>
              <a:cs typeface="Times New Roman" panose="02020603050405020304" pitchFamily="18" charset="0"/>
            </a:endParaRPr>
          </a:p>
          <a:p>
            <a:pPr lvl="1"/>
            <a:r>
              <a:rPr lang="en-US" sz="2400" dirty="0" smtClean="0">
                <a:latin typeface="Times New Roman" panose="02020603050405020304" pitchFamily="18" charset="0"/>
                <a:cs typeface="Times New Roman" panose="02020603050405020304" pitchFamily="18" charset="0"/>
              </a:rPr>
              <a:t>không</a:t>
            </a:r>
            <a:r>
              <a:rPr lang="vi-VN" sz="2400" dirty="0" smtClean="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chỉ tập trung vào mô hình dữ liệu, </a:t>
            </a:r>
            <a:endParaRPr lang="en-US" sz="2400" dirty="0" smtClean="0">
              <a:latin typeface="Times New Roman" panose="02020603050405020304" pitchFamily="18" charset="0"/>
              <a:cs typeface="Times New Roman" panose="02020603050405020304" pitchFamily="18" charset="0"/>
            </a:endParaRPr>
          </a:p>
          <a:p>
            <a:pPr lvl="1"/>
            <a:r>
              <a:rPr lang="vi-VN" sz="2400" dirty="0" smtClean="0">
                <a:latin typeface="Times New Roman" panose="02020603050405020304" pitchFamily="18" charset="0"/>
                <a:cs typeface="Times New Roman" panose="02020603050405020304" pitchFamily="18" charset="0"/>
              </a:rPr>
              <a:t>các </a:t>
            </a:r>
            <a:r>
              <a:rPr lang="vi-VN" sz="2400" dirty="0">
                <a:latin typeface="Times New Roman" panose="02020603050405020304" pitchFamily="18" charset="0"/>
                <a:cs typeface="Times New Roman" panose="02020603050405020304" pitchFamily="18" charset="0"/>
              </a:rPr>
              <a:t>bộ dữ liệu thực tế trong doanh nghiệp thường rất rời rạc và thiếu sót. </a:t>
            </a:r>
            <a:endParaRPr lang="en-US" sz="24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Công </a:t>
            </a:r>
            <a:r>
              <a:rPr lang="vi-VN" sz="2800" dirty="0">
                <a:latin typeface="Times New Roman" panose="02020603050405020304" pitchFamily="18" charset="0"/>
                <a:cs typeface="Times New Roman" panose="02020603050405020304" pitchFamily="18" charset="0"/>
              </a:rPr>
              <a:t>việc xử lý và làm sạch các nguồn dữ liệu có thể chiếm đến 80% công việc của một nhà khoa học dữ </a:t>
            </a:r>
            <a:r>
              <a:rPr lang="vi-VN" sz="2800" dirty="0" smtClean="0">
                <a:latin typeface="Times New Roman" panose="02020603050405020304" pitchFamily="18" charset="0"/>
                <a:cs typeface="Times New Roman" panose="02020603050405020304" pitchFamily="18" charset="0"/>
              </a:rPr>
              <a:t>liệu. </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K</a:t>
            </a:r>
            <a:r>
              <a:rPr lang="vi-VN" sz="2800" dirty="0" smtClean="0">
                <a:latin typeface="Times New Roman" panose="02020603050405020304" pitchFamily="18" charset="0"/>
                <a:cs typeface="Times New Roman" panose="02020603050405020304" pitchFamily="18" charset="0"/>
              </a:rPr>
              <a:t>ết nối </a:t>
            </a:r>
            <a:r>
              <a:rPr lang="vi-VN" sz="2800" dirty="0">
                <a:latin typeface="Times New Roman" panose="02020603050405020304" pitchFamily="18" charset="0"/>
                <a:cs typeface="Times New Roman" panose="02020603050405020304" pitchFamily="18" charset="0"/>
              </a:rPr>
              <a:t>các nguồn dữ liệu, làm sạch hiệu quả và biểu diễn hình ảnh sống động trong một thời gian nhanh nhất là những kỹ năng rất quan trọng sẽ giúp các nhà khoa học dữ liệu tạo ra được nhiều giá trị hơn.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5583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hai: </a:t>
            </a:r>
            <a:r>
              <a:rPr lang="en-US" b="1" dirty="0" smtClean="0"/>
              <a:t/>
            </a:r>
            <a:br>
              <a:rPr lang="en-US" b="1" dirty="0" smtClean="0"/>
            </a:br>
            <a:r>
              <a:rPr lang="vi-VN" b="1" dirty="0" smtClean="0"/>
              <a:t>bình </a:t>
            </a:r>
            <a:r>
              <a:rPr lang="vi-VN" b="1" dirty="0"/>
              <a:t>dân hóa Khoa học dữ liệu</a:t>
            </a:r>
            <a:endParaRPr lang="en-US" dirty="0"/>
          </a:p>
        </p:txBody>
      </p:sp>
      <p:sp>
        <p:nvSpPr>
          <p:cNvPr id="3" name="Content Placeholder 2"/>
          <p:cNvSpPr>
            <a:spLocks noGrp="1"/>
          </p:cNvSpPr>
          <p:nvPr>
            <p:ph idx="1"/>
          </p:nvPr>
        </p:nvSpPr>
        <p:spPr/>
        <p:txBody>
          <a:bodyPr/>
          <a:lstStyle/>
          <a:p>
            <a:r>
              <a:rPr lang="vi-VN" sz="2800" dirty="0">
                <a:latin typeface="+mj-lt"/>
              </a:rPr>
              <a:t>Ngày nay hầu như ai sau một vài giờ đào tạo cũng có </a:t>
            </a:r>
            <a:r>
              <a:rPr lang="vi-VN" sz="2800" dirty="0" smtClean="0">
                <a:latin typeface="+mj-lt"/>
              </a:rPr>
              <a:t>thể</a:t>
            </a:r>
            <a:r>
              <a:rPr lang="en-US" sz="2800" dirty="0" smtClean="0">
                <a:latin typeface="+mj-lt"/>
              </a:rPr>
              <a:t>:</a:t>
            </a:r>
          </a:p>
          <a:p>
            <a:pPr lvl="1"/>
            <a:r>
              <a:rPr lang="vi-VN" sz="2400" dirty="0" smtClean="0">
                <a:latin typeface="+mj-lt"/>
              </a:rPr>
              <a:t>kéo </a:t>
            </a:r>
            <a:r>
              <a:rPr lang="vi-VN" sz="2400" dirty="0">
                <a:latin typeface="+mj-lt"/>
              </a:rPr>
              <a:t>dữ liệu từ hệ thống Dữ liệu thông minh (Business Intelligence</a:t>
            </a:r>
            <a:r>
              <a:rPr lang="vi-VN" sz="2400" dirty="0" smtClean="0">
                <a:latin typeface="+mj-lt"/>
              </a:rPr>
              <a:t>) </a:t>
            </a:r>
            <a:endParaRPr lang="en-US" sz="2400" dirty="0" smtClean="0">
              <a:latin typeface="+mj-lt"/>
            </a:endParaRPr>
          </a:p>
          <a:p>
            <a:pPr lvl="1"/>
            <a:r>
              <a:rPr lang="vi-VN" sz="2400" dirty="0" smtClean="0">
                <a:latin typeface="+mj-lt"/>
              </a:rPr>
              <a:t>kho </a:t>
            </a:r>
            <a:r>
              <a:rPr lang="vi-VN" sz="2400" dirty="0">
                <a:latin typeface="+mj-lt"/>
              </a:rPr>
              <a:t>dữ liệu (Datawarehouse</a:t>
            </a:r>
            <a:r>
              <a:rPr lang="vi-VN" sz="2400" dirty="0" smtClean="0">
                <a:latin typeface="+mj-lt"/>
              </a:rPr>
              <a:t>) </a:t>
            </a:r>
            <a:endParaRPr lang="en-US" sz="2400" dirty="0" smtClean="0">
              <a:latin typeface="+mj-lt"/>
            </a:endParaRPr>
          </a:p>
          <a:p>
            <a:pPr lvl="1"/>
            <a:r>
              <a:rPr lang="vi-VN" sz="2400" dirty="0" smtClean="0">
                <a:latin typeface="+mj-lt"/>
              </a:rPr>
              <a:t>cơ </a:t>
            </a:r>
            <a:r>
              <a:rPr lang="vi-VN" sz="2400" dirty="0">
                <a:latin typeface="+mj-lt"/>
              </a:rPr>
              <a:t>sở dữ liệu (Database) </a:t>
            </a:r>
            <a:endParaRPr lang="en-US" sz="2400" dirty="0" smtClean="0">
              <a:latin typeface="+mj-lt"/>
            </a:endParaRPr>
          </a:p>
          <a:p>
            <a:pPr lvl="1"/>
            <a:r>
              <a:rPr lang="vi-VN" sz="2400" dirty="0" smtClean="0">
                <a:latin typeface="+mj-lt"/>
              </a:rPr>
              <a:t>các </a:t>
            </a:r>
            <a:r>
              <a:rPr lang="vi-VN" sz="2400" dirty="0">
                <a:latin typeface="+mj-lt"/>
              </a:rPr>
              <a:t>file dữ liệu trên máy hoặc trên đám </a:t>
            </a:r>
            <a:r>
              <a:rPr lang="vi-VN" sz="2400" dirty="0" smtClean="0">
                <a:latin typeface="+mj-lt"/>
              </a:rPr>
              <a:t>mây</a:t>
            </a:r>
            <a:endParaRPr lang="en-US" sz="2400" dirty="0" smtClean="0">
              <a:latin typeface="+mj-lt"/>
            </a:endParaRPr>
          </a:p>
          <a:p>
            <a:r>
              <a:rPr lang="en-US" sz="2800" dirty="0" smtClean="0">
                <a:latin typeface="Times New Roman" panose="02020603050405020304" pitchFamily="18" charset="0"/>
                <a:cs typeface="Times New Roman" panose="02020603050405020304" pitchFamily="18" charset="0"/>
              </a:rPr>
              <a:t>C</a:t>
            </a:r>
            <a:r>
              <a:rPr lang="vi-VN" sz="2800" dirty="0" smtClean="0">
                <a:latin typeface="Times New Roman" panose="02020603050405020304" pitchFamily="18" charset="0"/>
                <a:cs typeface="Times New Roman" panose="02020603050405020304" pitchFamily="18" charset="0"/>
              </a:rPr>
              <a:t>ông </a:t>
            </a:r>
            <a:r>
              <a:rPr lang="vi-VN" sz="2800" dirty="0">
                <a:latin typeface="Times New Roman" panose="02020603050405020304" pitchFamily="18" charset="0"/>
                <a:cs typeface="Times New Roman" panose="02020603050405020304" pitchFamily="18" charset="0"/>
              </a:rPr>
              <a:t>cụ Machine Learning (là các mô hình khoa học dữ liệu) với giao diện thân thiện.</a:t>
            </a:r>
            <a:endParaRPr lang="en-US"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425110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https://orangedatamining.com/</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pic>
        <p:nvPicPr>
          <p:cNvPr id="3074" name="Picture 2" descr="https://orangedatamining.com/screenshots/images/evaluation.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1376" y="1828800"/>
            <a:ext cx="5107949" cy="3505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orangedatamining.com/screenshots/images/tree-explorativ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5127" y="1828800"/>
            <a:ext cx="5190744"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5369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ba: </a:t>
            </a:r>
            <a:r>
              <a:rPr lang="en-US" b="1" dirty="0" smtClean="0"/>
              <a:t/>
            </a:r>
            <a:br>
              <a:rPr lang="en-US" b="1" dirty="0" smtClean="0"/>
            </a:br>
            <a:r>
              <a:rPr lang="vi-VN" b="1" dirty="0" smtClean="0"/>
              <a:t>Chuyển </a:t>
            </a:r>
            <a:r>
              <a:rPr lang="vi-VN" b="1" dirty="0"/>
              <a:t>dịch sang các mô hình không giám sát</a:t>
            </a:r>
            <a:endParaRPr lang="en-US" dirty="0"/>
          </a:p>
        </p:txBody>
      </p:sp>
      <p:sp>
        <p:nvSpPr>
          <p:cNvPr id="3" name="Content Placeholder 2"/>
          <p:cNvSpPr>
            <a:spLocks noGrp="1"/>
          </p:cNvSpPr>
          <p:nvPr>
            <p:ph idx="1"/>
          </p:nvPr>
        </p:nvSpPr>
        <p:spPr/>
        <p:txBody>
          <a:bodyPr>
            <a:normAutofit/>
          </a:bodyPr>
          <a:lstStyle/>
          <a:p>
            <a:r>
              <a:rPr lang="vi-VN" sz="2800" dirty="0">
                <a:latin typeface="+mj-lt"/>
              </a:rPr>
              <a:t>Các mô hình giám sát bao gồm các bản ghi dữ liệu gắn kèm với một nhãn (“label”) mô tả tính chất. </a:t>
            </a:r>
            <a:endParaRPr lang="en-US" sz="2800" dirty="0" smtClean="0">
              <a:latin typeface="+mj-lt"/>
            </a:endParaRPr>
          </a:p>
          <a:p>
            <a:pPr lvl="1"/>
            <a:r>
              <a:rPr lang="vi-VN" sz="2400" dirty="0" smtClean="0">
                <a:latin typeface="+mj-lt"/>
              </a:rPr>
              <a:t>Ví </a:t>
            </a:r>
            <a:r>
              <a:rPr lang="vi-VN" sz="2400" dirty="0">
                <a:latin typeface="+mj-lt"/>
              </a:rPr>
              <a:t>dụ như với bộ dữ liệu gồm một triệu bức ảnh khuôn mặt, mỗi bức ảnh được đánh dấu/ghi lại trạng thái (vui, buồn, giận dữ, lo lắng, …) của khuôn mặt trên đó thì ta có thể dễ dàng tạo ra được một mô hình nhận dạng trạng thái khuôn mặt. </a:t>
            </a:r>
            <a:endParaRPr lang="en-US" sz="2400" dirty="0" smtClean="0">
              <a:latin typeface="+mj-lt"/>
            </a:endParaRPr>
          </a:p>
          <a:p>
            <a:r>
              <a:rPr lang="vi-VN" sz="2800" dirty="0" smtClean="0">
                <a:latin typeface="+mj-lt"/>
              </a:rPr>
              <a:t>Việc </a:t>
            </a:r>
            <a:r>
              <a:rPr lang="vi-VN" sz="2800" dirty="0">
                <a:latin typeface="+mj-lt"/>
              </a:rPr>
              <a:t>khó khăn nhất sẽ là có được một triệu bức ảnh và dán nhãn cho chúng, khó hơn nhiều so với việc xây dựng mô hình nhận dạng. </a:t>
            </a:r>
            <a:endParaRPr lang="en-US" sz="2800" dirty="0" smtClean="0">
              <a:latin typeface="+mj-lt"/>
            </a:endParaRPr>
          </a:p>
          <a:p>
            <a:r>
              <a:rPr lang="en-US" sz="2800" dirty="0" smtClean="0">
                <a:latin typeface="Times New Roman" panose="02020603050405020304" pitchFamily="18" charset="0"/>
                <a:cs typeface="Times New Roman" panose="02020603050405020304" pitchFamily="18" charset="0"/>
              </a:rPr>
              <a:t>V</a:t>
            </a:r>
            <a:r>
              <a:rPr lang="vi-VN" sz="2800" dirty="0" smtClean="0">
                <a:latin typeface="+mj-lt"/>
              </a:rPr>
              <a:t>ai </a:t>
            </a:r>
            <a:r>
              <a:rPr lang="vi-VN" sz="2800" dirty="0">
                <a:latin typeface="+mj-lt"/>
              </a:rPr>
              <a:t>trò của kỹ sư phần mềm quan trọng hơn nhà khoa học dữ liệu</a:t>
            </a:r>
            <a:r>
              <a:rPr lang="vi-VN" sz="2800" dirty="0" smtClean="0">
                <a:latin typeface="+mj-lt"/>
              </a:rPr>
              <a:t>.</a:t>
            </a:r>
            <a:endParaRPr lang="en-US" sz="2800" dirty="0" smtClean="0">
              <a:latin typeface="+mj-lt"/>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27552997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ba: </a:t>
            </a:r>
            <a:r>
              <a:rPr lang="en-US" b="1" dirty="0" smtClean="0"/>
              <a:t/>
            </a:r>
            <a:br>
              <a:rPr lang="en-US" b="1" dirty="0" smtClean="0"/>
            </a:br>
            <a:r>
              <a:rPr lang="vi-VN" b="1" dirty="0" smtClean="0"/>
              <a:t>Chuyển </a:t>
            </a:r>
            <a:r>
              <a:rPr lang="vi-VN" b="1" dirty="0"/>
              <a:t>dịch sang các mô hình không giám sát</a:t>
            </a:r>
            <a:endParaRPr lang="en-US" dirty="0"/>
          </a:p>
        </p:txBody>
      </p:sp>
      <p:sp>
        <p:nvSpPr>
          <p:cNvPr id="3" name="Content Placeholder 2"/>
          <p:cNvSpPr>
            <a:spLocks noGrp="1"/>
          </p:cNvSpPr>
          <p:nvPr>
            <p:ph idx="1"/>
          </p:nvPr>
        </p:nvSpPr>
        <p:spPr/>
        <p:txBody>
          <a:bodyPr>
            <a:noAutofit/>
          </a:bodyPr>
          <a:lstStyle/>
          <a:p>
            <a:r>
              <a:rPr lang="vi-VN" sz="2400" dirty="0" smtClean="0">
                <a:latin typeface="Times New Roman" panose="02020603050405020304" pitchFamily="18" charset="0"/>
                <a:cs typeface="Times New Roman" panose="02020603050405020304" pitchFamily="18" charset="0"/>
              </a:rPr>
              <a:t>Các </a:t>
            </a:r>
            <a:r>
              <a:rPr lang="vi-VN" sz="2400" dirty="0">
                <a:latin typeface="Times New Roman" panose="02020603050405020304" pitchFamily="18" charset="0"/>
                <a:cs typeface="Times New Roman" panose="02020603050405020304" pitchFamily="18" charset="0"/>
              </a:rPr>
              <a:t>mô hình không giám sát ngược lại có thể áp dụng cho dữ liệu không dán nhãn, tức là không được phân loại hay chấm điểm sẵn.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a:t>
            </a:r>
            <a:r>
              <a:rPr lang="vi-VN" sz="2400" dirty="0" smtClean="0">
                <a:latin typeface="Times New Roman" panose="02020603050405020304" pitchFamily="18" charset="0"/>
                <a:cs typeface="Times New Roman" panose="02020603050405020304" pitchFamily="18" charset="0"/>
              </a:rPr>
              <a:t>oanh </a:t>
            </a:r>
            <a:r>
              <a:rPr lang="vi-VN" sz="2400" dirty="0">
                <a:latin typeface="Times New Roman" panose="02020603050405020304" pitchFamily="18" charset="0"/>
                <a:cs typeface="Times New Roman" panose="02020603050405020304" pitchFamily="18" charset="0"/>
              </a:rPr>
              <a:t>nghiệp có sẵn các bộ dữ liệu thô chưa có sự đánh giá và phân loại, thì các nhà khoa học dữ liệu có thể vận dụng được sự sáng tạo của mình để đưa ra các đặc tính chưa được hình dung trước, thậm chí tạo ra một mô hình kinh doanh mới. </a:t>
            </a:r>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Các </a:t>
            </a:r>
            <a:r>
              <a:rPr lang="vi-VN" sz="2400" dirty="0">
                <a:latin typeface="Times New Roman" panose="02020603050405020304" pitchFamily="18" charset="0"/>
                <a:cs typeface="Times New Roman" panose="02020603050405020304" pitchFamily="18" charset="0"/>
              </a:rPr>
              <a:t>nhà khoa học dữ liệu sẽ cần nhiều kiến thức về toán và thống kê (cả mô tả và suy diễn), </a:t>
            </a:r>
            <a:endParaRPr lang="en-US" sz="2400" dirty="0" smtClean="0">
              <a:latin typeface="Times New Roman" panose="02020603050405020304" pitchFamily="18" charset="0"/>
              <a:cs typeface="Times New Roman" panose="02020603050405020304" pitchFamily="18" charset="0"/>
            </a:endParaRPr>
          </a:p>
          <a:p>
            <a:pPr lvl="1"/>
            <a:r>
              <a:rPr lang="en-US" sz="2000" dirty="0" smtClean="0">
                <a:latin typeface="Times New Roman" panose="02020603050405020304" pitchFamily="18" charset="0"/>
                <a:cs typeface="Times New Roman" panose="02020603050405020304" pitchFamily="18" charset="0"/>
              </a:rPr>
              <a:t>C</a:t>
            </a:r>
            <a:r>
              <a:rPr lang="vi-VN" sz="2000" dirty="0" smtClean="0">
                <a:latin typeface="Times New Roman" panose="02020603050405020304" pitchFamily="18" charset="0"/>
                <a:cs typeface="Times New Roman" panose="02020603050405020304" pitchFamily="18" charset="0"/>
              </a:rPr>
              <a:t>ác </a:t>
            </a:r>
            <a:r>
              <a:rPr lang="vi-VN" sz="2000" dirty="0">
                <a:latin typeface="Times New Roman" panose="02020603050405020304" pitchFamily="18" charset="0"/>
                <a:cs typeface="Times New Roman" panose="02020603050405020304" pitchFamily="18" charset="0"/>
              </a:rPr>
              <a:t>phân phối xác suất, xác suất Bayes, ước lượng và kiểm định, </a:t>
            </a:r>
            <a:endParaRPr lang="en-US" sz="2000" dirty="0" smtClean="0">
              <a:latin typeface="Times New Roman" panose="02020603050405020304" pitchFamily="18" charset="0"/>
              <a:cs typeface="Times New Roman" panose="02020603050405020304" pitchFamily="18" charset="0"/>
            </a:endParaRPr>
          </a:p>
          <a:p>
            <a:pPr lvl="1"/>
            <a:r>
              <a:rPr lang="vi-VN" sz="2000" dirty="0" smtClean="0">
                <a:latin typeface="Times New Roman" panose="02020603050405020304" pitchFamily="18" charset="0"/>
                <a:cs typeface="Times New Roman" panose="02020603050405020304" pitchFamily="18" charset="0"/>
              </a:rPr>
              <a:t>đại </a:t>
            </a:r>
            <a:r>
              <a:rPr lang="vi-VN" sz="2000" dirty="0">
                <a:latin typeface="Times New Roman" panose="02020603050405020304" pitchFamily="18" charset="0"/>
                <a:cs typeface="Times New Roman" panose="02020603050405020304" pitchFamily="18" charset="0"/>
              </a:rPr>
              <a:t>số tuyến tính, phương pháp phân tích thành phần chính (“Principle Components Analysis” – PCA) hay phân tích giá trị đặc biệt (“Singular Value Decomposition” – SVD), </a:t>
            </a:r>
            <a:endParaRPr lang="en-US" sz="2000" dirty="0" smtClean="0">
              <a:latin typeface="Times New Roman" panose="02020603050405020304" pitchFamily="18" charset="0"/>
              <a:cs typeface="Times New Roman" panose="02020603050405020304" pitchFamily="18" charset="0"/>
            </a:endParaRPr>
          </a:p>
          <a:p>
            <a:pPr lvl="1"/>
            <a:r>
              <a:rPr lang="vi-VN" sz="2000" dirty="0" smtClean="0">
                <a:latin typeface="Times New Roman" panose="02020603050405020304" pitchFamily="18" charset="0"/>
                <a:cs typeface="Times New Roman" panose="02020603050405020304" pitchFamily="18" charset="0"/>
              </a:rPr>
              <a:t>các </a:t>
            </a:r>
            <a:r>
              <a:rPr lang="vi-VN" sz="2000" dirty="0">
                <a:latin typeface="Times New Roman" panose="02020603050405020304" pitchFamily="18" charset="0"/>
                <a:cs typeface="Times New Roman" panose="02020603050405020304" pitchFamily="18" charset="0"/>
              </a:rPr>
              <a:t>mô hình “Gaussian Mixture Model” hay “k-mean clustering”,</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630140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vi-VN" b="1" dirty="0"/>
              <a:t>Xu hướng thứ tư: </a:t>
            </a:r>
            <a:r>
              <a:rPr lang="en-US" b="1" dirty="0" smtClean="0"/>
              <a:t/>
            </a:r>
            <a:br>
              <a:rPr lang="en-US" b="1" dirty="0" smtClean="0"/>
            </a:br>
            <a:r>
              <a:rPr lang="vi-VN" sz="3800" b="1" dirty="0" smtClean="0"/>
              <a:t>sử </a:t>
            </a:r>
            <a:r>
              <a:rPr lang="vi-VN" sz="3800" b="1" dirty="0"/>
              <a:t>dụng </a:t>
            </a:r>
            <a:r>
              <a:rPr lang="vi-VN" sz="3800" b="1" dirty="0" smtClean="0"/>
              <a:t>hộp đen </a:t>
            </a:r>
            <a:r>
              <a:rPr lang="vi-VN" sz="3800" b="1" dirty="0"/>
              <a:t>Deep Learning cho tất cả mọi thứ</a:t>
            </a:r>
            <a:r>
              <a:rPr lang="vi-VN" dirty="0"/>
              <a:t/>
            </a:r>
            <a:br>
              <a:rPr lang="vi-VN" dirty="0"/>
            </a:br>
            <a:endParaRPr lang="en-US" dirty="0"/>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C</a:t>
            </a:r>
            <a:r>
              <a:rPr lang="vi-VN" sz="2800" dirty="0" smtClean="0">
                <a:latin typeface="Times New Roman" panose="02020603050405020304" pitchFamily="18" charset="0"/>
                <a:cs typeface="Times New Roman" panose="02020603050405020304" pitchFamily="18" charset="0"/>
              </a:rPr>
              <a:t>ác </a:t>
            </a:r>
            <a:r>
              <a:rPr lang="vi-VN" sz="2800" dirty="0">
                <a:latin typeface="Times New Roman" panose="02020603050405020304" pitchFamily="18" charset="0"/>
                <a:cs typeface="Times New Roman" panose="02020603050405020304" pitchFamily="18" charset="0"/>
              </a:rPr>
              <a:t>nhà khoa học dữ liệu cũng đang đối diện với một xu hướng </a:t>
            </a:r>
            <a:r>
              <a:rPr lang="vi-VN" sz="2800" dirty="0" smtClean="0">
                <a:latin typeface="Times New Roman" panose="02020603050405020304" pitchFamily="18" charset="0"/>
                <a:cs typeface="Times New Roman" panose="02020603050405020304" pitchFamily="18" charset="0"/>
              </a:rPr>
              <a:t>sử </a:t>
            </a:r>
            <a:r>
              <a:rPr lang="vi-VN" sz="2800" dirty="0">
                <a:latin typeface="Times New Roman" panose="02020603050405020304" pitchFamily="18" charset="0"/>
                <a:cs typeface="Times New Roman" panose="02020603050405020304" pitchFamily="18" charset="0"/>
              </a:rPr>
              <a:t>dụng “Deep Learning” (học sâu) cho mọi bài toán. </a:t>
            </a:r>
            <a:endParaRPr lang="en-US" sz="28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Nguyên </a:t>
            </a:r>
            <a:r>
              <a:rPr lang="vi-VN" sz="2800" dirty="0">
                <a:latin typeface="Times New Roman" panose="02020603050405020304" pitchFamily="18" charset="0"/>
                <a:cs typeface="Times New Roman" panose="02020603050405020304" pitchFamily="18" charset="0"/>
              </a:rPr>
              <a:t>nhân là chúng hiệu quả, độ chính xác cao và dễ dàng triển khai hơn nhiều các mô hình Machine Learning (học máy) cổ điển. </a:t>
            </a:r>
            <a:endParaRPr lang="en-US" sz="28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Đặc </a:t>
            </a:r>
            <a:r>
              <a:rPr lang="vi-VN" sz="2800" dirty="0">
                <a:latin typeface="Times New Roman" panose="02020603050405020304" pitchFamily="18" charset="0"/>
                <a:cs typeface="Times New Roman" panose="02020603050405020304" pitchFamily="18" charset="0"/>
              </a:rPr>
              <a:t>biệt học sâu phù hợp cho các dữ liệu phi cấu trúc là hình ảnh, âm thanh, giọng nói, và khối lượng dữ liệu lớn. </a:t>
            </a:r>
            <a:endParaRPr lang="en-US" sz="2800" dirty="0" smtClean="0">
              <a:latin typeface="Times New Roman" panose="02020603050405020304" pitchFamily="18" charset="0"/>
              <a:cs typeface="Times New Roman" panose="02020603050405020304" pitchFamily="18" charset="0"/>
            </a:endParaRPr>
          </a:p>
          <a:p>
            <a:r>
              <a:rPr lang="vi-VN" sz="2800" dirty="0" smtClean="0">
                <a:latin typeface="Times New Roman" panose="02020603050405020304" pitchFamily="18" charset="0"/>
                <a:cs typeface="Times New Roman" panose="02020603050405020304" pitchFamily="18" charset="0"/>
              </a:rPr>
              <a:t>Nhưng </a:t>
            </a:r>
            <a:r>
              <a:rPr lang="vi-VN" sz="2800" dirty="0">
                <a:latin typeface="Times New Roman" panose="02020603050405020304" pitchFamily="18" charset="0"/>
                <a:cs typeface="Times New Roman" panose="02020603050405020304" pitchFamily="18" charset="0"/>
              </a:rPr>
              <a:t>cũng chính xu hướng học sâu hóa này đang tạo ra một số vấn đề khá lớn trong AI hiện nay, đó là chúng hoạt động giống như một “hộp đen</a:t>
            </a:r>
            <a:r>
              <a:rPr lang="vi-VN"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4072035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năm: </a:t>
            </a:r>
            <a:r>
              <a:rPr lang="en-US" b="1" dirty="0" smtClean="0"/>
              <a:t/>
            </a:r>
            <a:br>
              <a:rPr lang="en-US" b="1" dirty="0" smtClean="0"/>
            </a:br>
            <a:r>
              <a:rPr lang="vi-VN" b="1" dirty="0" smtClean="0"/>
              <a:t>chuyên </a:t>
            </a:r>
            <a:r>
              <a:rPr lang="vi-VN" b="1" dirty="0"/>
              <a:t>sâu về một dạng dữ liệu</a:t>
            </a:r>
            <a:endParaRPr lang="en-US" dirty="0"/>
          </a:p>
        </p:txBody>
      </p:sp>
      <p:sp>
        <p:nvSpPr>
          <p:cNvPr id="3" name="Content Placeholder 2"/>
          <p:cNvSpPr>
            <a:spLocks noGrp="1"/>
          </p:cNvSpPr>
          <p:nvPr>
            <p:ph idx="1"/>
          </p:nvPr>
        </p:nvSpPr>
        <p:spPr/>
        <p:txBody>
          <a:bodyPr>
            <a:normAutofit/>
          </a:bodyPr>
          <a:lstStyle/>
          <a:p>
            <a:r>
              <a:rPr lang="vi-VN" sz="2800" dirty="0">
                <a:latin typeface="+mj-lt"/>
              </a:rPr>
              <a:t>Các nhà khoa học dữ liệu sẽ có một lợi thế lớn nếu hiểu rõ dữ liệu đặc thù ngành, </a:t>
            </a:r>
            <a:endParaRPr lang="en-US" sz="2800" dirty="0" smtClean="0">
              <a:latin typeface="+mj-lt"/>
            </a:endParaRPr>
          </a:p>
          <a:p>
            <a:pPr lvl="1"/>
            <a:r>
              <a:rPr lang="vi-VN" sz="2400" dirty="0" smtClean="0">
                <a:latin typeface="+mj-lt"/>
              </a:rPr>
              <a:t>tài </a:t>
            </a:r>
            <a:r>
              <a:rPr lang="vi-VN" sz="2400" dirty="0">
                <a:latin typeface="+mj-lt"/>
              </a:rPr>
              <a:t>chính, </a:t>
            </a:r>
            <a:endParaRPr lang="en-US" sz="2400" dirty="0" smtClean="0">
              <a:latin typeface="+mj-lt"/>
            </a:endParaRPr>
          </a:p>
          <a:p>
            <a:pPr lvl="1"/>
            <a:r>
              <a:rPr lang="vi-VN" sz="2400" dirty="0" smtClean="0">
                <a:latin typeface="+mj-lt"/>
              </a:rPr>
              <a:t>xã </a:t>
            </a:r>
            <a:r>
              <a:rPr lang="vi-VN" sz="2400" dirty="0">
                <a:latin typeface="+mj-lt"/>
              </a:rPr>
              <a:t>hội học, </a:t>
            </a:r>
            <a:endParaRPr lang="en-US" sz="2400" dirty="0" smtClean="0">
              <a:latin typeface="+mj-lt"/>
            </a:endParaRPr>
          </a:p>
          <a:p>
            <a:pPr lvl="1"/>
            <a:r>
              <a:rPr lang="vi-VN" sz="2400" dirty="0" smtClean="0">
                <a:latin typeface="+mj-lt"/>
              </a:rPr>
              <a:t>địa </a:t>
            </a:r>
            <a:r>
              <a:rPr lang="vi-VN" sz="2400" dirty="0">
                <a:latin typeface="+mj-lt"/>
              </a:rPr>
              <a:t>chất, </a:t>
            </a:r>
            <a:endParaRPr lang="en-US" sz="2400" dirty="0" smtClean="0">
              <a:latin typeface="+mj-lt"/>
            </a:endParaRPr>
          </a:p>
          <a:p>
            <a:pPr lvl="1"/>
            <a:r>
              <a:rPr lang="vi-VN" sz="2400" dirty="0" smtClean="0">
                <a:latin typeface="+mj-lt"/>
              </a:rPr>
              <a:t>thương mại</a:t>
            </a:r>
            <a:r>
              <a:rPr lang="en-US" sz="2400" dirty="0" smtClean="0">
                <a:latin typeface="+mj-lt"/>
              </a:rPr>
              <a:t>,</a:t>
            </a:r>
          </a:p>
          <a:p>
            <a:pPr lvl="1"/>
            <a:r>
              <a:rPr lang="vi-VN" sz="2400" dirty="0" smtClean="0">
                <a:latin typeface="+mj-lt"/>
              </a:rPr>
              <a:t>dữ </a:t>
            </a:r>
            <a:r>
              <a:rPr lang="vi-VN" sz="2400" dirty="0">
                <a:latin typeface="+mj-lt"/>
              </a:rPr>
              <a:t>liệu vệ tinh, </a:t>
            </a:r>
            <a:endParaRPr lang="en-US" sz="2400" dirty="0" smtClean="0">
              <a:latin typeface="+mj-lt"/>
            </a:endParaRPr>
          </a:p>
          <a:p>
            <a:pPr lvl="1"/>
            <a:r>
              <a:rPr lang="vi-VN" sz="2400" dirty="0" smtClean="0">
                <a:latin typeface="+mj-lt"/>
              </a:rPr>
              <a:t>dữ </a:t>
            </a:r>
            <a:r>
              <a:rPr lang="vi-VN" sz="2400" dirty="0">
                <a:latin typeface="+mj-lt"/>
              </a:rPr>
              <a:t>liệu ảnh y tế/nông sản, </a:t>
            </a:r>
            <a:endParaRPr lang="en-US" sz="2400" dirty="0" smtClean="0">
              <a:latin typeface="+mj-lt"/>
            </a:endParaRPr>
          </a:p>
          <a:p>
            <a:pPr lvl="1"/>
            <a:r>
              <a:rPr lang="vi-VN" sz="2400" dirty="0" smtClean="0">
                <a:latin typeface="+mj-lt"/>
              </a:rPr>
              <a:t>dữ </a:t>
            </a:r>
            <a:r>
              <a:rPr lang="vi-VN" sz="2400" dirty="0">
                <a:latin typeface="+mj-lt"/>
              </a:rPr>
              <a:t>liệu âm thanh thoại, tiếng Việt</a:t>
            </a:r>
            <a:r>
              <a:rPr lang="vi-VN" sz="2400" dirty="0" smtClean="0">
                <a:latin typeface="+mj-lt"/>
              </a:rPr>
              <a:t>,…</a:t>
            </a:r>
            <a:endParaRPr lang="en-US" sz="2400" dirty="0" smtClean="0">
              <a:latin typeface="+mj-lt"/>
            </a:endParaRP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36792491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Xu hướng thứ năm: </a:t>
            </a:r>
            <a:r>
              <a:rPr lang="en-US" b="1" dirty="0" smtClean="0"/>
              <a:t/>
            </a:r>
            <a:br>
              <a:rPr lang="en-US" b="1" dirty="0" smtClean="0"/>
            </a:br>
            <a:r>
              <a:rPr lang="vi-VN" b="1" dirty="0" smtClean="0"/>
              <a:t>chuyên </a:t>
            </a:r>
            <a:r>
              <a:rPr lang="vi-VN" b="1" dirty="0"/>
              <a:t>sâu về một dạng dữ liệu</a:t>
            </a:r>
            <a:endParaRPr lang="en-US" dirty="0"/>
          </a:p>
        </p:txBody>
      </p:sp>
      <p:sp>
        <p:nvSpPr>
          <p:cNvPr id="3" name="Content Placeholder 2"/>
          <p:cNvSpPr>
            <a:spLocks noGrp="1"/>
          </p:cNvSpPr>
          <p:nvPr>
            <p:ph idx="1"/>
          </p:nvPr>
        </p:nvSpPr>
        <p:spPr/>
        <p:txBody>
          <a:bodyPr>
            <a:normAutofit/>
          </a:bodyPr>
          <a:lstStyle/>
          <a:p>
            <a:r>
              <a:rPr lang="vi-VN" sz="2800" dirty="0" smtClean="0">
                <a:latin typeface="+mj-lt"/>
              </a:rPr>
              <a:t>Khi đó bạn có thể khá yên tâm với công việc mang nhiều tính khoa học này. </a:t>
            </a:r>
            <a:endParaRPr lang="en-US" sz="2800" dirty="0" smtClean="0">
              <a:latin typeface="+mj-lt"/>
            </a:endParaRPr>
          </a:p>
          <a:p>
            <a:r>
              <a:rPr lang="vi-VN" sz="2800" dirty="0" smtClean="0">
                <a:latin typeface="+mj-lt"/>
              </a:rPr>
              <a:t>Xu hướng này cũng có nghĩa là nghề khoa học dữ liệu sẽ rộng mở với nhiều ngành nghề khác nhau. </a:t>
            </a:r>
            <a:endParaRPr lang="en-US" sz="2800" dirty="0" smtClean="0">
              <a:latin typeface="+mj-lt"/>
            </a:endParaRPr>
          </a:p>
          <a:p>
            <a:r>
              <a:rPr lang="vi-VN" sz="2800" dirty="0" smtClean="0">
                <a:latin typeface="+mj-lt"/>
              </a:rPr>
              <a:t>Học tốt và hiểu rõ một ngành sau đó học thêm về khoa học dữ liệu và học sâu là một lựa chọn không tồi. </a:t>
            </a:r>
            <a:endParaRPr lang="en-US" sz="2800" dirty="0" smtClean="0">
              <a:latin typeface="+mj-lt"/>
            </a:endParaRPr>
          </a:p>
          <a:p>
            <a:r>
              <a:rPr lang="en-US" sz="2800" dirty="0" smtClean="0">
                <a:latin typeface="Times New Roman" panose="02020603050405020304" pitchFamily="18" charset="0"/>
                <a:cs typeface="Times New Roman" panose="02020603050405020304" pitchFamily="18" charset="0"/>
              </a:rPr>
              <a:t>L</a:t>
            </a:r>
            <a:r>
              <a:rPr lang="vi-VN" sz="2800" dirty="0" smtClean="0">
                <a:latin typeface="+mj-lt"/>
              </a:rPr>
              <a:t>ưu ý cuối cùng là “hãy học tốt môn Toán” và sẵn sàng cho việc (học) lập trình rất nhiều.</a:t>
            </a:r>
            <a:endParaRPr lang="en-US" sz="2800" dirty="0">
              <a:latin typeface="+mj-lt"/>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28778785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TỔNG KẾT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a:t>Tổng</a:t>
            </a:r>
            <a:r>
              <a:rPr lang="en-US" dirty="0"/>
              <a:t> </a:t>
            </a:r>
            <a:r>
              <a:rPr lang="en-US" dirty="0" err="1"/>
              <a:t>quan</a:t>
            </a:r>
            <a:r>
              <a:rPr lang="en-US" dirty="0"/>
              <a:t> </a:t>
            </a:r>
            <a:r>
              <a:rPr lang="en-US" dirty="0" err="1"/>
              <a:t>về</a:t>
            </a:r>
            <a:r>
              <a:rPr lang="en-US" dirty="0"/>
              <a:t> </a:t>
            </a:r>
            <a:r>
              <a:rPr lang="en-US" dirty="0" err="1"/>
              <a:t>toán</a:t>
            </a:r>
            <a:r>
              <a:rPr lang="en-US" dirty="0"/>
              <a:t> </a:t>
            </a:r>
            <a:r>
              <a:rPr lang="en-US" dirty="0" err="1"/>
              <a:t>ứng</a:t>
            </a:r>
            <a:r>
              <a:rPr lang="en-US" dirty="0"/>
              <a:t> </a:t>
            </a:r>
            <a:r>
              <a:rPr lang="en-US" dirty="0" err="1" smtClean="0"/>
              <a:t>dụng</a:t>
            </a:r>
            <a:endParaRPr lang="en-US" dirty="0" smtClean="0"/>
          </a:p>
          <a:p>
            <a:r>
              <a:rPr lang="en-US" dirty="0" err="1"/>
              <a:t>Tổng</a:t>
            </a:r>
            <a:r>
              <a:rPr lang="en-US" dirty="0"/>
              <a:t> </a:t>
            </a:r>
            <a:r>
              <a:rPr lang="en-US" dirty="0" err="1"/>
              <a:t>quan</a:t>
            </a:r>
            <a:r>
              <a:rPr lang="en-US" dirty="0"/>
              <a:t> </a:t>
            </a:r>
            <a:r>
              <a:rPr lang="en-US" dirty="0" err="1"/>
              <a:t>về</a:t>
            </a:r>
            <a:r>
              <a:rPr lang="en-US" dirty="0"/>
              <a:t> </a:t>
            </a:r>
            <a:r>
              <a:rPr lang="en-US" dirty="0" err="1"/>
              <a:t>khoa</a:t>
            </a:r>
            <a:r>
              <a:rPr lang="en-US" dirty="0"/>
              <a:t> học </a:t>
            </a:r>
            <a:r>
              <a:rPr lang="en-US" dirty="0" err="1"/>
              <a:t>dữ</a:t>
            </a:r>
            <a:r>
              <a:rPr lang="en-US" dirty="0"/>
              <a:t> </a:t>
            </a:r>
            <a:r>
              <a:rPr lang="en-US" dirty="0" err="1" smtClean="0"/>
              <a:t>liệu</a:t>
            </a:r>
            <a:endParaRPr lang="en-US" dirty="0" smtClean="0"/>
          </a:p>
          <a:p>
            <a:r>
              <a:rPr lang="en-US" dirty="0" err="1"/>
              <a:t>Giới</a:t>
            </a:r>
            <a:r>
              <a:rPr lang="en-US" dirty="0"/>
              <a:t> </a:t>
            </a:r>
            <a:r>
              <a:rPr lang="en-US" dirty="0" err="1"/>
              <a:t>thiệu</a:t>
            </a:r>
            <a:r>
              <a:rPr lang="en-US" dirty="0"/>
              <a:t> </a:t>
            </a:r>
            <a:r>
              <a:rPr lang="en-US" dirty="0" err="1"/>
              <a:t>các</a:t>
            </a:r>
            <a:r>
              <a:rPr lang="en-US" dirty="0"/>
              <a:t> </a:t>
            </a:r>
            <a:r>
              <a:rPr lang="en-US" dirty="0" err="1"/>
              <a:t>ngành</a:t>
            </a:r>
            <a:r>
              <a:rPr lang="en-US" dirty="0"/>
              <a:t> </a:t>
            </a:r>
            <a:r>
              <a:rPr lang="en-US" dirty="0" err="1"/>
              <a:t>liên</a:t>
            </a:r>
            <a:r>
              <a:rPr lang="en-US" dirty="0"/>
              <a:t> </a:t>
            </a:r>
            <a:r>
              <a:rPr lang="en-US" dirty="0" err="1"/>
              <a:t>quan</a:t>
            </a:r>
            <a:r>
              <a:rPr lang="en-US" dirty="0"/>
              <a:t> </a:t>
            </a:r>
            <a:r>
              <a:rPr lang="en-US" dirty="0" err="1" smtClean="0"/>
              <a:t>gần</a:t>
            </a:r>
            <a:endParaRPr lang="en-US" dirty="0" smtClean="0"/>
          </a:p>
          <a:p>
            <a:r>
              <a:rPr lang="en-US" dirty="0" err="1"/>
              <a:t>Vai</a:t>
            </a:r>
            <a:r>
              <a:rPr lang="en-US" dirty="0"/>
              <a:t> </a:t>
            </a:r>
            <a:r>
              <a:rPr lang="en-US" dirty="0" err="1"/>
              <a:t>trò</a:t>
            </a:r>
            <a:r>
              <a:rPr lang="en-US" dirty="0"/>
              <a:t> của </a:t>
            </a:r>
            <a:r>
              <a:rPr lang="en-US" dirty="0" err="1"/>
              <a:t>khoa</a:t>
            </a:r>
            <a:r>
              <a:rPr lang="en-US" dirty="0"/>
              <a:t> học </a:t>
            </a:r>
            <a:r>
              <a:rPr lang="en-US" dirty="0" err="1"/>
              <a:t>dữ</a:t>
            </a:r>
            <a:r>
              <a:rPr lang="en-US" dirty="0"/>
              <a:t> </a:t>
            </a:r>
            <a:r>
              <a:rPr lang="en-US" dirty="0" err="1" smtClean="0"/>
              <a:t>liệu</a:t>
            </a:r>
            <a:endParaRPr lang="en-US" dirty="0" smtClean="0"/>
          </a:p>
          <a:p>
            <a:r>
              <a:rPr lang="en-US" dirty="0" err="1"/>
              <a:t>Cơ</a:t>
            </a:r>
            <a:r>
              <a:rPr lang="en-US" dirty="0"/>
              <a:t> </a:t>
            </a:r>
            <a:r>
              <a:rPr lang="en-US" dirty="0" err="1"/>
              <a:t>hội</a:t>
            </a:r>
            <a:r>
              <a:rPr lang="en-US" dirty="0"/>
              <a:t> </a:t>
            </a:r>
            <a:r>
              <a:rPr lang="en-US" dirty="0" err="1"/>
              <a:t>và</a:t>
            </a:r>
            <a:r>
              <a:rPr lang="en-US" dirty="0"/>
              <a:t> </a:t>
            </a:r>
            <a:r>
              <a:rPr lang="en-US" dirty="0" err="1"/>
              <a:t>thách</a:t>
            </a:r>
            <a:r>
              <a:rPr lang="en-US" dirty="0"/>
              <a:t> </a:t>
            </a:r>
            <a:r>
              <a:rPr lang="en-US" dirty="0" err="1"/>
              <a:t>thức</a:t>
            </a:r>
            <a:endParaRPr lang="en-US" dirty="0" smtClean="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3920066725"/>
      </p:ext>
    </p:extLst>
  </p:cSld>
  <p:clrMapOvr>
    <a:masterClrMapping/>
  </p:clrMapOvr>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1417</TotalTime>
  <Words>3076</Words>
  <Application>Microsoft Office PowerPoint</Application>
  <PresentationFormat>Widescreen</PresentationFormat>
  <Paragraphs>295</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Times New Roman</vt:lpstr>
      <vt:lpstr>Office Theme</vt:lpstr>
      <vt:lpstr>NHẬP MÔN NGÀNH TOÁN ỨNG DỤNG</vt:lpstr>
      <vt:lpstr>Chương 2: Giới thiệu về ngành toán ứng dụng và khoa học dữ liệu </vt:lpstr>
      <vt:lpstr>1.1 Tổng quan về toán ứng dụng</vt:lpstr>
      <vt:lpstr>Chuyên viên phân tích đầu tư</vt:lpstr>
      <vt:lpstr>Chuyên viên kế hoạch tài chính </vt:lpstr>
      <vt:lpstr>Chuyên viên phân tích nghiên cứu hoạt động</vt:lpstr>
      <vt:lpstr>Kỹ sư hệ thống</vt:lpstr>
      <vt:lpstr>Chuyên viên phân tích ngân sách</vt:lpstr>
      <vt:lpstr>Lập trình viên</vt:lpstr>
      <vt:lpstr>Chuyên viên thống kê</vt:lpstr>
      <vt:lpstr>1.2 Tổng quan về khoa học dữ liệu</vt:lpstr>
      <vt:lpstr>KHOA HỌC DỮ LIỆU</vt:lpstr>
      <vt:lpstr>KHOA HỌC DỮ LIỆU</vt:lpstr>
      <vt:lpstr>KHOA HỌC DỮ LIỆU</vt:lpstr>
      <vt:lpstr>KHOA HỌC DỮ LIỆU</vt:lpstr>
      <vt:lpstr>KHOA HỌC DỮ LIỆU</vt:lpstr>
      <vt:lpstr>KHOA HỌC DỮ LIỆU</vt:lpstr>
      <vt:lpstr>Khoa học dữ liệu ở Việt Nam</vt:lpstr>
      <vt:lpstr>Facebook  Sử dụng dữ liệu để cách mạng hóa Mạng xã hội &amp; Quảng cáo </vt:lpstr>
      <vt:lpstr>Amazon   Chuyển đổi thương mại điện tử với Data Science  </vt:lpstr>
      <vt:lpstr>Uber  Sử dụng dữ liệu để thực hiện chuyến đi tốt hơn </vt:lpstr>
      <vt:lpstr>Bank of America  Sử dụng Data để tăng cường lợi thế trải nghiệm khách hàng  </vt:lpstr>
      <vt:lpstr>Airbnb   Sử dụng Data để việc cho thuê và đặt chỗ ở tiện lợi hơn  </vt:lpstr>
      <vt:lpstr>Spotify  Cách mạng hóa stream nhạc  </vt:lpstr>
      <vt:lpstr>1.3 Giới thiệu các ngành liên quan gần </vt:lpstr>
      <vt:lpstr>TOÁN HỌC</vt:lpstr>
      <vt:lpstr>NGÔN NGỮ LẬP TRÌNH</vt:lpstr>
      <vt:lpstr>KIẾN THỨC CHUYÊN MÔN VỀ DỮ LIỆU</vt:lpstr>
      <vt:lpstr>Hồ sơ của nhà khoa học dữ liệu</vt:lpstr>
      <vt:lpstr>LÀM VIỆC THEO NHÓM</vt:lpstr>
      <vt:lpstr>1.4 Vai trò của khoa học dữ liệu</vt:lpstr>
      <vt:lpstr>1.4 Vai trò của khoa học dữ liệu</vt:lpstr>
      <vt:lpstr>1.4 Vai trò của khoa học dữ liệu</vt:lpstr>
      <vt:lpstr>MỘT SỐ ỨNG DỤNG CỦA KHDL</vt:lpstr>
      <vt:lpstr>1.5 Cơ hội và thách thức</vt:lpstr>
      <vt:lpstr>Khoa học dữ liệu: Nghề quyến rũ nhất thế kỷ 21</vt:lpstr>
      <vt:lpstr>Xu hướng thứ nhất:  tập trung vào dữ liệu thay vì thuật toán</vt:lpstr>
      <vt:lpstr>Xu hướng thứ nhất:  tập trung vào dữ liệu thay vì thuật toán</vt:lpstr>
      <vt:lpstr>Xu hướng thứ nhất:  tập trung vào dữ liệu thay vì thuật toán</vt:lpstr>
      <vt:lpstr>Xu hướng thứ hai:  bình dân hóa Khoa học dữ liệu</vt:lpstr>
      <vt:lpstr>https://orangedatamining.com/</vt:lpstr>
      <vt:lpstr>Xu hướng thứ ba:  Chuyển dịch sang các mô hình không giám sát</vt:lpstr>
      <vt:lpstr>Xu hướng thứ ba:  Chuyển dịch sang các mô hình không giám sát</vt:lpstr>
      <vt:lpstr>Xu hướng thứ tư:  sử dụng hộp đen Deep Learning cho tất cả mọi thứ </vt:lpstr>
      <vt:lpstr>Xu hướng thứ năm:  chuyên sâu về một dạng dữ liệu</vt:lpstr>
      <vt:lpstr>Xu hướng thứ năm:  chuyên sâu về một dạng dữ liệu</vt:lpstr>
      <vt:lpstr>TỔNG KẾT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Mathematics CIVE 2602.2</dc:title>
  <dc:creator>TranLong</dc:creator>
  <cp:lastModifiedBy>Admin</cp:lastModifiedBy>
  <cp:revision>195</cp:revision>
  <dcterms:created xsi:type="dcterms:W3CDTF">2006-08-16T00:00:00Z</dcterms:created>
  <dcterms:modified xsi:type="dcterms:W3CDTF">2026-09-06T02:08:40Z</dcterms:modified>
</cp:coreProperties>
</file>